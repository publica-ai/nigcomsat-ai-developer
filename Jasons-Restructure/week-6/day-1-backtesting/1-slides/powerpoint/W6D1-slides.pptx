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777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flat training mean</c:v>
                  </c:pt>
                  <c:pt idx="1">
                    <c:v>naive</c:v>
                  </c:pt>
                  <c:pt idx="2">
                    <c:v>exp. smoothing</c:v>
                  </c:pt>
                  <c:pt idx="3">
                    <c:v>moving average</c:v>
                  </c:pt>
                  <c:pt idx="4">
                    <c:v>seasonal naive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7.77</c:v>
                </c:pt>
                <c:pt idx="1">
                  <c:v>11.25</c:v>
                </c:pt>
                <c:pt idx="2">
                  <c:v>12.8</c:v>
                </c:pt>
                <c:pt idx="3">
                  <c:v>14.25</c:v>
                </c:pt>
                <c:pt idx="4">
                  <c:v>15.25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rate seasonal naive</c:v>
                  </c:pt>
                  <c:pt idx="1">
                    <c:v>naive</c:v>
                  </c:pt>
                  <c:pt idx="2">
                    <c:v>exp. smoothing</c:v>
                  </c:pt>
                  <c:pt idx="3">
                    <c:v>moving average</c:v>
                  </c:pt>
                  <c:pt idx="4">
                    <c:v>seasonal naive</c:v>
                  </c:pt>
                  <c:pt idx="5">
                    <c:v>flat training mean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3.18</c:v>
                </c:pt>
                <c:pt idx="1">
                  <c:v>6.2</c:v>
                </c:pt>
                <c:pt idx="2">
                  <c:v>7.42</c:v>
                </c:pt>
                <c:pt idx="3">
                  <c:v>8.19</c:v>
                </c:pt>
                <c:pt idx="4">
                  <c:v>16.25</c:v>
                </c:pt>
                <c:pt idx="5">
                  <c:v>16.5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</c:v>
                </c:pt>
              </c:strCache>
            </c:strRef>
          </c:tx>
          <c:spPr>
            <a:solidFill>
              <a:srgbClr val="C77700"/>
            </a:solidFill>
            <a:ln w="25400" cap="flat">
              <a:solidFill>
                <a:srgbClr val="C7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week</c:v>
                  </c:pt>
                  <c:pt idx="1">
                    <c:v>4 weeks</c:v>
                  </c:pt>
                  <c:pt idx="2">
                    <c:v>8 weeks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3.19</c:v>
                </c:pt>
                <c:pt idx="1">
                  <c:v>5.03</c:v>
                </c:pt>
                <c:pt idx="2">
                  <c:v>6.2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rate seasonal naive</c:v>
                </c:pt>
              </c:strCache>
            </c:strRef>
          </c:tx>
          <c:spPr>
            <a:solidFill>
              <a:srgbClr val="008C7E"/>
            </a:solidFill>
            <a:ln w="25400" cap="flat">
              <a:solidFill>
                <a:srgbClr val="008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C7E"/>
              </a:solidFill>
              <a:ln w="9525" cap="flat">
                <a:solidFill>
                  <a:srgbClr val="008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week</c:v>
                  </c:pt>
                  <c:pt idx="1">
                    <c:v>4 weeks</c:v>
                  </c:pt>
                  <c:pt idx="2">
                    <c:v>8 weeks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3.29</c:v>
                </c:pt>
                <c:pt idx="1">
                  <c:v>3.21</c:v>
                </c:pt>
                <c:pt idx="2">
                  <c:v>3.18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exp. smoothing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week</c:v>
                  </c:pt>
                  <c:pt idx="1">
                    <c:v>4 weeks</c:v>
                  </c:pt>
                  <c:pt idx="2">
                    <c:v>8 weeks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4.56</c:v>
                </c:pt>
                <c:pt idx="1">
                  <c:v>5.98</c:v>
                </c:pt>
                <c:pt idx="2">
                  <c:v>7.42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moving average</c:v>
                </c:pt>
              </c:strCache>
            </c:strRef>
          </c:tx>
          <c:spPr>
            <a:solidFill>
              <a:srgbClr val="9DB0C6"/>
            </a:solidFill>
            <a:ln w="25400" cap="flat">
              <a:solidFill>
                <a:srgbClr val="9DB0C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DB0C6"/>
              </a:solidFill>
              <a:ln w="9525" cap="flat">
                <a:solidFill>
                  <a:srgbClr val="9DB0C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week</c:v>
                  </c:pt>
                  <c:pt idx="1">
                    <c:v>4 weeks</c:v>
                  </c:pt>
                  <c:pt idx="2">
                    <c:v>8 weeks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5.68</c:v>
                </c:pt>
                <c:pt idx="1">
                  <c:v>6.7</c:v>
                </c:pt>
                <c:pt idx="2">
                  <c:v>8.19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was last week's score luck? Replay the methods on the past.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the 4-sentence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Replaying a method on the past, with only what was known then, is a backtest.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dry-season dip pulled the real numbers down towards the old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scorer, same weeks, only past data at each origin.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Expanding window: the training block only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start_frac=0.5, step=4, h=4.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off by about 4 tickets, up to 8 when the rains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with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 book's own conclusion; it reproduces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knew the rains end in November because last November's rate showed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Naive's error grows because last week gets staler.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Naive at 1 week by a hair; the rate forecast at 4 and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at the horizon the user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the simpler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 the design before you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project: forecasting briefs must report the spread across folds.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W6D1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W6D1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6 · DAY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Backtesting: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 on the Past First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Before you stake real money on a forecast, replay it on weeks that already happened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192492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660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split lies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lucky 8 weeks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2951912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482264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4126116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284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6584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forward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756584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6 folds, refit each time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588553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415888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7059740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08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90208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folds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690208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every method, one scorer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8819159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9349511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tep icon 4 circle"/>
          <p:cNvSpPr/>
          <p:nvPr/>
        </p:nvSpPr>
        <p:spPr>
          <a:xfrm>
            <a:off x="9993363" y="2057400"/>
            <a:ext cx="1005840" cy="100584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3" name="step icon 4" descr="st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531" y="2258568"/>
            <a:ext cx="603504" cy="60350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23831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ahead?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623831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1, 4 and 8 weeks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60 min hands-on · 20 min wrap-up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Oga Tipster's WhatsApp status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screenshot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“Sure banker, ₦500 → ₦50,000. Subscribe for VIP tips.”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record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Check his tips against every match last season, before anybody pays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8 weeks: look who won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MAE on the Week 5 Day 2 hold-out. A flat average beat all four code-book baselines. Genius, or one lucky screenshot?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record: 8 weeks ahead from 45 origins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Mean MAE. The flat mean is the worst of all (16.50). One split is one screenshot.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forward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Pretend it's June. Forecast. Check. Pretend it's July…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exams, each on weeks it has never seen</a:t>
            </a:r>
            <a:endParaRPr lang="en-US" sz="32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4206240"/>
                <a:gridCol w="3227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Fold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Trains on (weeks)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Tests 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Regression MAE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30 Jun – 21 Jul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2.46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28 Jul – 18 Aug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4.67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25 Aug – 15 Sep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2.81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22 Sep – 13 Oct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1.27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20 Oct – 10 Nov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7.67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17 Nov – 8 Dec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5.15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Refit on the past only → forecast 4 weeks → score → slide 4 weeks 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walk_forward_mae()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cut in range(int(n * 0.5), n - h, step):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tr, te = feat.iloc[:cut], feat.iloc[cut:cut + h]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LinearRegression().fit(tr[x_cols], tr["target"])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errors.append(mae(model.predict(te[x_cols]), te["target"]))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iloc[:cut] = everything before the cut. Nothing from the future gets 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the spread, and when it goes wrong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regression over 6 folds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mean MAE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4353458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1.27 → 7.67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best → worst fold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8158277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Oct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worst fold: contains 3 Nov, tickets 74 → 53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folds, every method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A model score means nothing on its own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fold-by-fold report card (MAE)</a:t>
            </a:r>
            <a:endParaRPr lang="en-US" sz="32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011680"/>
                <a:gridCol w="2286000"/>
                <a:gridCol w="2587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Fold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Regression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Naive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Seasonal naive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Rate seasonal naive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1 · 30 Jun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2.46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17.75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1.39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2 · 28 Jul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4.67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1.75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18.50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3.82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 · 25 Aug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2.81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20.25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3.72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4 · 22 Sep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1.27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20.00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2.49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5 · 20 Oct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7.67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6.75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14.50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2.01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6 · 17 Nov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5.15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6.25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16.00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2.46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Mean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4.01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3.12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17.83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2.65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Regression and naive: 1 week ahead from last week's real count. Rate forecast: made once per fold, blind for 4 weeks.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Grandma strikes again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beats the regression on 5 of 6 folds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Mean 3.12 vs 4.01. The regression only wins the 17 Nov fold (the December jump).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rate forecast, blind 4 weeks ahead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Last year's tickets per terminal × today's terminals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2.65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mean MAE: the lowest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4353458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2.01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season-change fold (naive 6.75, regression 7.67)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8158277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6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folds where it beats naive: not a clean sweep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ahead do you need?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Next week's shift and next month's roster are different questions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Grandma tires, the rate forecast doesn't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Every origin, blind forecasts. 1 week: a tie (3.19 vs 3.29). 8 weeks: 3.18 vs 6.20.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forecast, for which question?</a:t>
            </a:r>
            <a:endParaRPr lang="en-US" sz="32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651760"/>
                <a:gridCol w="2651760"/>
                <a:gridCol w="2679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1 week ahead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4 weeks ahead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8 weeks ahead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naive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3.19 (19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5.03 (14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6.20 (11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rate seasonal naive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3.29 (17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3.21 (22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3.18 (21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exp. smoothing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4.56 (6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5.98 (4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7.42 (2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moving average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5.68 (4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6.70 (6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8.19 (10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seasonal naive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16.13 (0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16.10 (0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16.25 (0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flat training mean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14.79 (6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15.42 (3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16.50 (1 wins)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Mean MAE over 52 / 49 / 45 origins; wins = origins where it was best.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regression can only see one week ahead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needs last week's real count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To forecast week 4 you'd need week 3's count, which hasn't happened yet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month-ahead roster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NOC plans shifts 4 weeks out: the regression can't make that roster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verdict, in 4 sentences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Next week: naive (3.2); the rate forecast ties (3.3)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Month-ahead roster: rate seasonal naive (3.2 vs 5.0)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Regression: loses 5 of 6 folds to naive, can't go past 1 week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Biggest misses when the rains start or stop: add margin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rules of an honest backtest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749808" y="224028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43230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past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114800"/>
            <a:ext cx="1194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refit at every origin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2840675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3041843" y="224028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67" y="243230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41843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folds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206435" y="4114800"/>
            <a:ext cx="1194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same scorer, every method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513271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5333878" y="224028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902" y="243230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3387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spread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498470" y="4114800"/>
            <a:ext cx="1194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and when it fails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7424745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icon 4 circle"/>
          <p:cNvSpPr/>
          <p:nvPr/>
        </p:nvSpPr>
        <p:spPr>
          <a:xfrm>
            <a:off x="7625913" y="224028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0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937" y="2432304"/>
            <a:ext cx="576072" cy="5760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25913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horizon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790505" y="4114800"/>
            <a:ext cx="1194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one the user needs</a:t>
            </a:r>
            <a:endParaRPr lang="en-US" sz="1600" dirty="0"/>
          </a:p>
        </p:txBody>
      </p:sp>
      <p:sp>
        <p:nvSpPr>
          <p:cNvPr id="23" name="card 5"/>
          <p:cNvSpPr/>
          <p:nvPr/>
        </p:nvSpPr>
        <p:spPr>
          <a:xfrm>
            <a:off x="971678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icon 5 circle"/>
          <p:cNvSpPr/>
          <p:nvPr/>
        </p:nvSpPr>
        <p:spPr>
          <a:xfrm>
            <a:off x="9917948" y="224028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25" name="icon 5" descr="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9972" y="2432304"/>
            <a:ext cx="576072" cy="57607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91794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tuning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0082540" y="4114800"/>
            <a:ext cx="1194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on the folds you report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60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W6D1-exercise, save a copy, run STEP 0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A: expose the lucky split · B: walk forward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C: same folds for the baselines · D: three horizons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E: write the 4-sentence verdict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One split is one screenshot: backtest on many past origins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Same folds, same scorer, every method; report the spread and when it fails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The best method depends on the horizon: here the simple ones win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When will it break? Remaining useful life + Quiz 4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W6D1 · Backtesting: Test It on the Past First</dc:title>
  <dc:subject>PptxGenJS Presentation</dc:subject>
  <dc:creator>Publica Academy</dc:creator>
  <cp:lastModifiedBy>Publica Academy</cp:lastModifiedBy>
  <cp:revision>1</cp:revision>
  <dcterms:created xsi:type="dcterms:W3CDTF">2026-10-29T22:23:51Z</dcterms:created>
  <dcterms:modified xsi:type="dcterms:W3CDTF">2026-10-29T22:23:51Z</dcterms:modified>
</cp:coreProperties>
</file>