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5DB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Problem framing and data</c:v>
                  </c:pt>
                  <c:pt idx="1">
                    <c:v>Understanding the series</c:v>
                  </c:pt>
                  <c:pt idx="2">
                    <c:v>Method</c:v>
                  </c:pt>
                  <c:pt idx="3">
                    <c:v>Honest evaluation</c:v>
                  </c:pt>
                  <c:pt idx="4">
                    <c:v>Deployment</c:v>
                  </c:pt>
                  <c:pt idx="5">
                    <c:v>Communication and AI use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15</c:v>
                </c:pt>
                <c:pt idx="5">
                  <c:v>10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B1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nobody learns a new method. Today everybody shows what they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the demos into two rooms if the cohort is bigger than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you satisfy both: five minutes, and a point your unit head can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road in 60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somebody missed a checkpoint, the clinic is where it gets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requirements PDF and the original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Committed restricted data is a serious failure, reported to the programme lead.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minutes at a station, then rotate or rehearse with a partner.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NIGCOMSAT data never goes into Colab.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suspect contains the very number you're forecasting.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Participants do these fixes in Parts A and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Rehearse once with a partner during the clinic, with a timer.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from the Week 6 Day 1 backtest.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window, not a single day. The same events, the same scorer. Then the verdict.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three traps.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trap maps to a rubric line or an automatic penalty.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Answered for the ticket forecast. Each report needs its own three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peer scoring sheet. Kind, specific, about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each participant up by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course ends. The tool doesn't.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Publica Academy · Time-Series Programme · W6D3</a:t>
            </a:r>
            <a:endParaRPr lang="en-US" sz="1100" dirty="0"/>
          </a:p>
        </p:txBody>
      </p:sp>
      <p:pic>
        <p:nvPicPr>
          <p:cNvPr id="5" name="Image 1" descr="/Users/jason/Desktop/nigcomsat-ai-developer/Jasons-Restructure/assets/brand/nigcomsa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415" y="6236208"/>
            <a:ext cx="548640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D6E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ECTION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dirty="0">
                <a:solidFill>
                  <a:srgbClr val="C9D6E5"/>
                </a:solidFill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RECAP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</a:rPr>
              <a:t>Publica Academy · Time-Series Programme · W6D3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1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B83D"/>
                </a:solidFill>
              </a:rPr>
              <a:t>WEEK 6 · DAY 3 · THE LAST SESSION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Day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Project Clinic</a:t>
            </a:r>
            <a:endParaRPr lang="en-US" sz="4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E5"/>
                </a:solidFill>
              </a:rPr>
              <a:t>Six weeks. One tool for your unit. Five minutes to show it</a:t>
            </a:r>
            <a:endParaRPr lang="en-US" sz="2000" dirty="0"/>
          </a:p>
        </p:txBody>
      </p:sp>
      <p:sp>
        <p:nvSpPr>
          <p:cNvPr id="5" name="NIGCOMSAT logo card"/>
          <p:cNvSpPr/>
          <p:nvPr/>
        </p:nvSpPr>
        <p:spPr>
          <a:xfrm>
            <a:off x="731520" y="5074920"/>
            <a:ext cx="1600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NIGCOMSA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66360"/>
            <a:ext cx="1143000" cy="960120"/>
          </a:xfrm>
          <a:prstGeom prst="rect">
            <a:avLst/>
          </a:prstGeom>
        </p:spPr>
      </p:pic>
      <p:sp>
        <p:nvSpPr>
          <p:cNvPr id="7" name="Publica logo card"/>
          <p:cNvSpPr/>
          <p:nvPr/>
        </p:nvSpPr>
        <p:spPr>
          <a:xfrm>
            <a:off x="2514600" y="5074920"/>
            <a:ext cx="2743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8" name="Image 1" descr="Publica Academy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5257800"/>
            <a:ext cx="978408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794760" y="5212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800" dirty="0"/>
          </a:p>
        </p:txBody>
      </p:sp>
      <p:sp>
        <p:nvSpPr>
          <p:cNvPr id="10" name="earth"/>
          <p:cNvSpPr/>
          <p:nvPr/>
        </p:nvSpPr>
        <p:spPr>
          <a:xfrm>
            <a:off x="8503920" y="1280160"/>
            <a:ext cx="3291840" cy="3291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orbit"/>
          <p:cNvSpPr/>
          <p:nvPr/>
        </p:nvSpPr>
        <p:spPr>
          <a:xfrm>
            <a:off x="7726680" y="502920"/>
            <a:ext cx="4846320" cy="4846320"/>
          </a:xfrm>
          <a:prstGeom prst="ellipse">
            <a:avLst/>
          </a:prstGeom>
          <a:ln w="15875">
            <a:solidFill>
              <a:srgbClr val="3B8BE0"/>
            </a:solidFill>
            <a:prstDash val="dash"/>
          </a:ln>
        </p:spPr>
      </p:sp>
      <p:pic>
        <p:nvPicPr>
          <p:cNvPr id="12" name="satellite" descr="satelli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plan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step icon 1 circle"/>
          <p:cNvSpPr/>
          <p:nvPr/>
        </p:nvSpPr>
        <p:spPr>
          <a:xfrm>
            <a:off x="1192492" y="205740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3660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the order of demos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2951912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3482264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tep icon 2 circle"/>
          <p:cNvSpPr/>
          <p:nvPr/>
        </p:nvSpPr>
        <p:spPr>
          <a:xfrm>
            <a:off x="4126116" y="2057400"/>
            <a:ext cx="1005840" cy="100584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1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284" y="225856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56584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3756584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4 help stations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5885536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6415888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tep icon 3 circle"/>
          <p:cNvSpPr/>
          <p:nvPr/>
        </p:nvSpPr>
        <p:spPr>
          <a:xfrm>
            <a:off x="7059740" y="2057400"/>
            <a:ext cx="1005840" cy="100584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7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908" y="225856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90208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6690208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5 minutes + 1 question</a:t>
            </a:r>
            <a:endParaRPr lang="en-US" sz="1600" dirty="0"/>
          </a:p>
        </p:txBody>
      </p:sp>
      <p:sp>
        <p:nvSpPr>
          <p:cNvPr id="20" name="arrow 3"/>
          <p:cNvSpPr/>
          <p:nvPr/>
        </p:nvSpPr>
        <p:spPr>
          <a:xfrm>
            <a:off x="8819159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step 4"/>
          <p:cNvSpPr/>
          <p:nvPr/>
        </p:nvSpPr>
        <p:spPr>
          <a:xfrm>
            <a:off x="9349511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2" name="step icon 4 circle"/>
          <p:cNvSpPr/>
          <p:nvPr/>
        </p:nvSpPr>
        <p:spPr>
          <a:xfrm>
            <a:off x="9993363" y="2057400"/>
            <a:ext cx="1005840" cy="100584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23" name="step icon 4" descr="step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4531" y="2258568"/>
            <a:ext cx="603504" cy="60350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623831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Celebrate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9623831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certificates + what next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10 min welcome · 30 min clinic · 60 min demos · 20 min wrap-up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MC and the uncle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owambe MC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“Groom's friends, five minutes!” And the music starts on time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uncle in the front row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“Tell us in one sentence: what does it do, and why should we care?”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days in one picture</a:t>
            </a:r>
            <a:endParaRPr lang="en-US" sz="32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931920"/>
                <a:gridCol w="54223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Week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The big question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The three days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Week 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What does this series look like?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Colab + first series · Charts that don't lie · Rolling windows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Week 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What is it made of?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Trend · season · noise · Autocorrelation · Quiz 1 + your brief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Week 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When is a reading wrong?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Alarms that cry wolf · Control charts · Drift + CUSUM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Week 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Can a machine spot the odd one?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Scoring + Quiz 2 · Isolation forest · Feature engineering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Week 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Is the test honest? What comes next?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No expo + Quiz 3 · Baselines · Regression + ranges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Week 6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When will it break? Show us!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Backtesting · RUL + Quiz 4 · Demo day 🎤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Every project uses pieces from at least three of these weeks.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checkpoints done. Today is the fifth.</a:t>
            </a:r>
            <a:endParaRPr lang="en-US" sz="32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206240"/>
                <a:gridCol w="3776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What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Checkpoint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0. Choose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brief + unit head's OK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Week 2 · Day 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1. Understand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load, profile, plot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Week 3 · Day 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2. Build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your method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Week 4 · Day 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3. Test honestly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split by time + baseline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Week 5 · Day 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4. Deploy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on the training server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by today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5. Present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report + 5-minute demo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TODAY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Today: a working tool, the 2–4 page report and a 5-minute demo.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it's graded: 100 points</a:t>
            </a:r>
            <a:endParaRPr lang="en-US" sz="3200" dirty="0"/>
          </a:p>
        </p:txBody>
      </p:sp>
      <p:graphicFrame>
        <p:nvGraphicFramePr>
          <p:cNvPr id="3" name="bar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No model has to win. The test has to be honest.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costs marks, and what doesn't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penalised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 model that loses to the simple baseline, if the comparison is fair and you recommend the simpler method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penalties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Random split · future-peeking feature · accuracy for rare events · RUL date with no window · real data on GitHub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1 · 30 MINUTES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Last fixes before the stage. Go where you need help most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stations: pick the ONE you need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leaks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hygiene report · leak_test() on every feature · the time zone written down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3413684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3779444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468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79444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test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3779444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split assert · same period, same scorer · spread or coverage reported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6278728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6644488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512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644488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644488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runs on the training server · README · cron or Streamlit · no raw data in Git</a:t>
            </a:r>
            <a:endParaRPr lang="en-US" sz="1600" dirty="0"/>
          </a:p>
        </p:txBody>
      </p:sp>
      <p:sp>
        <p:nvSpPr>
          <p:cNvPr id="18" name="card 4"/>
          <p:cNvSpPr/>
          <p:nvPr/>
        </p:nvSpPr>
        <p:spPr>
          <a:xfrm>
            <a:off x="9143771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9" name="icon 4 circle"/>
          <p:cNvSpPr/>
          <p:nvPr/>
        </p:nvSpPr>
        <p:spPr>
          <a:xfrm>
            <a:off x="9509531" y="2103120"/>
            <a:ext cx="960120" cy="96012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20" name="icon 4" descr="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555" y="2295144"/>
            <a:ext cx="576072" cy="57607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509531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9509531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4 sentences · 3 limitations · a timed 5-minute run-through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self-check notebook</a:t>
            </a:r>
            <a:endParaRPr lang="en-US" sz="32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827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What it catches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hygiene()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wrong index, disorder, repeated or missing timestamps, no frequency, no time zone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leak_test()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features that need something you couldn't know yet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check_temporal_split()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a split that isn't by time, or an embargo that's too short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compare()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methods scored on different weeks or with different scorers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coverage()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a “90%” band that isn't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recommendation()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a story without a number or an action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Rehearse on Colab with course data, then download it to the training server for your real data.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leak test on six suspects (real ticket file)</a:t>
            </a:r>
            <a:endParaRPr lang="en-US" sz="3200" dirty="0"/>
          </a:p>
        </p:txBody>
      </p:sp>
      <p:graphicFrame>
        <p:nvGraphicFramePr>
          <p:cNvPr id="1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0"/>
                <a:gridCol w="3776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last week: shift(1)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honest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same week last year: shift(52)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honest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terminals this week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honest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next week: shift(-1)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LEAKS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4-week mean, centred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LEAKS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4-week mean, including this week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LEAKS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Hide week t's answer and the future, rebuild the feature: if it changes, it leaked.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Rehearsal: what the self-check found in Ada's draft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The real ticket file with planted problems</a:t>
            </a:r>
            <a:endParaRPr lang="en-US" sz="1800" dirty="0"/>
          </a:p>
        </p:txBody>
      </p:sp>
      <p:sp>
        <p:nvSpPr>
          <p:cNvPr id="4" name="stat 1"/>
          <p:cNvSpPr/>
          <p:nvPr/>
        </p:nvSpPr>
        <p:spPr>
          <a:xfrm>
            <a:off x="548640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week exported twice</a:t>
            </a:r>
            <a:endParaRPr lang="en-US" sz="1600" dirty="0"/>
          </a:p>
        </p:txBody>
      </p:sp>
      <p:sp>
        <p:nvSpPr>
          <p:cNvPr id="7" name="stat 2"/>
          <p:cNvSpPr/>
          <p:nvPr/>
        </p:nvSpPr>
        <p:spPr>
          <a:xfrm>
            <a:off x="3402254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5134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630854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week that never arrived</a:t>
            </a:r>
            <a:endParaRPr lang="en-US" sz="1600" dirty="0"/>
          </a:p>
        </p:txBody>
      </p:sp>
      <p:sp>
        <p:nvSpPr>
          <p:cNvPr id="10" name="stat 3"/>
          <p:cNvSpPr/>
          <p:nvPr/>
        </p:nvSpPr>
        <p:spPr>
          <a:xfrm>
            <a:off x="6255868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38748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shuffled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484468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training reaches 22 Dec 2025, the test starts 10 Jun 2024</a:t>
            </a:r>
            <a:endParaRPr lang="en-US" sz="1600" dirty="0"/>
          </a:p>
        </p:txBody>
      </p:sp>
      <p:sp>
        <p:nvSpPr>
          <p:cNvPr id="13" name="stat 4"/>
          <p:cNvSpPr/>
          <p:nvPr/>
        </p:nvSpPr>
        <p:spPr>
          <a:xfrm>
            <a:off x="9109481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92361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6/8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9338081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weeks inside her “90%” band (±3); honest band (±7.0): 8/8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2 · 60 MINUTES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time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5 minutes to show it. 1 minute for one question. The timer is the MC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5-minute demo, beat by beat</a:t>
            </a:r>
            <a:endParaRPr lang="en-US" sz="3200" dirty="0"/>
          </a:p>
        </p:txBody>
      </p:sp>
      <p:graphicFrame>
        <p:nvGraphicFramePr>
          <p:cNvPr id="1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5971032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Starts at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Beat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What to say or show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Seconds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0:00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Problem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unit · named process · who uses it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45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0:45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Data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source · span · cadence · what you fixed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45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1:30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Method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what, and why it suits the brief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45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2:15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Honest test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split by time · baseline · the table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60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3:15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The tool, live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dashboard or today's report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60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4:15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Recommend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4 sentences + one limitation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45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Show the tool live, one table for the honest test, end on the recommendation.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4-sentence recommendation</a:t>
            </a:r>
            <a:endParaRPr lang="en-US" sz="3200" dirty="0"/>
          </a:p>
        </p:txBody>
      </p:sp>
      <p:graphicFrame>
        <p:nvGraphicFramePr>
          <p:cNvPr id="1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Worked example: the ticket forecast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1 · Situation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The NOC sets its month-ahead duty roster from last week's ticket count.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2 · Observation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Backtested from 45 starting weeks, last year's tickets per terminal times this week's network missed by 3.2 tickets a week, 8 weeks ahead, against 6.2 for “same as last week”.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3 · Implication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A roster built on the rate forecast would be about half as far off, at no extra cost.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4 · Recommendation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Use the rate forecast for the monthly roster, keep “same as last week” for next week, and re-run the backtest every quarter.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One number in the Observation. One action in the Recommendation.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number, said plainly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(W6D2)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First dip below 80%: 14 May 2025; last day at or above: 24 Jul 2025. The 3-year straight line called 1 May 2025, 13 days before the first dip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 (W5D1)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Both caught 2 of 2 events. Control chart: 1 false alarm; isolation forest: 25. We recommend the chart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traps the judges have seen before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split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shuffled weeks or hours: the score is expo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368698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4734458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82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34458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baseline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734458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“my model scores 4.0”… compared with what?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8188757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8554517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541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54517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Unchecked band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554517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“90%” with no coverage on held-out data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…and three more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99% by never raising an alarm: use event-level recall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368698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4734458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82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34458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data out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734458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real NIGCOMSAT data stays on NIGCOMSAT systems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8188757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8554517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541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54517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only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554517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if it doesn't run on the server, it isn't deployed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honest limitations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misses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Sudden changes the calendar can't know about, such as a new region going live or a long outage.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368698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4734458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82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34458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late or far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734458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It looks 1 to 8 weeks ahead; its 90% band is about ±7 tickets a week.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8188757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8554517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541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54517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normal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554517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It assumes the 2024–2025 rainy-season pattern repeats and that the terminal count is reported on time.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stars and a wish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one thing that was clear or clever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368698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4734458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82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34458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2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734458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one thing you'll steal for your own work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8188757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8554517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541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54517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wish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554517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one thing that would make it stronger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Celebrate</a:t>
            </a:r>
            <a:endParaRPr lang="en-US" sz="3200" dirty="0"/>
          </a:p>
        </p:txBody>
      </p:sp>
      <p:sp>
        <p:nvSpPr>
          <p:cNvPr id="3" name="big icon circle"/>
          <p:cNvSpPr/>
          <p:nvPr/>
        </p:nvSpPr>
        <p:spPr>
          <a:xfrm>
            <a:off x="5090008" y="1463040"/>
            <a:ext cx="2011680" cy="201168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4" name="big icon" descr="bi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344" y="1865376"/>
            <a:ext cx="1207008" cy="12070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365760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Oya, you don finish!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4709160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Certificates · a group photo · a round of applause for every presenter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next?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the backtest or RUL call, monthly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3413684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3779444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468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79444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over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3779444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report, README and link to your unit head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6278728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6644488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512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644488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Toolkit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644488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rule books, glossary, notebooks</a:t>
            </a:r>
            <a:endParaRPr lang="en-US" sz="1600" dirty="0"/>
          </a:p>
        </p:txBody>
      </p:sp>
      <p:sp>
        <p:nvSpPr>
          <p:cNvPr id="18" name="card 4"/>
          <p:cNvSpPr/>
          <p:nvPr/>
        </p:nvSpPr>
        <p:spPr>
          <a:xfrm>
            <a:off x="9143771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9" name="icon 4 circle"/>
          <p:cNvSpPr/>
          <p:nvPr/>
        </p:nvSpPr>
        <p:spPr>
          <a:xfrm>
            <a:off x="9509531" y="2103120"/>
            <a:ext cx="960120" cy="96012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20" name="icon 4" descr="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555" y="2295144"/>
            <a:ext cx="576072" cy="57607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509531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data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9509531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requirements PDF, section 8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 now do</a:t>
            </a:r>
            <a:endParaRPr lang="en-US" sz="3400" dirty="0"/>
          </a:p>
        </p:txBody>
      </p:sp>
      <p:sp>
        <p:nvSpPr>
          <p:cNvPr id="3" name="recap 1"/>
          <p:cNvSpPr/>
          <p:nvPr/>
        </p:nvSpPr>
        <p:spPr>
          <a:xfrm>
            <a:off x="548640" y="160020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4" name="recap icon 1" descr="reca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60020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Read a series: clean it, plot it honestly, take it apart</a:t>
            </a:r>
            <a:endParaRPr lang="en-US" sz="2200" dirty="0"/>
          </a:p>
        </p:txBody>
      </p:sp>
      <p:sp>
        <p:nvSpPr>
          <p:cNvPr id="6" name="recap 2"/>
          <p:cNvSpPr/>
          <p:nvPr/>
        </p:nvSpPr>
        <p:spPr>
          <a:xfrm>
            <a:off x="548640" y="278892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7" name="recap icon 2" descr="reca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71800"/>
            <a:ext cx="594360" cy="594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278892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Catch what goes wrong, and score it with event-level rules</a:t>
            </a:r>
            <a:endParaRPr lang="en-US" sz="2200" dirty="0"/>
          </a:p>
        </p:txBody>
      </p:sp>
      <p:sp>
        <p:nvSpPr>
          <p:cNvPr id="9" name="recap 3"/>
          <p:cNvSpPr/>
          <p:nvPr/>
        </p:nvSpPr>
        <p:spPr>
          <a:xfrm>
            <a:off x="548640" y="397764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10" name="recap icon 3" descr="reca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60520"/>
            <a:ext cx="594360" cy="5943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37360" y="397764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Say what comes next, with a range, tested on the past first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B83D"/>
                </a:solidFill>
              </a:rPr>
              <a:t>Thank you · Publica Academy × NIGCOMSAT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GCOMSAT Time-Series">
  <a:themeElements>
    <a:clrScheme name="NIGCOMSAT Time-Series">
      <a:dk1>
        <a:srgbClr val="0B1622"/>
      </a:dk1>
      <a:lt1>
        <a:srgbClr val="FFFFFF"/>
      </a:lt1>
      <a:dk2>
        <a:srgbClr val="12233A"/>
      </a:dk2>
      <a:lt2>
        <a:srgbClr val="EEF3F8"/>
      </a:lt2>
      <a:accent1>
        <a:srgbClr val="0A5DB4"/>
      </a:accent1>
      <a:accent2>
        <a:srgbClr val="008C7E"/>
      </a:accent2>
      <a:accent3>
        <a:srgbClr val="C77700"/>
      </a:accent3>
      <a:accent4>
        <a:srgbClr val="1E9E5A"/>
      </a:accent4>
      <a:accent5>
        <a:srgbClr val="E5484D"/>
      </a:accent5>
      <a:accent6>
        <a:srgbClr val="5B6B7D"/>
      </a:accent6>
      <a:hlink>
        <a:srgbClr val="0A5DB4"/>
      </a:hlink>
      <a:folHlink>
        <a:srgbClr val="008C7E"/>
      </a:folHlink>
    </a:clrScheme>
    <a:fontScheme name="NIGCOMSAT Time-Seri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Publica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W6D3 · Project Clinic and Demo Day</dc:title>
  <dc:subject>PptxGenJS Presentation</dc:subject>
  <dc:creator>Publica Academy</dc:creator>
  <cp:lastModifiedBy>Publica Academy</cp:lastModifiedBy>
  <cp:revision>1</cp:revision>
  <dcterms:created xsi:type="dcterms:W3CDTF">2026-10-29T22:24:20Z</dcterms:created>
  <dcterms:modified xsi:type="dcterms:W3CDTF">2026-10-29T22:24:20Z</dcterms:modified>
</cp:coreProperties>
</file>