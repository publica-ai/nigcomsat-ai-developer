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08C7E"/>
            </a:solidFill>
            <a:ln w="25400" cap="flat">
              <a:solidFill>
                <a:srgbClr val="008C7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8C7E"/>
              </a:solidFill>
              <a:ln w="9525" cap="flat">
                <a:solidFill>
                  <a:srgbClr val="008C7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1 Aug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>8 Aug</c:v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>15 Aug</c:v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>22 Aug</c:v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>29 Aug</c:v>
                  </c:pt>
                  <c:pt idx="29">
                    <c:v/>
                  </c:pt>
                  <c:pt idx="30">
                    <c:v/>
                  </c:pt>
                </c:lvl>
              </c:multiLvlStrCache>
            </c:multiLvl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5.23</c:v>
                </c:pt>
                <c:pt idx="1">
                  <c:v>5.63</c:v>
                </c:pt>
                <c:pt idx="2">
                  <c:v>5.7</c:v>
                </c:pt>
                <c:pt idx="3">
                  <c:v>5.49</c:v>
                </c:pt>
                <c:pt idx="4">
                  <c:v>5.73</c:v>
                </c:pt>
                <c:pt idx="5">
                  <c:v>5.71</c:v>
                </c:pt>
                <c:pt idx="6">
                  <c:v>5.65</c:v>
                </c:pt>
                <c:pt idx="7">
                  <c:v>5.46</c:v>
                </c:pt>
                <c:pt idx="8">
                  <c:v>5.53</c:v>
                </c:pt>
                <c:pt idx="9">
                  <c:v>5.75</c:v>
                </c:pt>
                <c:pt idx="10">
                  <c:v>5.67</c:v>
                </c:pt>
                <c:pt idx="11">
                  <c:v>5.75</c:v>
                </c:pt>
                <c:pt idx="12">
                  <c:v>5.74</c:v>
                </c:pt>
                <c:pt idx="13">
                  <c:v>5.26</c:v>
                </c:pt>
                <c:pt idx="14">
                  <c:v>5.74</c:v>
                </c:pt>
                <c:pt idx="15">
                  <c:v>5.4</c:v>
                </c:pt>
                <c:pt idx="16">
                  <c:v>5.25</c:v>
                </c:pt>
                <c:pt idx="17">
                  <c:v>5.73</c:v>
                </c:pt>
                <c:pt idx="18">
                  <c:v>5.73</c:v>
                </c:pt>
                <c:pt idx="19">
                  <c:v>5.36</c:v>
                </c:pt>
                <c:pt idx="20">
                  <c:v>5.57</c:v>
                </c:pt>
                <c:pt idx="21">
                  <c:v>5.44</c:v>
                </c:pt>
                <c:pt idx="22">
                  <c:v>5.38</c:v>
                </c:pt>
                <c:pt idx="23">
                  <c:v>5.43</c:v>
                </c:pt>
                <c:pt idx="24">
                  <c:v>5.72</c:v>
                </c:pt>
                <c:pt idx="25">
                  <c:v>4.91</c:v>
                </c:pt>
                <c:pt idx="26">
                  <c:v>5.33</c:v>
                </c:pt>
                <c:pt idx="27">
                  <c:v>5.65</c:v>
                </c:pt>
                <c:pt idx="28">
                  <c:v>5.64</c:v>
                </c:pt>
                <c:pt idx="29">
                  <c:v>5.38</c:v>
                </c:pt>
                <c:pt idx="30">
                  <c:v>5.77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7"/>
          <c:min val="-5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C77700"/>
            </a:solidFill>
            <a:ln w="25400" cap="flat">
              <a:solidFill>
                <a:srgbClr val="C777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77700"/>
              </a:solidFill>
              <a:ln w="9525" cap="flat">
                <a:solidFill>
                  <a:srgbClr val="C777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1 Aug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>8 Aug</c:v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>15 Aug</c:v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>22 Aug</c:v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>29 Aug</c:v>
                  </c:pt>
                  <c:pt idx="29">
                    <c:v/>
                  </c:pt>
                  <c:pt idx="30">
                    <c:v/>
                  </c:pt>
                </c:lvl>
              </c:multiLvlStrCache>
            </c:multiLvl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-4.13</c:v>
                </c:pt>
                <c:pt idx="1">
                  <c:v>3.74</c:v>
                </c:pt>
                <c:pt idx="2">
                  <c:v>4.76</c:v>
                </c:pt>
                <c:pt idx="3">
                  <c:v>0.08</c:v>
                </c:pt>
                <c:pt idx="4">
                  <c:v>5.38</c:v>
                </c:pt>
                <c:pt idx="5">
                  <c:v>5.31</c:v>
                </c:pt>
                <c:pt idx="6">
                  <c:v>4.04</c:v>
                </c:pt>
                <c:pt idx="7">
                  <c:v>-0.91</c:v>
                </c:pt>
                <c:pt idx="8">
                  <c:v>2.07</c:v>
                </c:pt>
                <c:pt idx="9">
                  <c:v>5.64</c:v>
                </c:pt>
                <c:pt idx="10">
                  <c:v>4.83</c:v>
                </c:pt>
                <c:pt idx="11">
                  <c:v>5.09</c:v>
                </c:pt>
                <c:pt idx="12">
                  <c:v>5.65</c:v>
                </c:pt>
                <c:pt idx="13">
                  <c:v>-0.39</c:v>
                </c:pt>
                <c:pt idx="14">
                  <c:v>5.65</c:v>
                </c:pt>
                <c:pt idx="15">
                  <c:v>-1.63</c:v>
                </c:pt>
                <c:pt idx="16">
                  <c:v>-0.93</c:v>
                </c:pt>
                <c:pt idx="17">
                  <c:v>5.64</c:v>
                </c:pt>
                <c:pt idx="18">
                  <c:v>5.34</c:v>
                </c:pt>
                <c:pt idx="19">
                  <c:v>0.03</c:v>
                </c:pt>
                <c:pt idx="20">
                  <c:v>3.02</c:v>
                </c:pt>
                <c:pt idx="21">
                  <c:v>-1.3</c:v>
                </c:pt>
                <c:pt idx="22">
                  <c:v>-1.78</c:v>
                </c:pt>
                <c:pt idx="23">
                  <c:v>-0.49</c:v>
                </c:pt>
                <c:pt idx="24">
                  <c:v>5.23</c:v>
                </c:pt>
                <c:pt idx="25">
                  <c:v>-4.29</c:v>
                </c:pt>
                <c:pt idx="26">
                  <c:v>-1.65</c:v>
                </c:pt>
                <c:pt idx="27">
                  <c:v>4.12</c:v>
                </c:pt>
                <c:pt idx="28">
                  <c:v>3.67</c:v>
                </c:pt>
                <c:pt idx="29">
                  <c:v>-0.67</c:v>
                </c:pt>
                <c:pt idx="30">
                  <c:v>5.65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7"/>
          <c:min val="-5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5DB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6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77700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North West</c:v>
                  </c:pt>
                  <c:pt idx="1">
                    <c:v>North East</c:v>
                  </c:pt>
                  <c:pt idx="2">
                    <c:v>North Central</c:v>
                  </c:pt>
                  <c:pt idx="3">
                    <c:v>South West</c:v>
                  </c:pt>
                  <c:pt idx="4">
                    <c:v>South East</c:v>
                  </c:pt>
                  <c:pt idx="5">
                    <c:v>South South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98.93</c:v>
                </c:pt>
                <c:pt idx="1">
                  <c:v>98.25</c:v>
                </c:pt>
                <c:pt idx="2">
                  <c:v>99.12</c:v>
                </c:pt>
                <c:pt idx="3">
                  <c:v>99.1</c:v>
                </c:pt>
                <c:pt idx="4">
                  <c:v>98.59</c:v>
                </c:pt>
                <c:pt idx="5">
                  <c:v>97.67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0B16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9.5"/>
          <c:min val="97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 West</c:v>
                </c:pt>
              </c:strCache>
            </c:strRef>
          </c:tx>
          <c:spPr>
            <a:solidFill>
              <a:srgbClr val="B9C7D8"/>
            </a:solidFill>
            <a:ln w="25400" cap="flat">
              <a:solidFill>
                <a:srgbClr val="B9C7D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9C7D8"/>
              </a:solidFill>
              <a:ln w="9525" cap="flat">
                <a:solidFill>
                  <a:srgbClr val="B9C7D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Sheet1!$A$2:$A$53</c:f>
              <c:multiLvlStrCache>
                <c:ptCount val="52"/>
                <c:lvl>
                  <c:pt idx="0">
                    <c:v>Jan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Feb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Mar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Apr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May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>Jun</c:v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>Jul</c:v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>Aug</c:v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>Sep</c:v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>Oct</c:v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>Nov</c:v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Dec</c:v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</c:lvl>
              </c:multiLvlStrCache>
            </c:multiLvlStrRef>
          </c:cat>
          <c:val>
            <c:numRef>
              <c:f>Sheet1!$B$2:$B$53</c:f>
              <c:numCache>
                <c:formatCode>General</c:formatCode>
                <c:ptCount val="52"/>
                <c:pt idx="0">
                  <c:v>100</c:v>
                </c:pt>
                <c:pt idx="1">
                  <c:v>99.93</c:v>
                </c:pt>
                <c:pt idx="2">
                  <c:v>100.21</c:v>
                </c:pt>
                <c:pt idx="3">
                  <c:v>100.11</c:v>
                </c:pt>
                <c:pt idx="4">
                  <c:v>99.93</c:v>
                </c:pt>
                <c:pt idx="5">
                  <c:v>100.1</c:v>
                </c:pt>
                <c:pt idx="6">
                  <c:v>100.07</c:v>
                </c:pt>
                <c:pt idx="7">
                  <c:v>100.06</c:v>
                </c:pt>
                <c:pt idx="8">
                  <c:v>100.05</c:v>
                </c:pt>
                <c:pt idx="9">
                  <c:v>100.22</c:v>
                </c:pt>
                <c:pt idx="10">
                  <c:v>100.21</c:v>
                </c:pt>
                <c:pt idx="11">
                  <c:v>100.16</c:v>
                </c:pt>
                <c:pt idx="12">
                  <c:v>100.1</c:v>
                </c:pt>
                <c:pt idx="13">
                  <c:v>100.05</c:v>
                </c:pt>
                <c:pt idx="14">
                  <c:v>100.02</c:v>
                </c:pt>
                <c:pt idx="15">
                  <c:v>100.15</c:v>
                </c:pt>
                <c:pt idx="16">
                  <c:v>99.96</c:v>
                </c:pt>
                <c:pt idx="17">
                  <c:v>99.96</c:v>
                </c:pt>
                <c:pt idx="18">
                  <c:v>100.22</c:v>
                </c:pt>
                <c:pt idx="19">
                  <c:v>100.14</c:v>
                </c:pt>
                <c:pt idx="20">
                  <c:v>100.18</c:v>
                </c:pt>
                <c:pt idx="21">
                  <c:v>100.05</c:v>
                </c:pt>
                <c:pt idx="22">
                  <c:v>100.07</c:v>
                </c:pt>
                <c:pt idx="23">
                  <c:v>99.82</c:v>
                </c:pt>
                <c:pt idx="24">
                  <c:v>99.9</c:v>
                </c:pt>
                <c:pt idx="25">
                  <c:v>99.65</c:v>
                </c:pt>
                <c:pt idx="26">
                  <c:v>99.85</c:v>
                </c:pt>
                <c:pt idx="27">
                  <c:v>99.74</c:v>
                </c:pt>
                <c:pt idx="28">
                  <c:v>99.65</c:v>
                </c:pt>
                <c:pt idx="29">
                  <c:v>99.4</c:v>
                </c:pt>
                <c:pt idx="30">
                  <c:v>99.61</c:v>
                </c:pt>
                <c:pt idx="31">
                  <c:v>99.5</c:v>
                </c:pt>
                <c:pt idx="32">
                  <c:v>99.33</c:v>
                </c:pt>
                <c:pt idx="33">
                  <c:v>99.57</c:v>
                </c:pt>
                <c:pt idx="34">
                  <c:v>99.62</c:v>
                </c:pt>
                <c:pt idx="35">
                  <c:v>99.35</c:v>
                </c:pt>
                <c:pt idx="36">
                  <c:v>99.54</c:v>
                </c:pt>
                <c:pt idx="37">
                  <c:v>99.54</c:v>
                </c:pt>
                <c:pt idx="38">
                  <c:v>99.57</c:v>
                </c:pt>
                <c:pt idx="39">
                  <c:v>99.74</c:v>
                </c:pt>
                <c:pt idx="40">
                  <c:v>99.61</c:v>
                </c:pt>
                <c:pt idx="41">
                  <c:v>99.82</c:v>
                </c:pt>
                <c:pt idx="42">
                  <c:v>99.92</c:v>
                </c:pt>
                <c:pt idx="43">
                  <c:v>99.88</c:v>
                </c:pt>
                <c:pt idx="44">
                  <c:v>100.12</c:v>
                </c:pt>
                <c:pt idx="45">
                  <c:v>100.04</c:v>
                </c:pt>
                <c:pt idx="46">
                  <c:v>100.23</c:v>
                </c:pt>
                <c:pt idx="47">
                  <c:v>100.15</c:v>
                </c:pt>
                <c:pt idx="48">
                  <c:v>99.96</c:v>
                </c:pt>
                <c:pt idx="49">
                  <c:v>100.06</c:v>
                </c:pt>
                <c:pt idx="50">
                  <c:v>100.09</c:v>
                </c:pt>
                <c:pt idx="51">
                  <c:v>100.18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North East</c:v>
                </c:pt>
              </c:strCache>
            </c:strRef>
          </c:tx>
          <c:spPr>
            <a:solidFill>
              <a:srgbClr val="B9C7D8"/>
            </a:solidFill>
            <a:ln w="25400" cap="flat">
              <a:solidFill>
                <a:srgbClr val="B9C7D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9C7D8"/>
              </a:solidFill>
              <a:ln w="9525" cap="flat">
                <a:solidFill>
                  <a:srgbClr val="B9C7D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Sheet1!$A$2:$A$53</c:f>
              <c:multiLvlStrCache>
                <c:ptCount val="52"/>
                <c:lvl>
                  <c:pt idx="0">
                    <c:v>Jan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Feb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Mar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Apr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May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>Jun</c:v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>Jul</c:v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>Aug</c:v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>Sep</c:v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>Oct</c:v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>Nov</c:v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Dec</c:v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</c:lvl>
              </c:multiLvlStrCache>
            </c:multiLvlStrRef>
          </c:cat>
          <c:val>
            <c:numRef>
              <c:f>Sheet1!$C$2:$C$53</c:f>
              <c:numCache>
                <c:formatCode>General</c:formatCode>
                <c:ptCount val="52"/>
                <c:pt idx="0">
                  <c:v>100</c:v>
                </c:pt>
                <c:pt idx="1">
                  <c:v>99.96</c:v>
                </c:pt>
                <c:pt idx="2">
                  <c:v>100.05</c:v>
                </c:pt>
                <c:pt idx="3">
                  <c:v>100.19</c:v>
                </c:pt>
                <c:pt idx="4">
                  <c:v>99.99</c:v>
                </c:pt>
                <c:pt idx="5">
                  <c:v>99.9</c:v>
                </c:pt>
                <c:pt idx="6">
                  <c:v>100.22</c:v>
                </c:pt>
                <c:pt idx="7">
                  <c:v>100.23</c:v>
                </c:pt>
                <c:pt idx="8">
                  <c:v>100.24</c:v>
                </c:pt>
                <c:pt idx="9">
                  <c:v>100.2</c:v>
                </c:pt>
                <c:pt idx="10">
                  <c:v>100.22</c:v>
                </c:pt>
                <c:pt idx="11">
                  <c:v>100.11</c:v>
                </c:pt>
                <c:pt idx="12">
                  <c:v>99.99</c:v>
                </c:pt>
                <c:pt idx="13">
                  <c:v>100.08</c:v>
                </c:pt>
                <c:pt idx="14">
                  <c:v>100.23</c:v>
                </c:pt>
                <c:pt idx="15">
                  <c:v>100.16</c:v>
                </c:pt>
                <c:pt idx="16">
                  <c:v>99.98</c:v>
                </c:pt>
                <c:pt idx="17">
                  <c:v>100.04</c:v>
                </c:pt>
                <c:pt idx="18">
                  <c:v>100.08</c:v>
                </c:pt>
                <c:pt idx="19">
                  <c:v>100.23</c:v>
                </c:pt>
                <c:pt idx="20">
                  <c:v>100.06</c:v>
                </c:pt>
                <c:pt idx="21">
                  <c:v>99.9</c:v>
                </c:pt>
                <c:pt idx="22">
                  <c:v>100</c:v>
                </c:pt>
                <c:pt idx="23">
                  <c:v>99.92</c:v>
                </c:pt>
                <c:pt idx="24">
                  <c:v>99.93</c:v>
                </c:pt>
                <c:pt idx="25">
                  <c:v>99.76</c:v>
                </c:pt>
                <c:pt idx="26">
                  <c:v>99.84</c:v>
                </c:pt>
                <c:pt idx="27">
                  <c:v>99.79</c:v>
                </c:pt>
                <c:pt idx="28">
                  <c:v>99.67</c:v>
                </c:pt>
                <c:pt idx="29">
                  <c:v>99.47</c:v>
                </c:pt>
                <c:pt idx="30">
                  <c:v>99.45</c:v>
                </c:pt>
                <c:pt idx="31">
                  <c:v>99.6</c:v>
                </c:pt>
                <c:pt idx="32">
                  <c:v>99.58</c:v>
                </c:pt>
                <c:pt idx="33">
                  <c:v>99.32</c:v>
                </c:pt>
                <c:pt idx="34">
                  <c:v>99.46</c:v>
                </c:pt>
                <c:pt idx="35">
                  <c:v>99.52</c:v>
                </c:pt>
                <c:pt idx="36">
                  <c:v>99.37</c:v>
                </c:pt>
                <c:pt idx="37">
                  <c:v>99.66</c:v>
                </c:pt>
                <c:pt idx="38">
                  <c:v>99.66</c:v>
                </c:pt>
                <c:pt idx="39">
                  <c:v>99.71</c:v>
                </c:pt>
                <c:pt idx="40">
                  <c:v>99.66</c:v>
                </c:pt>
                <c:pt idx="41">
                  <c:v>99.63</c:v>
                </c:pt>
                <c:pt idx="42">
                  <c:v>100.01</c:v>
                </c:pt>
                <c:pt idx="43">
                  <c:v>100.05</c:v>
                </c:pt>
                <c:pt idx="44">
                  <c:v>99.87</c:v>
                </c:pt>
                <c:pt idx="45">
                  <c:v>99.92</c:v>
                </c:pt>
                <c:pt idx="46">
                  <c:v>100.21</c:v>
                </c:pt>
                <c:pt idx="47">
                  <c:v>100.19</c:v>
                </c:pt>
                <c:pt idx="48">
                  <c:v>100.1</c:v>
                </c:pt>
                <c:pt idx="49">
                  <c:v>100.15</c:v>
                </c:pt>
                <c:pt idx="50">
                  <c:v>100.2</c:v>
                </c:pt>
                <c:pt idx="51">
                  <c:v>100.13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North Central</c:v>
                </c:pt>
              </c:strCache>
            </c:strRef>
          </c:tx>
          <c:spPr>
            <a:solidFill>
              <a:srgbClr val="B9C7D8"/>
            </a:solidFill>
            <a:ln w="25400" cap="flat">
              <a:solidFill>
                <a:srgbClr val="B9C7D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9C7D8"/>
              </a:solidFill>
              <a:ln w="9525" cap="flat">
                <a:solidFill>
                  <a:srgbClr val="B9C7D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Sheet1!$A$2:$A$53</c:f>
              <c:multiLvlStrCache>
                <c:ptCount val="52"/>
                <c:lvl>
                  <c:pt idx="0">
                    <c:v>Jan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Feb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Mar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Apr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May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>Jun</c:v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>Jul</c:v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>Aug</c:v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>Sep</c:v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>Oct</c:v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>Nov</c:v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Dec</c:v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</c:lvl>
              </c:multiLvlStrCache>
            </c:multiLvlStrRef>
          </c:cat>
          <c:val>
            <c:numRef>
              <c:f>Sheet1!$D$2:$D$53</c:f>
              <c:numCache>
                <c:formatCode>General</c:formatCode>
                <c:ptCount val="52"/>
                <c:pt idx="0">
                  <c:v>100</c:v>
                </c:pt>
                <c:pt idx="1">
                  <c:v>99.93</c:v>
                </c:pt>
                <c:pt idx="2">
                  <c:v>100.21</c:v>
                </c:pt>
                <c:pt idx="3">
                  <c:v>100.08</c:v>
                </c:pt>
                <c:pt idx="4">
                  <c:v>99.92</c:v>
                </c:pt>
                <c:pt idx="5">
                  <c:v>99.94</c:v>
                </c:pt>
                <c:pt idx="6">
                  <c:v>100.2</c:v>
                </c:pt>
                <c:pt idx="7">
                  <c:v>99.89</c:v>
                </c:pt>
                <c:pt idx="8">
                  <c:v>99.93</c:v>
                </c:pt>
                <c:pt idx="9">
                  <c:v>100.02</c:v>
                </c:pt>
                <c:pt idx="10">
                  <c:v>99.96</c:v>
                </c:pt>
                <c:pt idx="11">
                  <c:v>100.04</c:v>
                </c:pt>
                <c:pt idx="12">
                  <c:v>100.13</c:v>
                </c:pt>
                <c:pt idx="13">
                  <c:v>99.95</c:v>
                </c:pt>
                <c:pt idx="14">
                  <c:v>99.96</c:v>
                </c:pt>
                <c:pt idx="15">
                  <c:v>100.21</c:v>
                </c:pt>
                <c:pt idx="16">
                  <c:v>99.91</c:v>
                </c:pt>
                <c:pt idx="17">
                  <c:v>99.94</c:v>
                </c:pt>
                <c:pt idx="18">
                  <c:v>99.93</c:v>
                </c:pt>
                <c:pt idx="19">
                  <c:v>100.02</c:v>
                </c:pt>
                <c:pt idx="20">
                  <c:v>100.07</c:v>
                </c:pt>
                <c:pt idx="21">
                  <c:v>100.13</c:v>
                </c:pt>
                <c:pt idx="22">
                  <c:v>99.84</c:v>
                </c:pt>
                <c:pt idx="23">
                  <c:v>99.84</c:v>
                </c:pt>
                <c:pt idx="24">
                  <c:v>99.7</c:v>
                </c:pt>
                <c:pt idx="25">
                  <c:v>99.76</c:v>
                </c:pt>
                <c:pt idx="26">
                  <c:v>99.83</c:v>
                </c:pt>
                <c:pt idx="27">
                  <c:v>99.79</c:v>
                </c:pt>
                <c:pt idx="28">
                  <c:v>99.6</c:v>
                </c:pt>
                <c:pt idx="29">
                  <c:v>99.7</c:v>
                </c:pt>
                <c:pt idx="30">
                  <c:v>99.66</c:v>
                </c:pt>
                <c:pt idx="31">
                  <c:v>99.64</c:v>
                </c:pt>
                <c:pt idx="32">
                  <c:v>99.62</c:v>
                </c:pt>
                <c:pt idx="33">
                  <c:v>99.49</c:v>
                </c:pt>
                <c:pt idx="34">
                  <c:v>99.61</c:v>
                </c:pt>
                <c:pt idx="35">
                  <c:v>99.62</c:v>
                </c:pt>
                <c:pt idx="36">
                  <c:v>99.5</c:v>
                </c:pt>
                <c:pt idx="37">
                  <c:v>99.39</c:v>
                </c:pt>
                <c:pt idx="38">
                  <c:v>99.5</c:v>
                </c:pt>
                <c:pt idx="39">
                  <c:v>99.83</c:v>
                </c:pt>
                <c:pt idx="40">
                  <c:v>99.58</c:v>
                </c:pt>
                <c:pt idx="41">
                  <c:v>99.63</c:v>
                </c:pt>
                <c:pt idx="42">
                  <c:v>99.7</c:v>
                </c:pt>
                <c:pt idx="43">
                  <c:v>99.8</c:v>
                </c:pt>
                <c:pt idx="44">
                  <c:v>99.94</c:v>
                </c:pt>
                <c:pt idx="45">
                  <c:v>100.17</c:v>
                </c:pt>
                <c:pt idx="46">
                  <c:v>100.16</c:v>
                </c:pt>
                <c:pt idx="47">
                  <c:v>100.21</c:v>
                </c:pt>
                <c:pt idx="48">
                  <c:v>100.16</c:v>
                </c:pt>
                <c:pt idx="49">
                  <c:v>100.09</c:v>
                </c:pt>
                <c:pt idx="50">
                  <c:v>100.01</c:v>
                </c:pt>
                <c:pt idx="51">
                  <c:v>99.96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South West</c:v>
                </c:pt>
              </c:strCache>
            </c:strRef>
          </c:tx>
          <c:spPr>
            <a:solidFill>
              <a:srgbClr val="008C7E"/>
            </a:solidFill>
            <a:ln w="25400" cap="flat">
              <a:solidFill>
                <a:srgbClr val="008C7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8C7E"/>
              </a:solidFill>
              <a:ln w="9525" cap="flat">
                <a:solidFill>
                  <a:srgbClr val="008C7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Sheet1!$A$2:$A$53</c:f>
              <c:multiLvlStrCache>
                <c:ptCount val="52"/>
                <c:lvl>
                  <c:pt idx="0">
                    <c:v>Jan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Feb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Mar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Apr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May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>Jun</c:v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>Jul</c:v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>Aug</c:v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>Sep</c:v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>Oct</c:v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>Nov</c:v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Dec</c:v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</c:lvl>
              </c:multiLvlStrCache>
            </c:multiLvlStrRef>
          </c:cat>
          <c:val>
            <c:numRef>
              <c:f>Sheet1!$E$2:$E$53</c:f>
              <c:numCache>
                <c:formatCode>General</c:formatCode>
                <c:ptCount val="52"/>
                <c:pt idx="0">
                  <c:v>100</c:v>
                </c:pt>
                <c:pt idx="1">
                  <c:v>99.78</c:v>
                </c:pt>
                <c:pt idx="2">
                  <c:v>100.01</c:v>
                </c:pt>
                <c:pt idx="3">
                  <c:v>99.81</c:v>
                </c:pt>
                <c:pt idx="4">
                  <c:v>99.77</c:v>
                </c:pt>
                <c:pt idx="5">
                  <c:v>100.02</c:v>
                </c:pt>
                <c:pt idx="6">
                  <c:v>99.8</c:v>
                </c:pt>
                <c:pt idx="7">
                  <c:v>99.88</c:v>
                </c:pt>
                <c:pt idx="8">
                  <c:v>99.86</c:v>
                </c:pt>
                <c:pt idx="9">
                  <c:v>99.84</c:v>
                </c:pt>
                <c:pt idx="10">
                  <c:v>100.04</c:v>
                </c:pt>
                <c:pt idx="11">
                  <c:v>99.92</c:v>
                </c:pt>
                <c:pt idx="12">
                  <c:v>99.78</c:v>
                </c:pt>
                <c:pt idx="13">
                  <c:v>100</c:v>
                </c:pt>
                <c:pt idx="14">
                  <c:v>100.04</c:v>
                </c:pt>
                <c:pt idx="15">
                  <c:v>99.85</c:v>
                </c:pt>
                <c:pt idx="16">
                  <c:v>99.78</c:v>
                </c:pt>
                <c:pt idx="17">
                  <c:v>99.97</c:v>
                </c:pt>
                <c:pt idx="18">
                  <c:v>99.93</c:v>
                </c:pt>
                <c:pt idx="19">
                  <c:v>99.85</c:v>
                </c:pt>
                <c:pt idx="20">
                  <c:v>99.86</c:v>
                </c:pt>
                <c:pt idx="21">
                  <c:v>99.97</c:v>
                </c:pt>
                <c:pt idx="22">
                  <c:v>99.86</c:v>
                </c:pt>
                <c:pt idx="23">
                  <c:v>99.71</c:v>
                </c:pt>
                <c:pt idx="24">
                  <c:v>99.45</c:v>
                </c:pt>
                <c:pt idx="25">
                  <c:v>99.24</c:v>
                </c:pt>
                <c:pt idx="26">
                  <c:v>99.16</c:v>
                </c:pt>
                <c:pt idx="27">
                  <c:v>98.82</c:v>
                </c:pt>
                <c:pt idx="28">
                  <c:v>98.8</c:v>
                </c:pt>
                <c:pt idx="29">
                  <c:v>98.48</c:v>
                </c:pt>
                <c:pt idx="30">
                  <c:v>98.4</c:v>
                </c:pt>
                <c:pt idx="31">
                  <c:v>98.26</c:v>
                </c:pt>
                <c:pt idx="32">
                  <c:v>98.45</c:v>
                </c:pt>
                <c:pt idx="33">
                  <c:v>98.35</c:v>
                </c:pt>
                <c:pt idx="34">
                  <c:v>98.33</c:v>
                </c:pt>
                <c:pt idx="35">
                  <c:v>98.54</c:v>
                </c:pt>
                <c:pt idx="36">
                  <c:v>98.63</c:v>
                </c:pt>
                <c:pt idx="37">
                  <c:v>98.55</c:v>
                </c:pt>
                <c:pt idx="38">
                  <c:v>98.88</c:v>
                </c:pt>
                <c:pt idx="39">
                  <c:v>98.85</c:v>
                </c:pt>
                <c:pt idx="40">
                  <c:v>99.15</c:v>
                </c:pt>
                <c:pt idx="41">
                  <c:v>99.15</c:v>
                </c:pt>
                <c:pt idx="42">
                  <c:v>99.41</c:v>
                </c:pt>
                <c:pt idx="43">
                  <c:v>99.34</c:v>
                </c:pt>
                <c:pt idx="44">
                  <c:v>99.84</c:v>
                </c:pt>
                <c:pt idx="45">
                  <c:v>99.94</c:v>
                </c:pt>
                <c:pt idx="46">
                  <c:v>99.9</c:v>
                </c:pt>
                <c:pt idx="47">
                  <c:v>99.91</c:v>
                </c:pt>
                <c:pt idx="48">
                  <c:v>99.82</c:v>
                </c:pt>
                <c:pt idx="49">
                  <c:v>99.92</c:v>
                </c:pt>
                <c:pt idx="50">
                  <c:v>100.05</c:v>
                </c:pt>
                <c:pt idx="51">
                  <c:v>99.79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South East</c:v>
                </c:pt>
              </c:strCache>
            </c:strRef>
          </c:tx>
          <c:spPr>
            <a:solidFill>
              <a:srgbClr val="C77700"/>
            </a:solidFill>
            <a:ln w="25400" cap="flat">
              <a:solidFill>
                <a:srgbClr val="C777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77700"/>
              </a:solidFill>
              <a:ln w="9525" cap="flat">
                <a:solidFill>
                  <a:srgbClr val="C777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Sheet1!$A$2:$A$53</c:f>
              <c:multiLvlStrCache>
                <c:ptCount val="52"/>
                <c:lvl>
                  <c:pt idx="0">
                    <c:v>Jan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Feb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Mar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Apr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May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>Jun</c:v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>Jul</c:v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>Aug</c:v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>Sep</c:v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>Oct</c:v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>Nov</c:v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Dec</c:v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</c:lvl>
              </c:multiLvlStrCache>
            </c:multiLvlStrRef>
          </c:cat>
          <c:val>
            <c:numRef>
              <c:f>Sheet1!$F$2:$F$53</c:f>
              <c:numCache>
                <c:formatCode>General</c:formatCode>
                <c:ptCount val="52"/>
                <c:pt idx="0">
                  <c:v>100</c:v>
                </c:pt>
                <c:pt idx="1">
                  <c:v>99.95</c:v>
                </c:pt>
                <c:pt idx="2">
                  <c:v>99.97</c:v>
                </c:pt>
                <c:pt idx="3">
                  <c:v>99.81</c:v>
                </c:pt>
                <c:pt idx="4">
                  <c:v>99.81</c:v>
                </c:pt>
                <c:pt idx="5">
                  <c:v>99.83</c:v>
                </c:pt>
                <c:pt idx="6">
                  <c:v>99.76</c:v>
                </c:pt>
                <c:pt idx="7">
                  <c:v>100.02</c:v>
                </c:pt>
                <c:pt idx="8">
                  <c:v>100.02</c:v>
                </c:pt>
                <c:pt idx="9">
                  <c:v>99.88</c:v>
                </c:pt>
                <c:pt idx="10">
                  <c:v>99.73</c:v>
                </c:pt>
                <c:pt idx="11">
                  <c:v>99.84</c:v>
                </c:pt>
                <c:pt idx="12">
                  <c:v>99.8</c:v>
                </c:pt>
                <c:pt idx="13">
                  <c:v>99.92</c:v>
                </c:pt>
                <c:pt idx="14">
                  <c:v>99.88</c:v>
                </c:pt>
                <c:pt idx="15">
                  <c:v>99.93</c:v>
                </c:pt>
                <c:pt idx="16">
                  <c:v>100.01</c:v>
                </c:pt>
                <c:pt idx="17">
                  <c:v>99.92</c:v>
                </c:pt>
                <c:pt idx="18">
                  <c:v>99.78</c:v>
                </c:pt>
                <c:pt idx="19">
                  <c:v>99.94</c:v>
                </c:pt>
                <c:pt idx="20">
                  <c:v>99.83</c:v>
                </c:pt>
                <c:pt idx="21">
                  <c:v>99.68</c:v>
                </c:pt>
                <c:pt idx="22">
                  <c:v>99.82</c:v>
                </c:pt>
                <c:pt idx="23">
                  <c:v>99.36</c:v>
                </c:pt>
                <c:pt idx="24">
                  <c:v>99.19</c:v>
                </c:pt>
                <c:pt idx="25">
                  <c:v>99.11</c:v>
                </c:pt>
                <c:pt idx="26">
                  <c:v>99.03</c:v>
                </c:pt>
                <c:pt idx="27">
                  <c:v>98.83</c:v>
                </c:pt>
                <c:pt idx="28">
                  <c:v>98.8</c:v>
                </c:pt>
                <c:pt idx="29">
                  <c:v>98.73</c:v>
                </c:pt>
                <c:pt idx="30">
                  <c:v>98.41</c:v>
                </c:pt>
                <c:pt idx="31">
                  <c:v>98.54</c:v>
                </c:pt>
                <c:pt idx="32">
                  <c:v>98.22</c:v>
                </c:pt>
                <c:pt idx="33">
                  <c:v>98.43</c:v>
                </c:pt>
                <c:pt idx="34">
                  <c:v>98.28</c:v>
                </c:pt>
                <c:pt idx="35">
                  <c:v>98.27</c:v>
                </c:pt>
                <c:pt idx="36">
                  <c:v>98.53</c:v>
                </c:pt>
                <c:pt idx="37">
                  <c:v>98.45</c:v>
                </c:pt>
                <c:pt idx="38">
                  <c:v>98.76</c:v>
                </c:pt>
                <c:pt idx="39">
                  <c:v>99.01</c:v>
                </c:pt>
                <c:pt idx="40">
                  <c:v>99.06</c:v>
                </c:pt>
                <c:pt idx="41">
                  <c:v>99.15</c:v>
                </c:pt>
                <c:pt idx="42">
                  <c:v>99.33</c:v>
                </c:pt>
                <c:pt idx="43">
                  <c:v>99.65</c:v>
                </c:pt>
                <c:pt idx="44">
                  <c:v>99.72</c:v>
                </c:pt>
                <c:pt idx="45">
                  <c:v>99.68</c:v>
                </c:pt>
                <c:pt idx="46">
                  <c:v>99.99</c:v>
                </c:pt>
                <c:pt idx="47">
                  <c:v>99.99</c:v>
                </c:pt>
                <c:pt idx="48">
                  <c:v>100.03</c:v>
                </c:pt>
                <c:pt idx="49">
                  <c:v>99.73</c:v>
                </c:pt>
                <c:pt idx="50">
                  <c:v>99.92</c:v>
                </c:pt>
                <c:pt idx="51">
                  <c:v>99.93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South South</c:v>
                </c:pt>
              </c:strCache>
            </c:strRef>
          </c:tx>
          <c:spPr>
            <a:solidFill>
              <a:srgbClr val="0A5DB4"/>
            </a:solidFill>
            <a:ln w="25400" cap="flat">
              <a:solidFill>
                <a:srgbClr val="0A5DB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5DB4"/>
              </a:solidFill>
              <a:ln w="9525" cap="flat">
                <a:solidFill>
                  <a:srgbClr val="0A5DB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Sheet1!$A$2:$A$53</c:f>
              <c:multiLvlStrCache>
                <c:ptCount val="52"/>
                <c:lvl>
                  <c:pt idx="0">
                    <c:v>Jan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Feb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Mar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Apr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May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>Jun</c:v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>Jul</c:v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>Aug</c:v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>Sep</c:v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>Oct</c:v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>Nov</c:v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Dec</c:v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</c:lvl>
              </c:multiLvlStrCache>
            </c:multiLvlStrRef>
          </c:cat>
          <c:val>
            <c:numRef>
              <c:f>Sheet1!$G$2:$G$53</c:f>
              <c:numCache>
                <c:formatCode>General</c:formatCode>
                <c:ptCount val="52"/>
                <c:pt idx="0">
                  <c:v>100</c:v>
                </c:pt>
                <c:pt idx="1">
                  <c:v>100.18</c:v>
                </c:pt>
                <c:pt idx="2">
                  <c:v>100.29</c:v>
                </c:pt>
                <c:pt idx="3">
                  <c:v>99.96</c:v>
                </c:pt>
                <c:pt idx="4">
                  <c:v>100.14</c:v>
                </c:pt>
                <c:pt idx="5">
                  <c:v>100.01</c:v>
                </c:pt>
                <c:pt idx="6">
                  <c:v>100.21</c:v>
                </c:pt>
                <c:pt idx="7">
                  <c:v>100.11</c:v>
                </c:pt>
                <c:pt idx="8">
                  <c:v>100.01</c:v>
                </c:pt>
                <c:pt idx="9">
                  <c:v>100.16</c:v>
                </c:pt>
                <c:pt idx="10">
                  <c:v>100.22</c:v>
                </c:pt>
                <c:pt idx="11">
                  <c:v>100.12</c:v>
                </c:pt>
                <c:pt idx="12">
                  <c:v>100.24</c:v>
                </c:pt>
                <c:pt idx="13">
                  <c:v>99.94</c:v>
                </c:pt>
                <c:pt idx="14">
                  <c:v>100.16</c:v>
                </c:pt>
                <c:pt idx="15">
                  <c:v>100.08</c:v>
                </c:pt>
                <c:pt idx="16">
                  <c:v>100.11</c:v>
                </c:pt>
                <c:pt idx="17">
                  <c:v>100.11</c:v>
                </c:pt>
                <c:pt idx="18">
                  <c:v>100.08</c:v>
                </c:pt>
                <c:pt idx="19">
                  <c:v>99.99</c:v>
                </c:pt>
                <c:pt idx="20">
                  <c:v>100.2</c:v>
                </c:pt>
                <c:pt idx="21">
                  <c:v>99.97</c:v>
                </c:pt>
                <c:pt idx="22">
                  <c:v>99.82</c:v>
                </c:pt>
                <c:pt idx="23">
                  <c:v>99.89</c:v>
                </c:pt>
                <c:pt idx="24">
                  <c:v>99.76</c:v>
                </c:pt>
                <c:pt idx="25">
                  <c:v>99.32</c:v>
                </c:pt>
                <c:pt idx="26">
                  <c:v>99.23</c:v>
                </c:pt>
                <c:pt idx="27">
                  <c:v>98.95</c:v>
                </c:pt>
                <c:pt idx="28">
                  <c:v>98.88</c:v>
                </c:pt>
                <c:pt idx="29">
                  <c:v>98.72</c:v>
                </c:pt>
                <c:pt idx="30">
                  <c:v>98.58</c:v>
                </c:pt>
                <c:pt idx="31">
                  <c:v>98.75</c:v>
                </c:pt>
                <c:pt idx="32">
                  <c:v>98.58</c:v>
                </c:pt>
                <c:pt idx="33">
                  <c:v>98.59</c:v>
                </c:pt>
                <c:pt idx="34">
                  <c:v>98.61</c:v>
                </c:pt>
                <c:pt idx="35">
                  <c:v>98.67</c:v>
                </c:pt>
                <c:pt idx="36">
                  <c:v>98.54</c:v>
                </c:pt>
                <c:pt idx="37">
                  <c:v>98.84</c:v>
                </c:pt>
                <c:pt idx="38">
                  <c:v>99.07</c:v>
                </c:pt>
                <c:pt idx="39">
                  <c:v>99.14</c:v>
                </c:pt>
                <c:pt idx="40">
                  <c:v>99.14</c:v>
                </c:pt>
                <c:pt idx="41">
                  <c:v>99.46</c:v>
                </c:pt>
                <c:pt idx="42">
                  <c:v>99.65</c:v>
                </c:pt>
                <c:pt idx="43">
                  <c:v>99.63</c:v>
                </c:pt>
                <c:pt idx="44">
                  <c:v>100.01</c:v>
                </c:pt>
                <c:pt idx="45">
                  <c:v>100.05</c:v>
                </c:pt>
                <c:pt idx="46">
                  <c:v>99.94</c:v>
                </c:pt>
                <c:pt idx="47">
                  <c:v>100.2</c:v>
                </c:pt>
                <c:pt idx="48">
                  <c:v>100.22</c:v>
                </c:pt>
                <c:pt idx="49">
                  <c:v>100.09</c:v>
                </c:pt>
                <c:pt idx="50">
                  <c:v>99.95</c:v>
                </c:pt>
                <c:pt idx="51">
                  <c:v>100.17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1"/>
          <c:min val="97.5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Warm-up: what is a time series? Why .asfreq()?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Everybody has seen DStv drop in a downpour.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 margin is like fuel above the reserve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average says zero outages. The minimum shows the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Mainland Bridge: average traffic was fine, tell that to the man stuck for 3 hours.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Uplink power control reacts to 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Long is how databases export.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notebook they draw small multiples on a shared y-axis.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East fell furthest, to 98.2.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answers are right. They answer different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 question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 in court: the other lawyer checks all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 question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 question 6: recommendation comes last.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Tease Day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pic>
        <p:nvPicPr>
          <p:cNvPr id="3" name="Image 0" descr="/Users/jason/Desktop/nigcomsat-ai-developer/Jasons-Restructure/assets/brand/publica-acade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402336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51560" y="6336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Publica Academy · Time-Series Programme · W1D2</a:t>
            </a:r>
            <a:endParaRPr lang="en-US" sz="1100" dirty="0"/>
          </a:p>
        </p:txBody>
      </p:sp>
      <p:pic>
        <p:nvPicPr>
          <p:cNvPr id="5" name="Image 1" descr="/Users/jason/Desktop/nigcomsat-ai-developer/Jasons-Restructure/assets/brand/nigcomsa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415" y="6236208"/>
            <a:ext cx="54864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7452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9D6E5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SECTION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rgbClr val="C9D6E5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RECAP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pic>
        <p:nvPicPr>
          <p:cNvPr id="3" name="Image 0" descr="/Users/jason/Desktop/nigcomsat-ai-developer/Jasons-Restructure/assets/brand/publica-acade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402336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51560" y="6336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</a:rPr>
              <a:t>Publica Academy · Time-Series Programme · W1D2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7315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B83D"/>
                </a:solidFill>
              </a:rPr>
              <a:t>WEEK 1 · DAY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745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 That Don't Lie</a:t>
            </a:r>
            <a:endParaRPr lang="en-US" sz="4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9476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6E5"/>
                </a:solidFill>
              </a:rPr>
              <a:t>The same data can tell the truth or tell a lie. Learn to draw the truth.</a:t>
            </a:r>
            <a:endParaRPr lang="en-US" sz="2000" dirty="0"/>
          </a:p>
        </p:txBody>
      </p:sp>
      <p:sp>
        <p:nvSpPr>
          <p:cNvPr id="5" name="NIGCOMSAT logo card"/>
          <p:cNvSpPr/>
          <p:nvPr/>
        </p:nvSpPr>
        <p:spPr>
          <a:xfrm>
            <a:off x="731520" y="5074920"/>
            <a:ext cx="1600200" cy="11430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Image 0" descr="NIGCOMSA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66360"/>
            <a:ext cx="1143000" cy="960120"/>
          </a:xfrm>
          <a:prstGeom prst="rect">
            <a:avLst/>
          </a:prstGeom>
        </p:spPr>
      </p:pic>
      <p:sp>
        <p:nvSpPr>
          <p:cNvPr id="7" name="Publica logo card"/>
          <p:cNvSpPr/>
          <p:nvPr/>
        </p:nvSpPr>
        <p:spPr>
          <a:xfrm>
            <a:off x="2514600" y="5074920"/>
            <a:ext cx="2743200" cy="11430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Image 1" descr="Publica Academy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5257800"/>
            <a:ext cx="978408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794760" y="52120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</a:t>
            </a:r>
            <a:endParaRPr lang="en-US" sz="1800" dirty="0"/>
          </a:p>
        </p:txBody>
      </p:sp>
      <p:sp>
        <p:nvSpPr>
          <p:cNvPr id="10" name="earth"/>
          <p:cNvSpPr/>
          <p:nvPr/>
        </p:nvSpPr>
        <p:spPr>
          <a:xfrm>
            <a:off x="8503920" y="1280160"/>
            <a:ext cx="3291840" cy="3291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orbit"/>
          <p:cNvSpPr/>
          <p:nvPr/>
        </p:nvSpPr>
        <p:spPr>
          <a:xfrm>
            <a:off x="7726680" y="502920"/>
            <a:ext cx="4846320" cy="4846320"/>
          </a:xfrm>
          <a:prstGeom prst="ellipse">
            <a:avLst/>
          </a:prstGeom>
          <a:ln w="15875">
            <a:solidFill>
              <a:srgbClr val="3B8BE0"/>
            </a:solidFill>
            <a:prstDash val="dash"/>
          </a:ln>
        </p:spPr>
      </p:sp>
      <p:pic>
        <p:nvPicPr>
          <p:cNvPr id="12" name="satellite" descr="satelli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mission: three moves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548640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step icon 1 circle"/>
          <p:cNvSpPr/>
          <p:nvPr/>
        </p:nvSpPr>
        <p:spPr>
          <a:xfrm>
            <a:off x="1681429" y="2057400"/>
            <a:ext cx="1005840" cy="100584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step icon 1" descr="ste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2597" y="2258568"/>
            <a:ext cx="603504" cy="6035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the lie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the average hid every outage</a:t>
            </a:r>
            <a:endParaRPr lang="en-US" sz="1600" dirty="0"/>
          </a:p>
        </p:txBody>
      </p:sp>
      <p:sp>
        <p:nvSpPr>
          <p:cNvPr id="8" name="arrow 1"/>
          <p:cNvSpPr/>
          <p:nvPr/>
        </p:nvSpPr>
        <p:spPr>
          <a:xfrm>
            <a:off x="3929786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"/>
          <p:cNvSpPr/>
          <p:nvPr/>
        </p:nvSpPr>
        <p:spPr>
          <a:xfrm>
            <a:off x="4460138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0" name="step icon 2 circle"/>
          <p:cNvSpPr/>
          <p:nvPr/>
        </p:nvSpPr>
        <p:spPr>
          <a:xfrm>
            <a:off x="5592928" y="2057400"/>
            <a:ext cx="1005840" cy="100584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1" name="step icon 2" descr="ste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4096" y="2258568"/>
            <a:ext cx="603504" cy="6035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34458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6 zones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734458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small multiples + index</a:t>
            </a:r>
            <a:endParaRPr lang="en-US" sz="1600" dirty="0"/>
          </a:p>
        </p:txBody>
      </p:sp>
      <p:sp>
        <p:nvSpPr>
          <p:cNvPr id="14" name="arrow 2"/>
          <p:cNvSpPr/>
          <p:nvPr/>
        </p:nvSpPr>
        <p:spPr>
          <a:xfrm>
            <a:off x="7841285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3"/>
          <p:cNvSpPr/>
          <p:nvPr/>
        </p:nvSpPr>
        <p:spPr>
          <a:xfrm>
            <a:off x="8371637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step icon 3 circle"/>
          <p:cNvSpPr/>
          <p:nvPr/>
        </p:nvSpPr>
        <p:spPr>
          <a:xfrm>
            <a:off x="9504426" y="2057400"/>
            <a:ext cx="1005840" cy="100584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7" name="step icon 3" descr="ste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5594" y="2258568"/>
            <a:ext cx="603504" cy="60350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645957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the story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645957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 title + 4 sentences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1663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accent1"/>
                </a:solidFill>
              </a:rPr>
              <a:t>10 min hook · 30 min slides · 60 min hands-on · 20 min wrap-up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 Signal” during heavy rain</a:t>
            </a:r>
            <a:endParaRPr lang="en-US" sz="3200" dirty="0"/>
          </a:p>
        </p:txBody>
      </p:sp>
      <p:sp>
        <p:nvSpPr>
          <p:cNvPr id="3" name="big icon circle"/>
          <p:cNvSpPr/>
          <p:nvPr/>
        </p:nvSpPr>
        <p:spPr>
          <a:xfrm>
            <a:off x="5090008" y="1463040"/>
            <a:ext cx="2011680" cy="201168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4" name="big icon" descr="big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2344" y="1865376"/>
            <a:ext cx="1207008" cy="12070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05840" y="3657600"/>
            <a:ext cx="101800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rain soaks up the satellite signal: that's rain fade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470916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Ka-band suffers it most. Did our link go down in August, and would our charts show it?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PART 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average lies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One month of hourly Ka-band link data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rf_link_quality_hourly: 744 hours of August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rain_rate_mmhr: rain at the earth station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3413684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3779444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468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79444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quality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779444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cn_ratio_db: carrier-to-noise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6278728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6644488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6512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44488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Uplink power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6644488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uplink_power_dbm: how loud we transmit</a:t>
            </a:r>
            <a:endParaRPr lang="en-US" sz="1600" dirty="0"/>
          </a:p>
        </p:txBody>
      </p:sp>
      <p:sp>
        <p:nvSpPr>
          <p:cNvPr id="18" name="card 4"/>
          <p:cNvSpPr/>
          <p:nvPr/>
        </p:nvSpPr>
        <p:spPr>
          <a:xfrm>
            <a:off x="9143771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9" name="icon 4 circle"/>
          <p:cNvSpPr/>
          <p:nvPr/>
        </p:nvSpPr>
        <p:spPr>
          <a:xfrm>
            <a:off x="9509531" y="2103120"/>
            <a:ext cx="960120" cy="96012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20" name="icon 4" descr="ico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555" y="2295144"/>
            <a:ext cx="576072" cy="57607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509531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margin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9509531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link_margin_db: below 0 dB = link DOWN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data, two daily summaries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417320"/>
            <a:ext cx="5318608" cy="45262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Daily AVERAGE: never below 4.91 dB</a:t>
            </a:r>
            <a:endParaRPr lang="en-US" sz="1800" dirty="0"/>
          </a:p>
        </p:txBody>
      </p:sp>
      <p:graphicFrame>
        <p:nvGraphicFramePr>
          <p:cNvPr id="5" name="left chart" descr=""/>
          <p:cNvGraphicFramePr/>
          <p:nvPr/>
        </p:nvGraphicFramePr>
        <p:xfrm>
          <a:off x="731520" y="2148840"/>
          <a:ext cx="4952848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ight card"/>
          <p:cNvSpPr/>
          <p:nvPr/>
        </p:nvSpPr>
        <p:spPr>
          <a:xfrm>
            <a:off x="6324448" y="1417320"/>
            <a:ext cx="5318608" cy="45262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98768" y="155448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Daily MINIMUM: 11 of 31 days below 0 dB</a:t>
            </a:r>
            <a:endParaRPr lang="en-US" sz="1800" dirty="0"/>
          </a:p>
        </p:txBody>
      </p:sp>
      <p:graphicFrame>
        <p:nvGraphicFramePr>
          <p:cNvPr id="8" name="right chart" descr=""/>
          <p:cNvGraphicFramePr/>
          <p:nvPr/>
        </p:nvGraphicFramePr>
        <p:xfrm>
          <a:off x="6507328" y="2148840"/>
          <a:ext cx="4952848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“Did we breach?” → plot the worst moment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minimum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SLA, outages: “did it ever go down?”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average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typical level, long-term trend. It hides short outages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Uplink power rises because it rains</a:t>
            </a:r>
            <a:endParaRPr lang="en-US" sz="3200" dirty="0"/>
          </a:p>
        </p:txBody>
      </p:sp>
      <p:sp>
        <p:nvSpPr>
          <p:cNvPr id="3" name="big icon circle"/>
          <p:cNvSpPr/>
          <p:nvPr/>
        </p:nvSpPr>
        <p:spPr>
          <a:xfrm>
            <a:off x="5090008" y="1463040"/>
            <a:ext cx="2011680" cy="201168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4" name="big icon" descr="big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2344" y="1865376"/>
            <a:ext cx="1207008" cy="12070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05840" y="3657600"/>
            <a:ext cx="101800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Rain vs uplink power: correlation 0.97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470916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Uplink averages 41.2 dBm when dry, 44.1 dBm in rain. It's a response, not a second problem. Two units? Two stacked charts, never two y-axes.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PART 2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zones, one picture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VSAT uptime by geopolitical zone, weekly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format → pivot → wide format</a:t>
            </a:r>
            <a:endParaRPr lang="en-US" sz="3200" dirty="0"/>
          </a:p>
        </p:txBody>
      </p:sp>
      <p:sp>
        <p:nvSpPr>
          <p:cNvPr id="3" name="code panel"/>
          <p:cNvSpPr/>
          <p:nvPr/>
        </p:nvSpPr>
        <p:spPr>
          <a:xfrm>
            <a:off x="548640" y="1508760"/>
            <a:ext cx="11094415" cy="32918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960120" y="1691640"/>
            <a:ext cx="1027145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long: 312 rows (52 weeks x 6 zones)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vsat = pd.read_csv(data_path("vsat_uptime_by_region_weekly"),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parse_dates=["week_start"])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wide: 52 rows x 6 zone columns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wide = vsat.pivot(index="week_start",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columns="region",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values="uptime_pct")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74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Charts want one column per line: pivot does the reshaping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uptime by zone: South South is lowest</a:t>
            </a:r>
            <a:endParaRPr lang="en-US" sz="3200" dirty="0"/>
          </a:p>
        </p:txBody>
      </p:sp>
      <p:graphicFrame>
        <p:nvGraphicFramePr>
          <p:cNvPr id="3" name="bar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Tight axis (97–99.5%) because uptime lives near the top: range stated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Indexed to week 1: who fell furthest from their own normal?</a:t>
            </a:r>
            <a:endParaRPr lang="en-US" sz="3200" dirty="0"/>
          </a:p>
        </p:txBody>
      </p:sp>
      <p:graphicFrame>
        <p:nvGraphicFramePr>
          <p:cNvPr id="3" name="line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questions, two different answers</a:t>
            </a:r>
            <a:endParaRPr lang="en-US" sz="32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291840"/>
                <a:gridCol w="45079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Chart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Answer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Who is worst?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raw uptime, small multiples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South South (avg 97.67%, worst week 96.56%)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Who dropped most from normal?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indexed to week 1 = 100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South East (fell to 98.2)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Lowest score is not the same as biggest drop since last term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PART 3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Honest-chart rules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Five habits that make charts trustworthy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should the y-axis start?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Percentages near the top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Zoom in (e.g. 96–100%) and write the range on the chart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Counts you can add up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Start at zero, or small differences look huge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 honest-chart rules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749808" y="224028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43230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9808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line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2840675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8" name="icon 2 circle"/>
          <p:cNvSpPr/>
          <p:nvPr/>
        </p:nvSpPr>
        <p:spPr>
          <a:xfrm>
            <a:off x="3041843" y="224028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9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867" y="2432304"/>
            <a:ext cx="576072" cy="5760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041843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= finding</a:t>
            </a:r>
            <a:endParaRPr lang="en-US" sz="1800" dirty="0"/>
          </a:p>
        </p:txBody>
      </p:sp>
      <p:sp>
        <p:nvSpPr>
          <p:cNvPr id="11" name="card 3"/>
          <p:cNvSpPr/>
          <p:nvPr/>
        </p:nvSpPr>
        <p:spPr>
          <a:xfrm>
            <a:off x="5132710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2" name="icon 3 circle"/>
          <p:cNvSpPr/>
          <p:nvPr/>
        </p:nvSpPr>
        <p:spPr>
          <a:xfrm>
            <a:off x="5333878" y="224028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3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5902" y="2432304"/>
            <a:ext cx="576072" cy="57607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33878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Sensible axis</a:t>
            </a:r>
            <a:endParaRPr lang="en-US" sz="1800" dirty="0"/>
          </a:p>
        </p:txBody>
      </p:sp>
      <p:sp>
        <p:nvSpPr>
          <p:cNvPr id="15" name="card 4"/>
          <p:cNvSpPr/>
          <p:nvPr/>
        </p:nvSpPr>
        <p:spPr>
          <a:xfrm>
            <a:off x="7424745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icon 4 circle"/>
          <p:cNvSpPr/>
          <p:nvPr/>
        </p:nvSpPr>
        <p:spPr>
          <a:xfrm>
            <a:off x="7625913" y="2240280"/>
            <a:ext cx="960120" cy="96012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17" name="icon 4" descr="ico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937" y="2432304"/>
            <a:ext cx="576072" cy="57607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625913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y-axis</a:t>
            </a:r>
            <a:endParaRPr lang="en-US" sz="1800" dirty="0"/>
          </a:p>
        </p:txBody>
      </p:sp>
      <p:sp>
        <p:nvSpPr>
          <p:cNvPr id="19" name="card 5"/>
          <p:cNvSpPr/>
          <p:nvPr/>
        </p:nvSpPr>
        <p:spPr>
          <a:xfrm>
            <a:off x="9716780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0" name="icon 5 circle"/>
          <p:cNvSpPr/>
          <p:nvPr/>
        </p:nvSpPr>
        <p:spPr>
          <a:xfrm>
            <a:off x="9917948" y="224028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21" name="icon 5" descr="icon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9972" y="2432304"/>
            <a:ext cx="576072" cy="57607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917948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title should state the finding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 the data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Link margin, August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States the finding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Ka-band link went down on 11 of 31 August days, all during heavy rain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4-sentence finding</a:t>
            </a:r>
            <a:endParaRPr lang="en-US" sz="3200" dirty="0"/>
          </a:p>
        </p:txBody>
      </p:sp>
      <p:sp>
        <p:nvSpPr>
          <p:cNvPr id="3" name="number 1"/>
          <p:cNvSpPr/>
          <p:nvPr/>
        </p:nvSpPr>
        <p:spPr>
          <a:xfrm>
            <a:off x="54864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6002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Situation: what the unit does</a:t>
            </a:r>
            <a:endParaRPr lang="en-US" sz="2400" dirty="0"/>
          </a:p>
        </p:txBody>
      </p:sp>
      <p:sp>
        <p:nvSpPr>
          <p:cNvPr id="6" name="number 2"/>
          <p:cNvSpPr/>
          <p:nvPr/>
        </p:nvSpPr>
        <p:spPr>
          <a:xfrm>
            <a:off x="548640" y="26243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243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624328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Observation: what the data showed, with a number</a:t>
            </a:r>
            <a:endParaRPr lang="en-US" sz="2400" dirty="0"/>
          </a:p>
        </p:txBody>
      </p:sp>
      <p:sp>
        <p:nvSpPr>
          <p:cNvPr id="9" name="number 3"/>
          <p:cNvSpPr/>
          <p:nvPr/>
        </p:nvSpPr>
        <p:spPr>
          <a:xfrm>
            <a:off x="548640" y="364845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64845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648456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Implication: why it matters</a:t>
            </a:r>
            <a:endParaRPr lang="en-US" sz="2400" dirty="0"/>
          </a:p>
        </p:txBody>
      </p:sp>
      <p:sp>
        <p:nvSpPr>
          <p:cNvPr id="12" name="number 4"/>
          <p:cNvSpPr/>
          <p:nvPr/>
        </p:nvSpPr>
        <p:spPr>
          <a:xfrm>
            <a:off x="548640" y="4672584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67258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672584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Recommendation: what to do next (always LAST)</a:t>
            </a:r>
            <a:endParaRPr lang="en-US" sz="2400" dirty="0"/>
          </a:p>
        </p:txBody>
      </p:sp>
      <p:sp>
        <p:nvSpPr>
          <p:cNvPr id="15" name="icon circle"/>
          <p:cNvSpPr/>
          <p:nvPr/>
        </p:nvSpPr>
        <p:spPr>
          <a:xfrm>
            <a:off x="9418320" y="2011680"/>
            <a:ext cx="2103120" cy="2103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6" name="icon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4" y="2432304"/>
            <a:ext cx="1261872" cy="12618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turn: 60 minutes</a:t>
            </a:r>
            <a:endParaRPr lang="en-US" sz="3200" dirty="0"/>
          </a:p>
        </p:txBody>
      </p:sp>
      <p:sp>
        <p:nvSpPr>
          <p:cNvPr id="3" name="number 1"/>
          <p:cNvSpPr/>
          <p:nvPr/>
        </p:nvSpPr>
        <p:spPr>
          <a:xfrm>
            <a:off x="54864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6002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Open W1D2-exercise in Colab, then Save a copy in Drive</a:t>
            </a:r>
            <a:endParaRPr lang="en-US" sz="2400" dirty="0"/>
          </a:p>
        </p:txBody>
      </p:sp>
      <p:sp>
        <p:nvSpPr>
          <p:cNvPr id="6" name="number 2"/>
          <p:cNvSpPr/>
          <p:nvPr/>
        </p:nvSpPr>
        <p:spPr>
          <a:xfrm>
            <a:off x="548640" y="26243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243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624328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Run STEP 0, then top to bottom</a:t>
            </a:r>
            <a:endParaRPr lang="en-US" sz="2400" dirty="0"/>
          </a:p>
        </p:txBody>
      </p:sp>
      <p:sp>
        <p:nvSpPr>
          <p:cNvPr id="9" name="number 3"/>
          <p:cNvSpPr/>
          <p:nvPr/>
        </p:nvSpPr>
        <p:spPr>
          <a:xfrm>
            <a:off x="548640" y="364845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64845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648456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Part A: catch the average in its lie</a:t>
            </a:r>
            <a:endParaRPr lang="en-US" sz="2400" dirty="0"/>
          </a:p>
        </p:txBody>
      </p:sp>
      <p:sp>
        <p:nvSpPr>
          <p:cNvPr id="12" name="number 4"/>
          <p:cNvSpPr/>
          <p:nvPr/>
        </p:nvSpPr>
        <p:spPr>
          <a:xfrm>
            <a:off x="548640" y="4672584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67258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672584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Part B: six zones, one honest picture</a:t>
            </a:r>
            <a:endParaRPr lang="en-US" sz="2400" dirty="0"/>
          </a:p>
        </p:txBody>
      </p:sp>
      <p:sp>
        <p:nvSpPr>
          <p:cNvPr id="15" name="icon circle"/>
          <p:cNvSpPr/>
          <p:nvPr/>
        </p:nvSpPr>
        <p:spPr>
          <a:xfrm>
            <a:off x="9418320" y="2011680"/>
            <a:ext cx="2103120" cy="2103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6" name="icon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4" y="2432304"/>
            <a:ext cx="1261872" cy="12618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now know</a:t>
            </a:r>
            <a:endParaRPr lang="en-US" sz="3400" dirty="0"/>
          </a:p>
        </p:txBody>
      </p:sp>
      <p:sp>
        <p:nvSpPr>
          <p:cNvPr id="3" name="recap 1"/>
          <p:cNvSpPr/>
          <p:nvPr/>
        </p:nvSpPr>
        <p:spPr>
          <a:xfrm>
            <a:off x="548640" y="160020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4" name="recap icon 1" descr="reca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83080"/>
            <a:ext cx="594360" cy="594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60020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Breach questions → plot the minimum, not the average</a:t>
            </a:r>
            <a:endParaRPr lang="en-US" sz="2200" dirty="0"/>
          </a:p>
        </p:txBody>
      </p:sp>
      <p:sp>
        <p:nvSpPr>
          <p:cNvPr id="6" name="recap 2"/>
          <p:cNvSpPr/>
          <p:nvPr/>
        </p:nvSpPr>
        <p:spPr>
          <a:xfrm>
            <a:off x="548640" y="278892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7" name="recap icon 2" descr="reca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278892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Many groups → small multiples on one axis; change → index to week 1</a:t>
            </a:r>
            <a:endParaRPr lang="en-US" sz="2200" dirty="0"/>
          </a:p>
        </p:txBody>
      </p:sp>
      <p:sp>
        <p:nvSpPr>
          <p:cNvPr id="9" name="recap 3"/>
          <p:cNvSpPr/>
          <p:nvPr/>
        </p:nvSpPr>
        <p:spPr>
          <a:xfrm>
            <a:off x="548640" y="397764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10" name="recap icon 3" descr="reca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60520"/>
            <a:ext cx="594360" cy="5943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97764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Title states the finding; 4 sentences end with the recommendation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83D"/>
                </a:solidFill>
              </a:rPr>
              <a:t>Next: Calm Down the Noise (rolling windows)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IGCOMSAT Time-Series">
  <a:themeElements>
    <a:clrScheme name="NIGCOMSAT Time-Series">
      <a:dk1>
        <a:srgbClr val="0B1622"/>
      </a:dk1>
      <a:lt1>
        <a:srgbClr val="FFFFFF"/>
      </a:lt1>
      <a:dk2>
        <a:srgbClr val="12233A"/>
      </a:dk2>
      <a:lt2>
        <a:srgbClr val="EEF3F8"/>
      </a:lt2>
      <a:accent1>
        <a:srgbClr val="0A5DB4"/>
      </a:accent1>
      <a:accent2>
        <a:srgbClr val="008C7E"/>
      </a:accent2>
      <a:accent3>
        <a:srgbClr val="C77700"/>
      </a:accent3>
      <a:accent4>
        <a:srgbClr val="1E9E5A"/>
      </a:accent4>
      <a:accent5>
        <a:srgbClr val="E5484D"/>
      </a:accent5>
      <a:accent6>
        <a:srgbClr val="5B6B7D"/>
      </a:accent6>
      <a:hlink>
        <a:srgbClr val="0A5DB4"/>
      </a:hlink>
      <a:folHlink>
        <a:srgbClr val="008C7E"/>
      </a:folHlink>
    </a:clrScheme>
    <a:fontScheme name="NIGCOMSAT Time-Seri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Publica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W1D2 · Charts That Don't Lie</dc:title>
  <dc:subject>PptxGenJS Presentation</dc:subject>
  <dc:creator>Publica Academy</dc:creator>
  <cp:lastModifiedBy>Publica Academy</cp:lastModifiedBy>
  <cp:revision>1</cp:revision>
  <dcterms:created xsi:type="dcterms:W3CDTF">2026-10-29T16:24:42Z</dcterms:created>
  <dcterms:modified xsi:type="dcterms:W3CDTF">2026-10-29T16:24:42Z</dcterms:modified>
</cp:coreProperties>
</file>