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Jan 23</c:v>
                  </c:pt>
                  <c:pt idx="1">
                    <c:v/>
                  </c:pt>
                  <c:pt idx="2">
                    <c:v/>
                  </c:pt>
                  <c:pt idx="3">
                    <c:v>Apr 23</c:v>
                  </c:pt>
                  <c:pt idx="4">
                    <c:v/>
                  </c:pt>
                  <c:pt idx="5">
                    <c:v/>
                  </c:pt>
                  <c:pt idx="6">
                    <c:v>Jul 23</c:v>
                  </c:pt>
                  <c:pt idx="7">
                    <c:v/>
                  </c:pt>
                  <c:pt idx="8">
                    <c:v/>
                  </c:pt>
                  <c:pt idx="9">
                    <c:v>Oct 23</c:v>
                  </c:pt>
                  <c:pt idx="10">
                    <c:v/>
                  </c:pt>
                  <c:pt idx="11">
                    <c:v/>
                  </c:pt>
                  <c:pt idx="12">
                    <c:v>Jan 24</c:v>
                  </c:pt>
                  <c:pt idx="13">
                    <c:v/>
                  </c:pt>
                  <c:pt idx="14">
                    <c:v/>
                  </c:pt>
                  <c:pt idx="15">
                    <c:v>Apr 24</c:v>
                  </c:pt>
                  <c:pt idx="16">
                    <c:v/>
                  </c:pt>
                  <c:pt idx="17">
                    <c:v/>
                  </c:pt>
                  <c:pt idx="18">
                    <c:v>Jul 24</c:v>
                  </c:pt>
                  <c:pt idx="19">
                    <c:v/>
                  </c:pt>
                  <c:pt idx="20">
                    <c:v/>
                  </c:pt>
                  <c:pt idx="21">
                    <c:v>Oct 24</c:v>
                  </c:pt>
                  <c:pt idx="22">
                    <c:v/>
                  </c:pt>
                  <c:pt idx="23">
                    <c:v/>
                  </c:pt>
                  <c:pt idx="24">
                    <c:v>Jan 25</c:v>
                  </c:pt>
                  <c:pt idx="25">
                    <c:v/>
                  </c:pt>
                  <c:pt idx="26">
                    <c:v/>
                  </c:pt>
                  <c:pt idx="27">
                    <c:v>Apr 25</c:v>
                  </c:pt>
                  <c:pt idx="28">
                    <c:v/>
                  </c:pt>
                  <c:pt idx="29">
                    <c:v/>
                  </c:pt>
                  <c:pt idx="30">
                    <c:v>Jul 25</c:v>
                  </c:pt>
                  <c:pt idx="31">
                    <c:v/>
                  </c:pt>
                  <c:pt idx="32">
                    <c:v/>
                  </c:pt>
                  <c:pt idx="33">
                    <c:v>Oct 25</c:v>
                  </c:pt>
                  <c:pt idx="34">
                    <c:v/>
                  </c:pt>
                  <c:pt idx="35">
                    <c:v/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99.57</c:v>
                </c:pt>
                <c:pt idx="1">
                  <c:v>99.59</c:v>
                </c:pt>
                <c:pt idx="2">
                  <c:v>99.69</c:v>
                </c:pt>
                <c:pt idx="3">
                  <c:v>99.81</c:v>
                </c:pt>
                <c:pt idx="4">
                  <c:v>99.8</c:v>
                </c:pt>
                <c:pt idx="5">
                  <c:v>99.16</c:v>
                </c:pt>
                <c:pt idx="6">
                  <c:v>98.49</c:v>
                </c:pt>
                <c:pt idx="7">
                  <c:v>98.18</c:v>
                </c:pt>
                <c:pt idx="8">
                  <c:v>98.31</c:v>
                </c:pt>
                <c:pt idx="9">
                  <c:v>99.13</c:v>
                </c:pt>
                <c:pt idx="10">
                  <c:v>99.58</c:v>
                </c:pt>
                <c:pt idx="11">
                  <c:v>99.54</c:v>
                </c:pt>
                <c:pt idx="12">
                  <c:v>99.63</c:v>
                </c:pt>
                <c:pt idx="13">
                  <c:v>99.46</c:v>
                </c:pt>
                <c:pt idx="14">
                  <c:v>99.51</c:v>
                </c:pt>
                <c:pt idx="15">
                  <c:v>99.47</c:v>
                </c:pt>
                <c:pt idx="16">
                  <c:v>99.51</c:v>
                </c:pt>
                <c:pt idx="17">
                  <c:v>99.03</c:v>
                </c:pt>
                <c:pt idx="18">
                  <c:v>98.41</c:v>
                </c:pt>
                <c:pt idx="19">
                  <c:v>98.16</c:v>
                </c:pt>
                <c:pt idx="20">
                  <c:v>98.52</c:v>
                </c:pt>
                <c:pt idx="21">
                  <c:v>99.2</c:v>
                </c:pt>
                <c:pt idx="22">
                  <c:v>99.96</c:v>
                </c:pt>
                <c:pt idx="23">
                  <c:v>99.98</c:v>
                </c:pt>
                <c:pt idx="24">
                  <c:v>99.95</c:v>
                </c:pt>
                <c:pt idx="25">
                  <c:v>100.05</c:v>
                </c:pt>
                <c:pt idx="26">
                  <c:v>99.9</c:v>
                </c:pt>
                <c:pt idx="27">
                  <c:v>99.98</c:v>
                </c:pt>
                <c:pt idx="28">
                  <c:v>99.83</c:v>
                </c:pt>
                <c:pt idx="29">
                  <c:v>99.14</c:v>
                </c:pt>
                <c:pt idx="30">
                  <c:v>98.48</c:v>
                </c:pt>
                <c:pt idx="31">
                  <c:v>98.15</c:v>
                </c:pt>
                <c:pt idx="32">
                  <c:v>98.45</c:v>
                </c:pt>
                <c:pt idx="33">
                  <c:v>99.16</c:v>
                </c:pt>
                <c:pt idx="34">
                  <c:v>99.8</c:v>
                </c:pt>
                <c:pt idx="35">
                  <c:v>99.82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100.2"/>
          <c:min val="97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E5484D"/>
            </a:solidFill>
            <a:ln w="254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99.57</c:v>
                </c:pt>
                <c:pt idx="1">
                  <c:v>99.83</c:v>
                </c:pt>
                <c:pt idx="2">
                  <c:v>99.13</c:v>
                </c:pt>
                <c:pt idx="3">
                  <c:v>99.8</c:v>
                </c:pt>
                <c:pt idx="4">
                  <c:v>98.41</c:v>
                </c:pt>
                <c:pt idx="5">
                  <c:v>99.14</c:v>
                </c:pt>
                <c:pt idx="6">
                  <c:v>99.58</c:v>
                </c:pt>
                <c:pt idx="7">
                  <c:v>99.95</c:v>
                </c:pt>
                <c:pt idx="8">
                  <c:v>99.63</c:v>
                </c:pt>
                <c:pt idx="9">
                  <c:v>98.16</c:v>
                </c:pt>
                <c:pt idx="10">
                  <c:v>99.96</c:v>
                </c:pt>
                <c:pt idx="11">
                  <c:v>99.51</c:v>
                </c:pt>
                <c:pt idx="12">
                  <c:v>99.81</c:v>
                </c:pt>
                <c:pt idx="13">
                  <c:v>99.8</c:v>
                </c:pt>
                <c:pt idx="14">
                  <c:v>99.16</c:v>
                </c:pt>
                <c:pt idx="15">
                  <c:v>99.98</c:v>
                </c:pt>
                <c:pt idx="16">
                  <c:v>99.46</c:v>
                </c:pt>
                <c:pt idx="17">
                  <c:v>99.03</c:v>
                </c:pt>
                <c:pt idx="18">
                  <c:v>99.9</c:v>
                </c:pt>
                <c:pt idx="19">
                  <c:v>98.45</c:v>
                </c:pt>
                <c:pt idx="20">
                  <c:v>98.48</c:v>
                </c:pt>
                <c:pt idx="21">
                  <c:v>98.31</c:v>
                </c:pt>
                <c:pt idx="22">
                  <c:v>98.18</c:v>
                </c:pt>
                <c:pt idx="23">
                  <c:v>99.59</c:v>
                </c:pt>
                <c:pt idx="24">
                  <c:v>99.47</c:v>
                </c:pt>
                <c:pt idx="25">
                  <c:v>98.49</c:v>
                </c:pt>
                <c:pt idx="26">
                  <c:v>99.51</c:v>
                </c:pt>
                <c:pt idx="27">
                  <c:v>99.98</c:v>
                </c:pt>
                <c:pt idx="28">
                  <c:v>98.52</c:v>
                </c:pt>
                <c:pt idx="29">
                  <c:v>100.05</c:v>
                </c:pt>
                <c:pt idx="30">
                  <c:v>99.16</c:v>
                </c:pt>
                <c:pt idx="31">
                  <c:v>99.82</c:v>
                </c:pt>
                <c:pt idx="32">
                  <c:v>99.69</c:v>
                </c:pt>
                <c:pt idx="33">
                  <c:v>98.15</c:v>
                </c:pt>
                <c:pt idx="34">
                  <c:v>99.2</c:v>
                </c:pt>
                <c:pt idx="35">
                  <c:v>99.54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100.2"/>
          <c:min val="97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Jan 23</c:v>
                  </c:pt>
                  <c:pt idx="1">
                    <c:v/>
                  </c:pt>
                  <c:pt idx="2">
                    <c:v/>
                  </c:pt>
                  <c:pt idx="3">
                    <c:v>Apr 23</c:v>
                  </c:pt>
                  <c:pt idx="4">
                    <c:v/>
                  </c:pt>
                  <c:pt idx="5">
                    <c:v/>
                  </c:pt>
                  <c:pt idx="6">
                    <c:v>Jul 23</c:v>
                  </c:pt>
                  <c:pt idx="7">
                    <c:v/>
                  </c:pt>
                  <c:pt idx="8">
                    <c:v/>
                  </c:pt>
                  <c:pt idx="9">
                    <c:v>Oct 23</c:v>
                  </c:pt>
                  <c:pt idx="10">
                    <c:v/>
                  </c:pt>
                  <c:pt idx="11">
                    <c:v/>
                  </c:pt>
                  <c:pt idx="12">
                    <c:v>Jan 24</c:v>
                  </c:pt>
                  <c:pt idx="13">
                    <c:v/>
                  </c:pt>
                  <c:pt idx="14">
                    <c:v/>
                  </c:pt>
                  <c:pt idx="15">
                    <c:v>Apr 24</c:v>
                  </c:pt>
                  <c:pt idx="16">
                    <c:v/>
                  </c:pt>
                  <c:pt idx="17">
                    <c:v/>
                  </c:pt>
                  <c:pt idx="18">
                    <c:v>Jul 24</c:v>
                  </c:pt>
                  <c:pt idx="19">
                    <c:v/>
                  </c:pt>
                  <c:pt idx="20">
                    <c:v/>
                  </c:pt>
                  <c:pt idx="21">
                    <c:v>Oct 24</c:v>
                  </c:pt>
                  <c:pt idx="22">
                    <c:v/>
                  </c:pt>
                  <c:pt idx="23">
                    <c:v/>
                  </c:pt>
                  <c:pt idx="24">
                    <c:v>Jan 25</c:v>
                  </c:pt>
                  <c:pt idx="25">
                    <c:v/>
                  </c:pt>
                  <c:pt idx="26">
                    <c:v/>
                  </c:pt>
                  <c:pt idx="27">
                    <c:v>Apr 25</c:v>
                  </c:pt>
                  <c:pt idx="28">
                    <c:v/>
                  </c:pt>
                  <c:pt idx="29">
                    <c:v/>
                  </c:pt>
                  <c:pt idx="30">
                    <c:v>Jul 25</c:v>
                  </c:pt>
                  <c:pt idx="31">
                    <c:v/>
                  </c:pt>
                  <c:pt idx="32">
                    <c:v/>
                  </c:pt>
                  <c:pt idx="33">
                    <c:v>Oct 25</c:v>
                  </c:pt>
                  <c:pt idx="34">
                    <c:v/>
                  </c:pt>
                  <c:pt idx="35">
                    <c:v/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99.57</c:v>
                </c:pt>
                <c:pt idx="1">
                  <c:v>99.59</c:v>
                </c:pt>
                <c:pt idx="2">
                  <c:v>99.69</c:v>
                </c:pt>
                <c:pt idx="3">
                  <c:v>99.81</c:v>
                </c:pt>
                <c:pt idx="4">
                  <c:v>99.8</c:v>
                </c:pt>
                <c:pt idx="5">
                  <c:v>99.16</c:v>
                </c:pt>
                <c:pt idx="6">
                  <c:v>98.49</c:v>
                </c:pt>
                <c:pt idx="7">
                  <c:v>98.18</c:v>
                </c:pt>
                <c:pt idx="8">
                  <c:v>98.31</c:v>
                </c:pt>
                <c:pt idx="9">
                  <c:v>99.13</c:v>
                </c:pt>
                <c:pt idx="10">
                  <c:v>99.58</c:v>
                </c:pt>
                <c:pt idx="11">
                  <c:v>99.54</c:v>
                </c:pt>
                <c:pt idx="12">
                  <c:v>99.63</c:v>
                </c:pt>
                <c:pt idx="13">
                  <c:v>99.46</c:v>
                </c:pt>
                <c:pt idx="14">
                  <c:v>99.51</c:v>
                </c:pt>
                <c:pt idx="15">
                  <c:v>99.47</c:v>
                </c:pt>
                <c:pt idx="16">
                  <c:v>99.51</c:v>
                </c:pt>
                <c:pt idx="17">
                  <c:v>99.03</c:v>
                </c:pt>
                <c:pt idx="18">
                  <c:v>98.41</c:v>
                </c:pt>
                <c:pt idx="19">
                  <c:v>98.16</c:v>
                </c:pt>
                <c:pt idx="20">
                  <c:v>98.52</c:v>
                </c:pt>
                <c:pt idx="21">
                  <c:v>99.2</c:v>
                </c:pt>
                <c:pt idx="22">
                  <c:v>99.96</c:v>
                </c:pt>
                <c:pt idx="23">
                  <c:v>99.98</c:v>
                </c:pt>
                <c:pt idx="24">
                  <c:v>99.95</c:v>
                </c:pt>
                <c:pt idx="25">
                  <c:v>100.05</c:v>
                </c:pt>
                <c:pt idx="26">
                  <c:v>99.9</c:v>
                </c:pt>
                <c:pt idx="27">
                  <c:v>99.98</c:v>
                </c:pt>
                <c:pt idx="28">
                  <c:v>99.83</c:v>
                </c:pt>
                <c:pt idx="29">
                  <c:v>99.14</c:v>
                </c:pt>
                <c:pt idx="30">
                  <c:v>98.48</c:v>
                </c:pt>
                <c:pt idx="31">
                  <c:v>98.15</c:v>
                </c:pt>
                <c:pt idx="32">
                  <c:v>98.45</c:v>
                </c:pt>
                <c:pt idx="33">
                  <c:v>99.16</c:v>
                </c:pt>
                <c:pt idx="34">
                  <c:v>99.8</c:v>
                </c:pt>
                <c:pt idx="35">
                  <c:v>99.82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100.2"/>
          <c:min val="97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By the end of today everyone has opened Colab, loaded data and drawn a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hands-on block is the main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many hours of light they had yesterday. A time + a value in order = a time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opens Chrome and signs in to Google.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to install.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everyone do Rule 1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unsure, describe the shape of the data instead of pasting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numbers, no story. That is the definition of a time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Timestamp, value, cadence.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data is synthetic but built to behave like this satellite.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dips. Same reason DStv freezes in heavy 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profiling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 to one time zone before joining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Seasonality has a fixed calendar; a cycle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Tease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Publica Academy · Time-Series Programme · W1D1</a:t>
            </a:r>
            <a:endParaRPr lang="en-US" sz="1100" dirty="0"/>
          </a:p>
        </p:txBody>
      </p:sp>
      <p:pic>
        <p:nvPicPr>
          <p:cNvPr id="5" name="Image 1" descr="/Users/jason/Desktop/nigcomsat-ai-developer/Jasons-Restructure/assets/brand/nigcomsa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415" y="6236208"/>
            <a:ext cx="54864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6E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SECTION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rgbClr val="C9D6E5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RECAP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</a:rPr>
              <a:t>Publica Academy · Time-Series Programme · W1D1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3D"/>
                </a:solidFill>
              </a:rPr>
              <a:t>WEEK 1 · DAY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Bootcamp + Your First Time Series</a:t>
            </a:r>
            <a:endParaRPr lang="en-US" sz="4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5"/>
                </a:solidFill>
              </a:rPr>
              <a:t>Open Google Colab, load satellite-style data, draw your first time-series chart</a:t>
            </a:r>
            <a:endParaRPr lang="en-US" sz="2000" dirty="0"/>
          </a:p>
        </p:txBody>
      </p:sp>
      <p:sp>
        <p:nvSpPr>
          <p:cNvPr id="5" name="NIGCOMSAT logo card"/>
          <p:cNvSpPr/>
          <p:nvPr/>
        </p:nvSpPr>
        <p:spPr>
          <a:xfrm>
            <a:off x="731520" y="5074920"/>
            <a:ext cx="1600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Image 0" descr="NIGCOMSA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6360"/>
            <a:ext cx="1143000" cy="960120"/>
          </a:xfrm>
          <a:prstGeom prst="rect">
            <a:avLst/>
          </a:prstGeom>
        </p:spPr>
      </p:pic>
      <p:sp>
        <p:nvSpPr>
          <p:cNvPr id="7" name="Publica logo card"/>
          <p:cNvSpPr/>
          <p:nvPr/>
        </p:nvSpPr>
        <p:spPr>
          <a:xfrm>
            <a:off x="2514600" y="5074920"/>
            <a:ext cx="2743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Image 1" descr="Publica Academ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5257800"/>
            <a:ext cx="978408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794760" y="5212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800" dirty="0"/>
          </a:p>
        </p:txBody>
      </p:sp>
      <p:sp>
        <p:nvSpPr>
          <p:cNvPr id="10" name="earth"/>
          <p:cNvSpPr/>
          <p:nvPr/>
        </p:nvSpPr>
        <p:spPr>
          <a:xfrm>
            <a:off x="8503920" y="1280160"/>
            <a:ext cx="3291840" cy="3291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orbit"/>
          <p:cNvSpPr/>
          <p:nvPr/>
        </p:nvSpPr>
        <p:spPr>
          <a:xfrm>
            <a:off x="7726680" y="502920"/>
            <a:ext cx="4846320" cy="4846320"/>
          </a:xfrm>
          <a:prstGeom prst="ellipse">
            <a:avLst/>
          </a:prstGeom>
          <a:ln w="15875">
            <a:solidFill>
              <a:srgbClr val="3B8BE0"/>
            </a:solidFill>
            <a:prstDash val="dash"/>
          </a:ln>
        </p:spPr>
      </p:sp>
      <p:pic>
        <p:nvPicPr>
          <p:cNvPr id="12" name="satellite" descr="satell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mission: three moves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step icon 1 circle"/>
          <p:cNvSpPr/>
          <p:nvPr/>
        </p:nvSpPr>
        <p:spPr>
          <a:xfrm>
            <a:off x="1681429" y="205740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step icon 1" descr="ste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2597" y="2258568"/>
            <a:ext cx="603504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Colab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Python in your browser</a:t>
            </a:r>
            <a:endParaRPr lang="en-US" sz="1600" dirty="0"/>
          </a:p>
        </p:txBody>
      </p:sp>
      <p:sp>
        <p:nvSpPr>
          <p:cNvPr id="8" name="arrow 1"/>
          <p:cNvSpPr/>
          <p:nvPr/>
        </p:nvSpPr>
        <p:spPr>
          <a:xfrm>
            <a:off x="3929786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4460138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step icon 2 circle"/>
          <p:cNvSpPr/>
          <p:nvPr/>
        </p:nvSpPr>
        <p:spPr>
          <a:xfrm>
            <a:off x="5592928" y="2057400"/>
            <a:ext cx="1005840" cy="100584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1" name="step icon 2" descr="ste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096" y="225856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the data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3 years of Ka-band availability</a:t>
            </a:r>
            <a:endParaRPr lang="en-US" sz="1600" dirty="0"/>
          </a:p>
        </p:txBody>
      </p:sp>
      <p:sp>
        <p:nvSpPr>
          <p:cNvPr id="14" name="arrow 2"/>
          <p:cNvSpPr/>
          <p:nvPr/>
        </p:nvSpPr>
        <p:spPr>
          <a:xfrm>
            <a:off x="7841285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8371637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step icon 3 circle"/>
          <p:cNvSpPr/>
          <p:nvPr/>
        </p:nvSpPr>
        <p:spPr>
          <a:xfrm>
            <a:off x="9504426" y="2057400"/>
            <a:ext cx="1005840" cy="100584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7" name="step icon 3" descr="ste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5594" y="2258568"/>
            <a:ext cx="603504" cy="60350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45957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story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645957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find the rainy-season dip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10 min hook · 30 min slides · 60 min hands-on · 20 min wrap-up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“Up NEPA!” is a data point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every hour, 00 to 23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value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light on (1) or off (0)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a time series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values recorded in time order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Bootcamp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Your free Python computer inside Chrome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laptop shows the screen. Google's computer does the work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step icon 1 circle"/>
          <p:cNvSpPr/>
          <p:nvPr/>
        </p:nvSpPr>
        <p:spPr>
          <a:xfrm>
            <a:off x="1681429" y="205740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step icon 1" descr="ste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2597" y="2258568"/>
            <a:ext cx="603504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laptop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only needs Chrome</a:t>
            </a:r>
            <a:endParaRPr lang="en-US" sz="1600" dirty="0"/>
          </a:p>
        </p:txBody>
      </p:sp>
      <p:sp>
        <p:nvSpPr>
          <p:cNvPr id="8" name="arrow 1"/>
          <p:cNvSpPr/>
          <p:nvPr/>
        </p:nvSpPr>
        <p:spPr>
          <a:xfrm>
            <a:off x="3929786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4460138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step icon 2 circle"/>
          <p:cNvSpPr/>
          <p:nvPr/>
        </p:nvSpPr>
        <p:spPr>
          <a:xfrm>
            <a:off x="5592928" y="2057400"/>
            <a:ext cx="1005840" cy="100584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1" name="step icon 2" descr="ste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096" y="225856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Google's computer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Python + pandas ready</a:t>
            </a:r>
            <a:endParaRPr lang="en-US" sz="1600" dirty="0"/>
          </a:p>
        </p:txBody>
      </p:sp>
      <p:sp>
        <p:nvSpPr>
          <p:cNvPr id="14" name="arrow 2"/>
          <p:cNvSpPr/>
          <p:nvPr/>
        </p:nvSpPr>
        <p:spPr>
          <a:xfrm>
            <a:off x="7841285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8371637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step icon 3 circle"/>
          <p:cNvSpPr/>
          <p:nvPr/>
        </p:nvSpPr>
        <p:spPr>
          <a:xfrm>
            <a:off x="9504426" y="2057400"/>
            <a:ext cx="1005840" cy="100584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7" name="step icon 3" descr="ste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5594" y="2258568"/>
            <a:ext cx="603504" cy="60350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45957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answers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645957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tables and charts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Like a cyber café computer, but free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Colab's 3 golden rules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Save a copy first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File → Save a copy in Drive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Top to bottom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Run cells in order: Shift + Enter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Confused? Restart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Runtime → Restart session and run all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NameError = “I don't remember”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remembers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Every variable you created, until a restart or a long idle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 restart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Memory is wiped. Run STEP 0 and the cells above again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button: help yes, restricted data never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 to paste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Course training data (synthetic), your code, error messages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paste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Real NIGCOMSAT telemetry, RF records, network logs, customer data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time series?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One idea that unlocks the whole course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carries the information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417320"/>
            <a:ext cx="5318608" cy="4526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In time order: the rainy-season dip is visible</a:t>
            </a:r>
            <a:endParaRPr lang="en-US" sz="1800" dirty="0"/>
          </a:p>
        </p:txBody>
      </p:sp>
      <p:graphicFrame>
        <p:nvGraphicFramePr>
          <p:cNvPr id="5" name="left chart" descr=""/>
          <p:cNvGraphicFramePr/>
          <p:nvPr/>
        </p:nvGraphicFramePr>
        <p:xfrm>
          <a:off x="731520" y="2148840"/>
          <a:ext cx="4952848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ight card"/>
          <p:cNvSpPr/>
          <p:nvPr/>
        </p:nvSpPr>
        <p:spPr>
          <a:xfrm>
            <a:off x="6324448" y="1417320"/>
            <a:ext cx="5318608" cy="4526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98768" y="155448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Same 36 numbers, shuffled: no story</a:t>
            </a:r>
            <a:endParaRPr lang="en-US" sz="1800" dirty="0"/>
          </a:p>
        </p:txBody>
      </p:sp>
      <p:graphicFrame>
        <p:nvGraphicFramePr>
          <p:cNvPr id="8" name="right chart" descr=""/>
          <p:cNvGraphicFramePr/>
          <p:nvPr/>
        </p:nvGraphicFramePr>
        <p:xfrm>
          <a:off x="6507328" y="2148840"/>
          <a:ext cx="4952848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time series has 3 things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timestamp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when it happened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value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what was measured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cadence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hourly · daily · weekly · monthly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NigComSat-1R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Nigeria's communications satellite at 42.5° East</a:t>
            </a:r>
            <a:endParaRPr lang="en-US" sz="1800" dirty="0"/>
          </a:p>
        </p:txBody>
      </p:sp>
      <p:sp>
        <p:nvSpPr>
          <p:cNvPr id="4" name="stat 1"/>
          <p:cNvSpPr/>
          <p:nvPr/>
        </p:nvSpPr>
        <p:spPr>
          <a:xfrm>
            <a:off x="548640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active transponders</a:t>
            </a:r>
            <a:endParaRPr lang="en-US" sz="1600" dirty="0"/>
          </a:p>
        </p:txBody>
      </p:sp>
      <p:sp>
        <p:nvSpPr>
          <p:cNvPr id="7" name="stat 2"/>
          <p:cNvSpPr/>
          <p:nvPr/>
        </p:nvSpPr>
        <p:spPr>
          <a:xfrm>
            <a:off x="3402254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5134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≈36,000 km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30854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above the Earth</a:t>
            </a:r>
            <a:endParaRPr lang="en-US" sz="1600" dirty="0"/>
          </a:p>
        </p:txBody>
      </p:sp>
      <p:sp>
        <p:nvSpPr>
          <p:cNvPr id="10" name="stat 3"/>
          <p:cNvSpPr/>
          <p:nvPr/>
        </p:nvSpPr>
        <p:spPr>
          <a:xfrm>
            <a:off x="6255868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8748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C·Ku·Ka·L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84468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frequency bands</a:t>
            </a:r>
            <a:endParaRPr lang="en-US" sz="1600" dirty="0"/>
          </a:p>
        </p:txBody>
      </p:sp>
      <p:sp>
        <p:nvSpPr>
          <p:cNvPr id="13" name="stat 4"/>
          <p:cNvSpPr/>
          <p:nvPr/>
        </p:nvSpPr>
        <p:spPr>
          <a:xfrm>
            <a:off x="9109481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92361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yrs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338081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design life (launched 2011)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data: Ka-band availability, monthly average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1,096 daily rows · dips every rainy season (Ka-band rain fade)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3-line pandas recipe</a:t>
            </a:r>
            <a:endParaRPr lang="en-US" sz="3200" dirty="0"/>
          </a:p>
        </p:txBody>
      </p:sp>
      <p:sp>
        <p:nvSpPr>
          <p:cNvPr id="3" name="code panel"/>
          <p:cNvSpPr/>
          <p:nvPr/>
        </p:nvSpPr>
        <p:spPr>
          <a:xfrm>
            <a:off x="548640" y="1508760"/>
            <a:ext cx="11094415" cy="32918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960120" y="1691640"/>
            <a:ext cx="102714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 = pd.read_csv(data_path("ka_band_availability_daily"),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parse_dates=["timestamp"],   # text -&gt; dates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index_col="timestamp")       # time = row label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 = ka.asfreq("D")                           # gaps show up as NaN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.asfreq() makes missing days appear instead of silently disappearing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new data like a tokunbo car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749808" y="224028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43230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Rows?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2840675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8" name="icon 2 circle"/>
          <p:cNvSpPr/>
          <p:nvPr/>
        </p:nvSpPr>
        <p:spPr>
          <a:xfrm>
            <a:off x="3041843" y="224028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9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67" y="2432304"/>
            <a:ext cx="576072" cy="5760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041843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Range?</a:t>
            </a:r>
            <a:endParaRPr lang="en-US" sz="1800" dirty="0"/>
          </a:p>
        </p:txBody>
      </p:sp>
      <p:sp>
        <p:nvSpPr>
          <p:cNvPr id="11" name="card 3"/>
          <p:cNvSpPr/>
          <p:nvPr/>
        </p:nvSpPr>
        <p:spPr>
          <a:xfrm>
            <a:off x="513271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2" name="icon 3 circle"/>
          <p:cNvSpPr/>
          <p:nvPr/>
        </p:nvSpPr>
        <p:spPr>
          <a:xfrm>
            <a:off x="5333878" y="224028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3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902" y="2432304"/>
            <a:ext cx="576072" cy="57607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3387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Gaps?</a:t>
            </a:r>
            <a:endParaRPr lang="en-US" sz="1800" dirty="0"/>
          </a:p>
        </p:txBody>
      </p:sp>
      <p:sp>
        <p:nvSpPr>
          <p:cNvPr id="15" name="card 4"/>
          <p:cNvSpPr/>
          <p:nvPr/>
        </p:nvSpPr>
        <p:spPr>
          <a:xfrm>
            <a:off x="7424745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icon 4 circle"/>
          <p:cNvSpPr/>
          <p:nvPr/>
        </p:nvSpPr>
        <p:spPr>
          <a:xfrm>
            <a:off x="7625913" y="2240280"/>
            <a:ext cx="960120" cy="96012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17" name="icon 4" descr="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937" y="2432304"/>
            <a:ext cx="576072" cy="57607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625913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Duplicates?</a:t>
            </a:r>
            <a:endParaRPr lang="en-US" sz="1800" dirty="0"/>
          </a:p>
        </p:txBody>
      </p:sp>
      <p:sp>
        <p:nvSpPr>
          <p:cNvPr id="19" name="card 5"/>
          <p:cNvSpPr/>
          <p:nvPr/>
        </p:nvSpPr>
        <p:spPr>
          <a:xfrm>
            <a:off x="971678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0" name="icon 5 circle"/>
          <p:cNvSpPr/>
          <p:nvPr/>
        </p:nvSpPr>
        <p:spPr>
          <a:xfrm>
            <a:off x="9917948" y="224028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21" name="icon 5" descr="icon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9972" y="2432304"/>
            <a:ext cx="576072" cy="57607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1794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Satellites speak UTC. Lagos speaks WAT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21:00 UTC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telemetry: eclipse time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22:00 WAT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Lagos/Abuja: UTC + 1, no daylight saving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 characters in every series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the long direction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3413684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3779444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468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79444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779444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fixed calendar repeat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6278728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6644488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6512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44488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644488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ups and downs, no fixed length</a:t>
            </a:r>
            <a:endParaRPr lang="en-US" sz="1600" dirty="0"/>
          </a:p>
        </p:txBody>
      </p:sp>
      <p:sp>
        <p:nvSpPr>
          <p:cNvPr id="18" name="card 4"/>
          <p:cNvSpPr/>
          <p:nvPr/>
        </p:nvSpPr>
        <p:spPr>
          <a:xfrm>
            <a:off x="9143771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icon 4 circle"/>
          <p:cNvSpPr/>
          <p:nvPr/>
        </p:nvSpPr>
        <p:spPr>
          <a:xfrm>
            <a:off x="9509531" y="2103120"/>
            <a:ext cx="960120" cy="96012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20" name="icon 4" descr="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555" y="2295144"/>
            <a:ext cx="576072" cy="57607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509531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9509531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random wobble: don't react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turn: 60 minutes</a:t>
            </a:r>
            <a:endParaRPr lang="en-US" sz="3200" dirty="0"/>
          </a:p>
        </p:txBody>
      </p:sp>
      <p:sp>
        <p:nvSpPr>
          <p:cNvPr id="3" name="number 1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002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Open W1D1-exercise in Colab</a:t>
            </a:r>
            <a:endParaRPr lang="en-US" sz="2400" dirty="0"/>
          </a:p>
        </p:txBody>
      </p:sp>
      <p:sp>
        <p:nvSpPr>
          <p:cNvPr id="6" name="number 2"/>
          <p:cNvSpPr/>
          <p:nvPr/>
        </p:nvSpPr>
        <p:spPr>
          <a:xfrm>
            <a:off x="548640" y="26243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24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24328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File → Save a copy in Drive</a:t>
            </a:r>
            <a:endParaRPr lang="en-US" sz="2400" dirty="0"/>
          </a:p>
        </p:txBody>
      </p:sp>
      <p:sp>
        <p:nvSpPr>
          <p:cNvPr id="9" name="number 3"/>
          <p:cNvSpPr/>
          <p:nvPr/>
        </p:nvSpPr>
        <p:spPr>
          <a:xfrm>
            <a:off x="548640" y="364845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64845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648456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Run STEP 0, then top to bottom</a:t>
            </a:r>
            <a:endParaRPr lang="en-US" sz="2400" dirty="0"/>
          </a:p>
        </p:txBody>
      </p:sp>
      <p:sp>
        <p:nvSpPr>
          <p:cNvPr id="12" name="number 4"/>
          <p:cNvSpPr/>
          <p:nvPr/>
        </p:nvSpPr>
        <p:spPr>
          <a:xfrm>
            <a:off x="548640" y="4672584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725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672584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Replace every ___, run, get the green tick</a:t>
            </a:r>
            <a:endParaRPr lang="en-US" sz="2400" dirty="0"/>
          </a:p>
        </p:txBody>
      </p:sp>
      <p:sp>
        <p:nvSpPr>
          <p:cNvPr id="15" name="icon circle"/>
          <p:cNvSpPr/>
          <p:nvPr/>
        </p:nvSpPr>
        <p:spPr>
          <a:xfrm>
            <a:off x="9418320" y="2011680"/>
            <a:ext cx="2103120" cy="2103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6" name="icon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4" y="2432304"/>
            <a:ext cx="1261872" cy="12618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now know</a:t>
            </a:r>
            <a:endParaRPr lang="en-US" sz="3400" dirty="0"/>
          </a:p>
        </p:txBody>
      </p:sp>
      <p:sp>
        <p:nvSpPr>
          <p:cNvPr id="3" name="recap 1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4" name="recap icon 1" descr="reca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60020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Colab: save a copy, run top to bottom, restart when confused</a:t>
            </a:r>
            <a:endParaRPr lang="en-US" sz="2200" dirty="0"/>
          </a:p>
        </p:txBody>
      </p:sp>
      <p:sp>
        <p:nvSpPr>
          <p:cNvPr id="6" name="recap 2"/>
          <p:cNvSpPr/>
          <p:nvPr/>
        </p:nvSpPr>
        <p:spPr>
          <a:xfrm>
            <a:off x="548640" y="278892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7" name="recap icon 2" descr="reca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278892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Time series: order matters (timestamp + value + cadence)</a:t>
            </a:r>
            <a:endParaRPr lang="en-US" sz="2200" dirty="0"/>
          </a:p>
        </p:txBody>
      </p:sp>
      <p:sp>
        <p:nvSpPr>
          <p:cNvPr id="9" name="recap 3"/>
          <p:cNvSpPr/>
          <p:nvPr/>
        </p:nvSpPr>
        <p:spPr>
          <a:xfrm>
            <a:off x="548640" y="397764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10" name="recap icon 3" descr="reca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0520"/>
            <a:ext cx="594360" cy="5943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97764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Recipe: parse_dates → index_col → .asfreq()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83D"/>
                </a:solidFill>
              </a:rPr>
              <a:t>Next: Charts That Don't Lie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GCOMSAT Time-Series">
  <a:themeElements>
    <a:clrScheme name="NIGCOMSAT Time-Series">
      <a:dk1>
        <a:srgbClr val="0B1622"/>
      </a:dk1>
      <a:lt1>
        <a:srgbClr val="FFFFFF"/>
      </a:lt1>
      <a:dk2>
        <a:srgbClr val="12233A"/>
      </a:dk2>
      <a:lt2>
        <a:srgbClr val="EEF3F8"/>
      </a:lt2>
      <a:accent1>
        <a:srgbClr val="0A5DB4"/>
      </a:accent1>
      <a:accent2>
        <a:srgbClr val="008C7E"/>
      </a:accent2>
      <a:accent3>
        <a:srgbClr val="C77700"/>
      </a:accent3>
      <a:accent4>
        <a:srgbClr val="1E9E5A"/>
      </a:accent4>
      <a:accent5>
        <a:srgbClr val="E5484D"/>
      </a:accent5>
      <a:accent6>
        <a:srgbClr val="5B6B7D"/>
      </a:accent6>
      <a:hlink>
        <a:srgbClr val="0A5DB4"/>
      </a:hlink>
      <a:folHlink>
        <a:srgbClr val="008C7E"/>
      </a:folHlink>
    </a:clrScheme>
    <a:fontScheme name="NIGCOMSAT Time-Ser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Publica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W1D1 · Colab Bootcamp + Your First Time Series</dc:title>
  <dc:subject>PptxGenJS Presentation</dc:subject>
  <dc:creator>Publica Academy</dc:creator>
  <cp:lastModifiedBy>Publica Academy</cp:lastModifiedBy>
  <cp:revision>1</cp:revision>
  <dcterms:created xsi:type="dcterms:W3CDTF">2026-10-29T15:52:39Z</dcterms:created>
  <dcterms:modified xsi:type="dcterms:W3CDTF">2026-10-29T15:52:39Z</dcterms:modified>
</cp:coreProperties>
</file>