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 23</c:v>
                  </c:pt>
                  <c:pt idx="1">
                    <c:v/>
                  </c:pt>
                  <c:pt idx="2">
                    <c:v/>
                  </c:pt>
                  <c:pt idx="3">
                    <c:v>Apr 23</c:v>
                  </c:pt>
                  <c:pt idx="4">
                    <c:v/>
                  </c:pt>
                  <c:pt idx="5">
                    <c:v/>
                  </c:pt>
                  <c:pt idx="6">
                    <c:v>Jul 23</c:v>
                  </c:pt>
                  <c:pt idx="7">
                    <c:v/>
                  </c:pt>
                  <c:pt idx="8">
                    <c:v/>
                  </c:pt>
                  <c:pt idx="9">
                    <c:v>Oct 23</c:v>
                  </c:pt>
                  <c:pt idx="10">
                    <c:v/>
                  </c:pt>
                  <c:pt idx="11">
                    <c:v/>
                  </c:pt>
                  <c:pt idx="12">
                    <c:v>Jan 24</c:v>
                  </c:pt>
                  <c:pt idx="13">
                    <c:v/>
                  </c:pt>
                  <c:pt idx="14">
                    <c:v/>
                  </c:pt>
                  <c:pt idx="15">
                    <c:v>Apr 24</c:v>
                  </c:pt>
                  <c:pt idx="16">
                    <c:v/>
                  </c:pt>
                  <c:pt idx="17">
                    <c:v/>
                  </c:pt>
                  <c:pt idx="18">
                    <c:v>Jul 24</c:v>
                  </c:pt>
                  <c:pt idx="19">
                    <c:v/>
                  </c:pt>
                  <c:pt idx="20">
                    <c:v/>
                  </c:pt>
                  <c:pt idx="21">
                    <c:v>Oct 24</c:v>
                  </c:pt>
                  <c:pt idx="22">
                    <c:v/>
                  </c:pt>
                  <c:pt idx="23">
                    <c:v/>
                  </c:pt>
                  <c:pt idx="24">
                    <c:v>Jan 25</c:v>
                  </c:pt>
                  <c:pt idx="25">
                    <c:v/>
                  </c:pt>
                  <c:pt idx="26">
                    <c:v/>
                  </c:pt>
                  <c:pt idx="27">
                    <c:v>Apr 25</c:v>
                  </c:pt>
                  <c:pt idx="28">
                    <c:v/>
                  </c:pt>
                  <c:pt idx="29">
                    <c:v/>
                  </c:pt>
                  <c:pt idx="30">
                    <c:v>Jul 25</c:v>
                  </c:pt>
                  <c:pt idx="31">
                    <c:v/>
                  </c:pt>
                  <c:pt idx="32">
                    <c:v/>
                  </c:pt>
                  <c:pt idx="33">
                    <c:v>Oct 25</c:v>
                  </c:pt>
                  <c:pt idx="34">
                    <c:v/>
                  </c:pt>
                  <c:pt idx="35">
                    <c:v/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99.57</c:v>
                </c:pt>
                <c:pt idx="1">
                  <c:v>99.59</c:v>
                </c:pt>
                <c:pt idx="2">
                  <c:v>99.69</c:v>
                </c:pt>
                <c:pt idx="3">
                  <c:v>99.81</c:v>
                </c:pt>
                <c:pt idx="4">
                  <c:v>99.8</c:v>
                </c:pt>
                <c:pt idx="5">
                  <c:v>99.16</c:v>
                </c:pt>
                <c:pt idx="6">
                  <c:v>98.49</c:v>
                </c:pt>
                <c:pt idx="7">
                  <c:v>98.18</c:v>
                </c:pt>
                <c:pt idx="8">
                  <c:v>98.31</c:v>
                </c:pt>
                <c:pt idx="9">
                  <c:v>99.13</c:v>
                </c:pt>
                <c:pt idx="10">
                  <c:v>99.58</c:v>
                </c:pt>
                <c:pt idx="11">
                  <c:v>99.54</c:v>
                </c:pt>
                <c:pt idx="12">
                  <c:v>99.63</c:v>
                </c:pt>
                <c:pt idx="13">
                  <c:v>99.46</c:v>
                </c:pt>
                <c:pt idx="14">
                  <c:v>99.51</c:v>
                </c:pt>
                <c:pt idx="15">
                  <c:v>99.47</c:v>
                </c:pt>
                <c:pt idx="16">
                  <c:v>99.51</c:v>
                </c:pt>
                <c:pt idx="17">
                  <c:v>99.03</c:v>
                </c:pt>
                <c:pt idx="18">
                  <c:v>98.41</c:v>
                </c:pt>
                <c:pt idx="19">
                  <c:v>98.16</c:v>
                </c:pt>
                <c:pt idx="20">
                  <c:v>98.52</c:v>
                </c:pt>
                <c:pt idx="21">
                  <c:v>99.2</c:v>
                </c:pt>
                <c:pt idx="22">
                  <c:v>99.96</c:v>
                </c:pt>
                <c:pt idx="23">
                  <c:v>99.98</c:v>
                </c:pt>
                <c:pt idx="24">
                  <c:v>99.95</c:v>
                </c:pt>
                <c:pt idx="25">
                  <c:v>100.05</c:v>
                </c:pt>
                <c:pt idx="26">
                  <c:v>99.9</c:v>
                </c:pt>
                <c:pt idx="27">
                  <c:v>99.98</c:v>
                </c:pt>
                <c:pt idx="28">
                  <c:v>99.83</c:v>
                </c:pt>
                <c:pt idx="29">
                  <c:v>99.14</c:v>
                </c:pt>
                <c:pt idx="30">
                  <c:v>98.48</c:v>
                </c:pt>
                <c:pt idx="31">
                  <c:v>98.15</c:v>
                </c:pt>
                <c:pt idx="32">
                  <c:v>98.45</c:v>
                </c:pt>
                <c:pt idx="33">
                  <c:v>99.16</c:v>
                </c:pt>
                <c:pt idx="34">
                  <c:v>99.8</c:v>
                </c:pt>
                <c:pt idx="35">
                  <c:v>99.82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100.2"/>
          <c:min val="97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99.57</c:v>
                </c:pt>
                <c:pt idx="1">
                  <c:v>99.83</c:v>
                </c:pt>
                <c:pt idx="2">
                  <c:v>99.13</c:v>
                </c:pt>
                <c:pt idx="3">
                  <c:v>99.8</c:v>
                </c:pt>
                <c:pt idx="4">
                  <c:v>98.41</c:v>
                </c:pt>
                <c:pt idx="5">
                  <c:v>99.14</c:v>
                </c:pt>
                <c:pt idx="6">
                  <c:v>99.58</c:v>
                </c:pt>
                <c:pt idx="7">
                  <c:v>99.95</c:v>
                </c:pt>
                <c:pt idx="8">
                  <c:v>99.63</c:v>
                </c:pt>
                <c:pt idx="9">
                  <c:v>98.16</c:v>
                </c:pt>
                <c:pt idx="10">
                  <c:v>99.96</c:v>
                </c:pt>
                <c:pt idx="11">
                  <c:v>99.51</c:v>
                </c:pt>
                <c:pt idx="12">
                  <c:v>99.81</c:v>
                </c:pt>
                <c:pt idx="13">
                  <c:v>99.8</c:v>
                </c:pt>
                <c:pt idx="14">
                  <c:v>99.16</c:v>
                </c:pt>
                <c:pt idx="15">
                  <c:v>99.98</c:v>
                </c:pt>
                <c:pt idx="16">
                  <c:v>99.46</c:v>
                </c:pt>
                <c:pt idx="17">
                  <c:v>99.03</c:v>
                </c:pt>
                <c:pt idx="18">
                  <c:v>99.9</c:v>
                </c:pt>
                <c:pt idx="19">
                  <c:v>98.45</c:v>
                </c:pt>
                <c:pt idx="20">
                  <c:v>98.48</c:v>
                </c:pt>
                <c:pt idx="21">
                  <c:v>98.31</c:v>
                </c:pt>
                <c:pt idx="22">
                  <c:v>98.18</c:v>
                </c:pt>
                <c:pt idx="23">
                  <c:v>99.59</c:v>
                </c:pt>
                <c:pt idx="24">
                  <c:v>99.47</c:v>
                </c:pt>
                <c:pt idx="25">
                  <c:v>98.49</c:v>
                </c:pt>
                <c:pt idx="26">
                  <c:v>99.51</c:v>
                </c:pt>
                <c:pt idx="27">
                  <c:v>99.98</c:v>
                </c:pt>
                <c:pt idx="28">
                  <c:v>98.52</c:v>
                </c:pt>
                <c:pt idx="29">
                  <c:v>100.05</c:v>
                </c:pt>
                <c:pt idx="30">
                  <c:v>99.16</c:v>
                </c:pt>
                <c:pt idx="31">
                  <c:v>99.82</c:v>
                </c:pt>
                <c:pt idx="32">
                  <c:v>99.69</c:v>
                </c:pt>
                <c:pt idx="33">
                  <c:v>98.15</c:v>
                </c:pt>
                <c:pt idx="34">
                  <c:v>99.2</c:v>
                </c:pt>
                <c:pt idx="35">
                  <c:v>99.54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100.2"/>
          <c:min val="97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 %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 23</c:v>
                  </c:pt>
                  <c:pt idx="1">
                    <c:v/>
                  </c:pt>
                  <c:pt idx="2">
                    <c:v/>
                  </c:pt>
                  <c:pt idx="3">
                    <c:v>Apr 23</c:v>
                  </c:pt>
                  <c:pt idx="4">
                    <c:v/>
                  </c:pt>
                  <c:pt idx="5">
                    <c:v/>
                  </c:pt>
                  <c:pt idx="6">
                    <c:v>Jul 23</c:v>
                  </c:pt>
                  <c:pt idx="7">
                    <c:v/>
                  </c:pt>
                  <c:pt idx="8">
                    <c:v/>
                  </c:pt>
                  <c:pt idx="9">
                    <c:v>Oct 23</c:v>
                  </c:pt>
                  <c:pt idx="10">
                    <c:v/>
                  </c:pt>
                  <c:pt idx="11">
                    <c:v/>
                  </c:pt>
                  <c:pt idx="12">
                    <c:v>Jan 24</c:v>
                  </c:pt>
                  <c:pt idx="13">
                    <c:v/>
                  </c:pt>
                  <c:pt idx="14">
                    <c:v/>
                  </c:pt>
                  <c:pt idx="15">
                    <c:v>Apr 24</c:v>
                  </c:pt>
                  <c:pt idx="16">
                    <c:v/>
                  </c:pt>
                  <c:pt idx="17">
                    <c:v/>
                  </c:pt>
                  <c:pt idx="18">
                    <c:v>Jul 24</c:v>
                  </c:pt>
                  <c:pt idx="19">
                    <c:v/>
                  </c:pt>
                  <c:pt idx="20">
                    <c:v/>
                  </c:pt>
                  <c:pt idx="21">
                    <c:v>Oct 24</c:v>
                  </c:pt>
                  <c:pt idx="22">
                    <c:v/>
                  </c:pt>
                  <c:pt idx="23">
                    <c:v/>
                  </c:pt>
                  <c:pt idx="24">
                    <c:v>Jan 25</c:v>
                  </c:pt>
                  <c:pt idx="25">
                    <c:v/>
                  </c:pt>
                  <c:pt idx="26">
                    <c:v/>
                  </c:pt>
                  <c:pt idx="27">
                    <c:v>Apr 25</c:v>
                  </c:pt>
                  <c:pt idx="28">
                    <c:v/>
                  </c:pt>
                  <c:pt idx="29">
                    <c:v/>
                  </c:pt>
                  <c:pt idx="30">
                    <c:v>Jul 25</c:v>
                  </c:pt>
                  <c:pt idx="31">
                    <c:v/>
                  </c:pt>
                  <c:pt idx="32">
                    <c:v/>
                  </c:pt>
                  <c:pt idx="33">
                    <c:v>Oct 25</c:v>
                  </c:pt>
                  <c:pt idx="34">
                    <c:v/>
                  </c:pt>
                  <c:pt idx="35">
                    <c:v/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99.57</c:v>
                </c:pt>
                <c:pt idx="1">
                  <c:v>99.59</c:v>
                </c:pt>
                <c:pt idx="2">
                  <c:v>99.69</c:v>
                </c:pt>
                <c:pt idx="3">
                  <c:v>99.81</c:v>
                </c:pt>
                <c:pt idx="4">
                  <c:v>99.8</c:v>
                </c:pt>
                <c:pt idx="5">
                  <c:v>99.16</c:v>
                </c:pt>
                <c:pt idx="6">
                  <c:v>98.49</c:v>
                </c:pt>
                <c:pt idx="7">
                  <c:v>98.18</c:v>
                </c:pt>
                <c:pt idx="8">
                  <c:v>98.31</c:v>
                </c:pt>
                <c:pt idx="9">
                  <c:v>99.13</c:v>
                </c:pt>
                <c:pt idx="10">
                  <c:v>99.58</c:v>
                </c:pt>
                <c:pt idx="11">
                  <c:v>99.54</c:v>
                </c:pt>
                <c:pt idx="12">
                  <c:v>99.63</c:v>
                </c:pt>
                <c:pt idx="13">
                  <c:v>99.46</c:v>
                </c:pt>
                <c:pt idx="14">
                  <c:v>99.51</c:v>
                </c:pt>
                <c:pt idx="15">
                  <c:v>99.47</c:v>
                </c:pt>
                <c:pt idx="16">
                  <c:v>99.51</c:v>
                </c:pt>
                <c:pt idx="17">
                  <c:v>99.03</c:v>
                </c:pt>
                <c:pt idx="18">
                  <c:v>98.41</c:v>
                </c:pt>
                <c:pt idx="19">
                  <c:v>98.16</c:v>
                </c:pt>
                <c:pt idx="20">
                  <c:v>98.52</c:v>
                </c:pt>
                <c:pt idx="21">
                  <c:v>99.2</c:v>
                </c:pt>
                <c:pt idx="22">
                  <c:v>99.96</c:v>
                </c:pt>
                <c:pt idx="23">
                  <c:v>99.98</c:v>
                </c:pt>
                <c:pt idx="24">
                  <c:v>99.95</c:v>
                </c:pt>
                <c:pt idx="25">
                  <c:v>100.05</c:v>
                </c:pt>
                <c:pt idx="26">
                  <c:v>99.9</c:v>
                </c:pt>
                <c:pt idx="27">
                  <c:v>99.98</c:v>
                </c:pt>
                <c:pt idx="28">
                  <c:v>99.83</c:v>
                </c:pt>
                <c:pt idx="29">
                  <c:v>99.14</c:v>
                </c:pt>
                <c:pt idx="30">
                  <c:v>98.48</c:v>
                </c:pt>
                <c:pt idx="31">
                  <c:v>98.15</c:v>
                </c:pt>
                <c:pt idx="32">
                  <c:v>98.45</c:v>
                </c:pt>
                <c:pt idx="33">
                  <c:v>99.16</c:v>
                </c:pt>
                <c:pt idx="34">
                  <c:v>99.8</c:v>
                </c:pt>
                <c:pt idx="35">
                  <c:v>99.82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100.2"/>
          <c:min val="97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By the end of today everyone has opened Colab, loaded data and drawn a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hands-on block is the main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many hours of light they had yesterday. A time + a value in order = a time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opens Chrome and signs in to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to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everyone do Rule 1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unsure, describe the shape of the data instead of pasting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numbers, no story. That is the definition of a time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Timestamp, value, cadence.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data is synthetic but built to behave like this satellite.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dips. Same reason DStv freezes in heavy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profiling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to one time zone before joining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Seasonality has a fixed calendar; a cycle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W1D1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W1D1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1 · DAY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Bootcamp + Your First Time Series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Open Google Colab, load satellite-style data, draw your first time-series chart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three moves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Colab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Python in your browser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data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3 years of Ka-band availability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story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find the rainy-season dip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“Up NEPA!” is a data point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 hour, 00 to 23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light on (1) or off (0)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 time series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values recorded in time order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Bootcamp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Your free Python computer inside Chrome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laptop shows the screen. Google's computer does the work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laptop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only needs Chrome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computer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Python + pandas ready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answers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tables and charts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Like a cyber café computer, but free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Colab's 3 golden rules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Save a copy first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File → Save a copy in Drive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Top to bottom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Run cells in order: Shift + Enter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Confused? Restart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Runtime → Restart session and run all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NameError = “I don't remember”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remembers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Every variable you created, until a restart or a long idle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restart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Memory is wiped. Run STEP 0 and the cells above again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button: help yes, restricted data never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to paste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Course training data (synthetic), your code, error messages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paste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Real NIGCOMSAT telemetry, RF records, network logs, customer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time series?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One idea that unlocks the whole course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carries the information</a:t>
            </a:r>
            <a:endParaRPr lang="en-US" sz="3200" dirty="0"/>
          </a:p>
        </p:txBody>
      </p:sp>
      <p:sp>
        <p:nvSpPr>
          <p:cNvPr id="3" name="ordered card"/>
          <p:cNvSpPr/>
          <p:nvPr/>
        </p:nvSpPr>
        <p:spPr>
          <a:xfrm>
            <a:off x="548640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 time order: the rainy-season dip is visible</a:t>
            </a:r>
            <a:endParaRPr lang="en-US" sz="1800" dirty="0"/>
          </a:p>
        </p:txBody>
      </p:sp>
      <p:graphicFrame>
        <p:nvGraphicFramePr>
          <p:cNvPr id="5" name="ordered chart" descr=""/>
          <p:cNvGraphicFramePr/>
          <p:nvPr/>
        </p:nvGraphicFramePr>
        <p:xfrm>
          <a:off x="731520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uffled card"/>
          <p:cNvSpPr/>
          <p:nvPr/>
        </p:nvSpPr>
        <p:spPr>
          <a:xfrm>
            <a:off x="6324448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98768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Same 36 numbers, shuffled: no story</a:t>
            </a:r>
            <a:endParaRPr lang="en-US" sz="1800" dirty="0"/>
          </a:p>
        </p:txBody>
      </p:sp>
      <p:graphicFrame>
        <p:nvGraphicFramePr>
          <p:cNvPr id="8" name="shuffled chart" descr=""/>
          <p:cNvGraphicFramePr/>
          <p:nvPr/>
        </p:nvGraphicFramePr>
        <p:xfrm>
          <a:off x="6507328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series has 3 things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timestamp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when it happened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what was measured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cadence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hourly · daily · weekly · monthly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NigComSat-1R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Nigeria's communications satellite at 42.5° East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active transponders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≈36,000 km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above the Earth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C·Ku·Ka·L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frequency bands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yrs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design life (launched 2011)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data: Ka-band availability, monthly average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1,096 daily rows · dips every rainy season (Ka-band rain fade)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3-line pandas recipe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 = pd.read_csv(data_path("ka_band_availability_daily"),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parse_dates=["timestamp"],   # text -&gt; dates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index_col="timestamp")       # time = row label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 = ka.asfreq("D")                           # gaps show up as NaN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.asfreq() makes missing days appear instead of silently disappearing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new data like a tokunbo car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74980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3230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Rows?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284067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icon 2 circle"/>
          <p:cNvSpPr/>
          <p:nvPr/>
        </p:nvSpPr>
        <p:spPr>
          <a:xfrm>
            <a:off x="3041843" y="224028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9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67" y="2432304"/>
            <a:ext cx="576072" cy="5760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04184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Range?</a:t>
            </a:r>
            <a:endParaRPr lang="en-US" sz="1800" dirty="0"/>
          </a:p>
        </p:txBody>
      </p:sp>
      <p:sp>
        <p:nvSpPr>
          <p:cNvPr id="11" name="card 3"/>
          <p:cNvSpPr/>
          <p:nvPr/>
        </p:nvSpPr>
        <p:spPr>
          <a:xfrm>
            <a:off x="513271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icon 3 circle"/>
          <p:cNvSpPr/>
          <p:nvPr/>
        </p:nvSpPr>
        <p:spPr>
          <a:xfrm>
            <a:off x="5333878" y="224028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3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02" y="2432304"/>
            <a:ext cx="576072" cy="5760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387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Gaps?</a:t>
            </a:r>
            <a:endParaRPr lang="en-US" sz="1800" dirty="0"/>
          </a:p>
        </p:txBody>
      </p:sp>
      <p:sp>
        <p:nvSpPr>
          <p:cNvPr id="15" name="card 4"/>
          <p:cNvSpPr/>
          <p:nvPr/>
        </p:nvSpPr>
        <p:spPr>
          <a:xfrm>
            <a:off x="742474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icon 4 circle"/>
          <p:cNvSpPr/>
          <p:nvPr/>
        </p:nvSpPr>
        <p:spPr>
          <a:xfrm>
            <a:off x="7625913" y="224028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17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937" y="2432304"/>
            <a:ext cx="576072" cy="5760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2591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Duplicates?</a:t>
            </a:r>
            <a:endParaRPr lang="en-US" sz="1800" dirty="0"/>
          </a:p>
        </p:txBody>
      </p:sp>
      <p:sp>
        <p:nvSpPr>
          <p:cNvPr id="19" name="card 5"/>
          <p:cNvSpPr/>
          <p:nvPr/>
        </p:nvSpPr>
        <p:spPr>
          <a:xfrm>
            <a:off x="971678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icon 5 circle"/>
          <p:cNvSpPr/>
          <p:nvPr/>
        </p:nvSpPr>
        <p:spPr>
          <a:xfrm>
            <a:off x="991794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21" name="icon 5" descr="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972" y="2432304"/>
            <a:ext cx="576072" cy="5760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1794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Satellites speak UTC. Lagos speaks WAT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21:00 UTC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telemetry: eclipse time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22:00 WAT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Lagos/Abuja: UTC + 1, no daylight saving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characters in every series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long direction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fixed calendar repeat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ups and downs, no fixed length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random wobble: don't react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W1D1-exercise in Colab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File → Save a copy in Drive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Run STEP 0, then top to bottom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Replace every ___, run, get the green tick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Colab: save a copy, run top to bottom, restart when confused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Time series: order matters (timestamp + value + cadence)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Recipe: parse_dates → index_col → .asfreq()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Charts That Don't Lie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W1D1 · Colab Bootcamp + Your First Time Series</dc:title>
  <dc:subject>PptxGenJS Presentation</dc:subject>
  <dc:creator>Publica Academy</dc:creator>
  <cp:lastModifiedBy>Publica Academy</cp:lastModifiedBy>
  <cp:revision>1</cp:revision>
  <dcterms:created xsi:type="dcterms:W3CDTF">2026-10-29T15:32:42Z</dcterms:created>
  <dcterms:modified xsi:type="dcterms:W3CDTF">2026-10-29T15:32:42Z</dcterms:modified>
</cp:coreProperties>
</file>