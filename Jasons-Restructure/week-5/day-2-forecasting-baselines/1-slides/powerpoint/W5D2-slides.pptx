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Sheet1!$A$2:$A$97</c:f>
              <c:multiLvlStrCache>
                <c:ptCount val="96"/>
                <c:lvl>
                  <c:pt idx="0">
                    <c:v>Jan 2024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 2024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 2024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Oct 2024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>Jan 2025</c:v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>Apr 2025</c:v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>Jul 2025</c:v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Oct 2025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</c:lvl>
              </c:multiLvlStrCache>
            </c:multiLvl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31</c:v>
                </c:pt>
                <c:pt idx="1">
                  <c:v>29</c:v>
                </c:pt>
                <c:pt idx="2">
                  <c:v>34</c:v>
                </c:pt>
                <c:pt idx="3">
                  <c:v>35</c:v>
                </c:pt>
                <c:pt idx="4">
                  <c:v>28</c:v>
                </c:pt>
                <c:pt idx="5">
                  <c:v>31</c:v>
                </c:pt>
                <c:pt idx="6">
                  <c:v>35</c:v>
                </c:pt>
                <c:pt idx="7">
                  <c:v>35</c:v>
                </c:pt>
                <c:pt idx="8">
                  <c:v>36</c:v>
                </c:pt>
                <c:pt idx="9">
                  <c:v>35</c:v>
                </c:pt>
                <c:pt idx="10">
                  <c:v>40</c:v>
                </c:pt>
                <c:pt idx="11">
                  <c:v>41</c:v>
                </c:pt>
                <c:pt idx="12">
                  <c:v>39</c:v>
                </c:pt>
                <c:pt idx="13">
                  <c:v>56</c:v>
                </c:pt>
                <c:pt idx="14">
                  <c:v>55</c:v>
                </c:pt>
                <c:pt idx="15">
                  <c:v>52</c:v>
                </c:pt>
                <c:pt idx="16">
                  <c:v>56</c:v>
                </c:pt>
                <c:pt idx="17">
                  <c:v>53</c:v>
                </c:pt>
                <c:pt idx="18">
                  <c:v>59</c:v>
                </c:pt>
                <c:pt idx="19">
                  <c:v>57</c:v>
                </c:pt>
                <c:pt idx="20">
                  <c:v>57</c:v>
                </c:pt>
                <c:pt idx="21">
                  <c:v>56</c:v>
                </c:pt>
                <c:pt idx="22">
                  <c:v>61</c:v>
                </c:pt>
                <c:pt idx="23">
                  <c:v>58</c:v>
                </c:pt>
                <c:pt idx="24">
                  <c:v>57</c:v>
                </c:pt>
                <c:pt idx="25">
                  <c:v>58</c:v>
                </c:pt>
                <c:pt idx="26">
                  <c:v>60</c:v>
                </c:pt>
                <c:pt idx="27">
                  <c:v>60</c:v>
                </c:pt>
                <c:pt idx="28">
                  <c:v>60</c:v>
                </c:pt>
                <c:pt idx="29">
                  <c:v>60</c:v>
                </c:pt>
                <c:pt idx="30">
                  <c:v>64</c:v>
                </c:pt>
                <c:pt idx="31">
                  <c:v>57</c:v>
                </c:pt>
                <c:pt idx="32">
                  <c:v>57</c:v>
                </c:pt>
                <c:pt idx="33">
                  <c:v>56</c:v>
                </c:pt>
                <c:pt idx="34">
                  <c:v>59</c:v>
                </c:pt>
                <c:pt idx="35">
                  <c:v>61</c:v>
                </c:pt>
                <c:pt idx="36">
                  <c:v>57</c:v>
                </c:pt>
                <c:pt idx="37">
                  <c:v>55</c:v>
                </c:pt>
                <c:pt idx="38">
                  <c:v>55</c:v>
                </c:pt>
                <c:pt idx="39">
                  <c:v>59</c:v>
                </c:pt>
                <c:pt idx="40">
                  <c:v>59</c:v>
                </c:pt>
                <c:pt idx="41">
                  <c:v>58</c:v>
                </c:pt>
                <c:pt idx="42">
                  <c:v>55</c:v>
                </c:pt>
                <c:pt idx="43">
                  <c:v>57</c:v>
                </c:pt>
                <c:pt idx="44">
                  <c:v>42</c:v>
                </c:pt>
                <c:pt idx="45">
                  <c:v>42</c:v>
                </c:pt>
                <c:pt idx="46">
                  <c:v>44</c:v>
                </c:pt>
                <c:pt idx="47">
                  <c:v>42</c:v>
                </c:pt>
                <c:pt idx="48">
                  <c:v>53</c:v>
                </c:pt>
                <c:pt idx="49">
                  <c:v>51</c:v>
                </c:pt>
                <c:pt idx="50">
                  <c:v>52</c:v>
                </c:pt>
                <c:pt idx="51">
                  <c:v>54</c:v>
                </c:pt>
                <c:pt idx="52">
                  <c:v>49</c:v>
                </c:pt>
                <c:pt idx="53">
                  <c:v>43</c:v>
                </c:pt>
                <c:pt idx="54">
                  <c:v>43</c:v>
                </c:pt>
                <c:pt idx="55">
                  <c:v>43</c:v>
                </c:pt>
                <c:pt idx="56">
                  <c:v>45</c:v>
                </c:pt>
                <c:pt idx="57">
                  <c:v>50</c:v>
                </c:pt>
                <c:pt idx="58">
                  <c:v>45</c:v>
                </c:pt>
                <c:pt idx="59">
                  <c:v>50</c:v>
                </c:pt>
                <c:pt idx="60">
                  <c:v>44</c:v>
                </c:pt>
                <c:pt idx="61">
                  <c:v>48</c:v>
                </c:pt>
                <c:pt idx="62">
                  <c:v>50</c:v>
                </c:pt>
                <c:pt idx="63">
                  <c:v>52</c:v>
                </c:pt>
                <c:pt idx="64">
                  <c:v>53</c:v>
                </c:pt>
                <c:pt idx="65">
                  <c:v>54</c:v>
                </c:pt>
                <c:pt idx="66">
                  <c:v>70</c:v>
                </c:pt>
                <c:pt idx="67">
                  <c:v>70</c:v>
                </c:pt>
                <c:pt idx="68">
                  <c:v>75</c:v>
                </c:pt>
                <c:pt idx="69">
                  <c:v>73</c:v>
                </c:pt>
                <c:pt idx="70">
                  <c:v>70</c:v>
                </c:pt>
                <c:pt idx="71">
                  <c:v>71</c:v>
                </c:pt>
                <c:pt idx="72">
                  <c:v>73</c:v>
                </c:pt>
                <c:pt idx="73">
                  <c:v>77</c:v>
                </c:pt>
                <c:pt idx="74">
                  <c:v>76</c:v>
                </c:pt>
                <c:pt idx="75">
                  <c:v>78</c:v>
                </c:pt>
                <c:pt idx="76">
                  <c:v>76</c:v>
                </c:pt>
                <c:pt idx="77">
                  <c:v>78</c:v>
                </c:pt>
                <c:pt idx="78">
                  <c:v>79</c:v>
                </c:pt>
                <c:pt idx="79">
                  <c:v>77</c:v>
                </c:pt>
                <c:pt idx="80">
                  <c:v>79</c:v>
                </c:pt>
                <c:pt idx="81">
                  <c:v>76</c:v>
                </c:pt>
                <c:pt idx="82">
                  <c:v>77</c:v>
                </c:pt>
                <c:pt idx="83">
                  <c:v>77</c:v>
                </c:pt>
                <c:pt idx="84">
                  <c:v>75</c:v>
                </c:pt>
                <c:pt idx="85">
                  <c:v>79</c:v>
                </c:pt>
                <c:pt idx="86">
                  <c:v>77</c:v>
                </c:pt>
                <c:pt idx="87">
                  <c:v>78</c:v>
                </c:pt>
                <c:pt idx="88">
                  <c:v>79</c:v>
                </c:pt>
                <c:pt idx="89">
                  <c:v>79</c:v>
                </c:pt>
                <c:pt idx="90">
                  <c:v>80</c:v>
                </c:pt>
                <c:pt idx="91">
                  <c:v>77</c:v>
                </c:pt>
                <c:pt idx="92">
                  <c:v>77</c:v>
                </c:pt>
                <c:pt idx="93">
                  <c:v>77</c:v>
                </c:pt>
                <c:pt idx="94">
                  <c:v>73</c:v>
                </c:pt>
                <c:pt idx="95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85"/>
          <c:min val="2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622"/>
            </a:solidFill>
            <a:ln w="25400" cap="flat">
              <a:solidFill>
                <a:srgbClr val="0B16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622"/>
              </a:solidFill>
              <a:ln w="9525" cap="flat">
                <a:solidFill>
                  <a:srgbClr val="0B16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54</c:v>
                </c:pt>
                <c:pt idx="2">
                  <c:v>58</c:v>
                </c:pt>
                <c:pt idx="3">
                  <c:v>55</c:v>
                </c:pt>
                <c:pt idx="4">
                  <c:v>68</c:v>
                </c:pt>
                <c:pt idx="5">
                  <c:v>73</c:v>
                </c:pt>
                <c:pt idx="6">
                  <c:v>69</c:v>
                </c:pt>
                <c:pt idx="7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</c:v>
                </c:pt>
              </c:strCache>
            </c:strRef>
          </c:tx>
          <c:spPr>
            <a:solidFill>
              <a:srgbClr val="3B8BE0"/>
            </a:solidFill>
            <a:ln w="25400" cap="flat">
              <a:solidFill>
                <a:srgbClr val="3B8B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8BE0"/>
              </a:solidFill>
              <a:ln w="9525" cap="flat">
                <a:solidFill>
                  <a:srgbClr val="3B8B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74</c:v>
                </c:pt>
                <c:pt idx="1">
                  <c:v>74</c:v>
                </c:pt>
                <c:pt idx="2">
                  <c:v>74</c:v>
                </c:pt>
                <c:pt idx="3">
                  <c:v>74</c:v>
                </c:pt>
                <c:pt idx="4">
                  <c:v>74</c:v>
                </c:pt>
                <c:pt idx="5">
                  <c:v>74</c:v>
                </c:pt>
                <c:pt idx="6">
                  <c:v>74</c:v>
                </c:pt>
                <c:pt idx="7">
                  <c:v>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Seasonal naive</c:v>
                </c:pt>
              </c:strCache>
            </c:strRef>
          </c:tx>
          <c:spPr>
            <a:solidFill>
              <a:srgbClr val="FF6B6F"/>
            </a:solidFill>
            <a:ln w="25400" cap="flat">
              <a:solidFill>
                <a:srgbClr val="FF6B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6B6F"/>
              </a:solidFill>
              <a:ln w="9525" cap="flat">
                <a:solidFill>
                  <a:srgbClr val="FF6B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42</c:v>
                </c:pt>
                <c:pt idx="1">
                  <c:v>42</c:v>
                </c:pt>
                <c:pt idx="2">
                  <c:v>44</c:v>
                </c:pt>
                <c:pt idx="3">
                  <c:v>42</c:v>
                </c:pt>
                <c:pt idx="4">
                  <c:v>53</c:v>
                </c:pt>
                <c:pt idx="5">
                  <c:v>51</c:v>
                </c:pt>
                <c:pt idx="6">
                  <c:v>52</c:v>
                </c:pt>
                <c:pt idx="7">
                  <c:v>54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Moving average (8)</c:v>
                </c:pt>
              </c:strCache>
            </c:strRef>
          </c:tx>
          <c:spPr>
            <a:solidFill>
              <a:srgbClr val="B58CFF"/>
            </a:solidFill>
            <a:ln w="25400" cap="flat">
              <a:solidFill>
                <a:srgbClr val="B58C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58CFF"/>
              </a:solidFill>
              <a:ln w="9525" cap="flat">
                <a:solidFill>
                  <a:srgbClr val="B58C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77</c:v>
                </c:pt>
                <c:pt idx="5">
                  <c:v>77</c:v>
                </c:pt>
                <c:pt idx="6">
                  <c:v>77</c:v>
                </c:pt>
                <c:pt idx="7">
                  <c:v>77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Exp. smoothing (α 0.3)</c:v>
                </c:pt>
              </c:strCache>
            </c:strRef>
          </c:tx>
          <c:spPr>
            <a:solidFill>
              <a:srgbClr val="16A394"/>
            </a:solidFill>
            <a:ln w="25400" cap="flat">
              <a:solidFill>
                <a:srgbClr val="16A3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6A394"/>
              </a:solidFill>
              <a:ln w="9525" cap="flat">
                <a:solidFill>
                  <a:srgbClr val="16A3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75.6</c:v>
                </c:pt>
                <c:pt idx="1">
                  <c:v>75.6</c:v>
                </c:pt>
                <c:pt idx="2">
                  <c:v>75.6</c:v>
                </c:pt>
                <c:pt idx="3">
                  <c:v>75.6</c:v>
                </c:pt>
                <c:pt idx="4">
                  <c:v>75.6</c:v>
                </c:pt>
                <c:pt idx="5">
                  <c:v>75.6</c:v>
                </c:pt>
                <c:pt idx="6">
                  <c:v>75.6</c:v>
                </c:pt>
                <c:pt idx="7">
                  <c:v>75.6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3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</c:v>
                  </c:pt>
                  <c:pt idx="1">
                    <c:v>Exp. smoothing (α 0.3)</c:v>
                  </c:pt>
                  <c:pt idx="2">
                    <c:v>Moving average (8)</c:v>
                  </c:pt>
                  <c:pt idx="3">
                    <c:v>Seasonal naive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11.25</c:v>
                </c:pt>
                <c:pt idx="1">
                  <c:v>12.8</c:v>
                </c:pt>
                <c:pt idx="2">
                  <c:v>14.25</c:v>
                </c:pt>
                <c:pt idx="3">
                  <c:v>15.25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B1622"/>
            </a:solidFill>
            <a:ln w="25400" cap="flat">
              <a:solidFill>
                <a:srgbClr val="0B16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1622"/>
              </a:solidFill>
              <a:ln w="9525" cap="flat">
                <a:solidFill>
                  <a:srgbClr val="0B16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54</c:v>
                </c:pt>
                <c:pt idx="2">
                  <c:v>58</c:v>
                </c:pt>
                <c:pt idx="3">
                  <c:v>55</c:v>
                </c:pt>
                <c:pt idx="4">
                  <c:v>68</c:v>
                </c:pt>
                <c:pt idx="5">
                  <c:v>73</c:v>
                </c:pt>
                <c:pt idx="6">
                  <c:v>69</c:v>
                </c:pt>
                <c:pt idx="7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</c:v>
                </c:pt>
              </c:strCache>
            </c:strRef>
          </c:tx>
          <c:spPr>
            <a:solidFill>
              <a:srgbClr val="3B8BE0"/>
            </a:solidFill>
            <a:ln w="25400" cap="flat">
              <a:solidFill>
                <a:srgbClr val="3B8B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8BE0"/>
              </a:solidFill>
              <a:ln w="9525" cap="flat">
                <a:solidFill>
                  <a:srgbClr val="3B8B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74</c:v>
                </c:pt>
                <c:pt idx="1">
                  <c:v>74</c:v>
                </c:pt>
                <c:pt idx="2">
                  <c:v>74</c:v>
                </c:pt>
                <c:pt idx="3">
                  <c:v>74</c:v>
                </c:pt>
                <c:pt idx="4">
                  <c:v>74</c:v>
                </c:pt>
                <c:pt idx="5">
                  <c:v>74</c:v>
                </c:pt>
                <c:pt idx="6">
                  <c:v>74</c:v>
                </c:pt>
                <c:pt idx="7">
                  <c:v>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rate seasonal naive</c:v>
                </c:pt>
              </c:strCache>
            </c:strRef>
          </c:tx>
          <c:spPr>
            <a:solidFill>
              <a:srgbClr val="1E9E5A"/>
            </a:solidFill>
            <a:ln w="25400" cap="flat">
              <a:solidFill>
                <a:srgbClr val="1E9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9E5A"/>
              </a:solidFill>
              <a:ln w="9525" cap="flat">
                <a:solidFill>
                  <a:srgbClr val="1E9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03 Nov</c:v>
                  </c:pt>
                  <c:pt idx="1">
                    <c:v>10 Nov</c:v>
                  </c:pt>
                  <c:pt idx="2">
                    <c:v>17 Nov</c:v>
                  </c:pt>
                  <c:pt idx="3">
                    <c:v>24 Nov</c:v>
                  </c:pt>
                  <c:pt idx="4">
                    <c:v>01 Dec</c:v>
                  </c:pt>
                  <c:pt idx="5">
                    <c:v>08 Dec</c:v>
                  </c:pt>
                  <c:pt idx="6">
                    <c:v>15 Dec</c:v>
                  </c:pt>
                  <c:pt idx="7">
                    <c:v>22 Dec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56.4</c:v>
                </c:pt>
                <c:pt idx="1">
                  <c:v>56.1</c:v>
                </c:pt>
                <c:pt idx="2">
                  <c:v>58.5</c:v>
                </c:pt>
                <c:pt idx="3">
                  <c:v>55.6</c:v>
                </c:pt>
                <c:pt idx="4">
                  <c:v>69.8</c:v>
                </c:pt>
                <c:pt idx="5">
                  <c:v>66.8</c:v>
                </c:pt>
                <c:pt idx="6">
                  <c:v>67.7</c:v>
                </c:pt>
                <c:pt idx="7">
                  <c:v>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3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777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Rate seasonal naive</c:v>
                  </c:pt>
                  <c:pt idx="1">
                    <c:v>Naive</c:v>
                  </c:pt>
                  <c:pt idx="2">
                    <c:v>Exp. smoothing (α 0.3)</c:v>
                  </c:pt>
                  <c:pt idx="3">
                    <c:v>Moving average (8)</c:v>
                  </c:pt>
                  <c:pt idx="4">
                    <c:v>Seasonal naive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2.24</c:v>
                </c:pt>
                <c:pt idx="1">
                  <c:v>11.25</c:v>
                </c:pt>
                <c:pt idx="2">
                  <c:v>12.8</c:v>
                </c:pt>
                <c:pt idx="3">
                  <c:v>14.25</c:v>
                </c:pt>
                <c:pt idx="4">
                  <c:v>15.25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today we ask: what happens next?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AI can't beat Grandma, the invoice is for nothing. Grandma's forecast is a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forecast that used next week's number is expo.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book says the file ends on 29 December: it ends on 22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season is a step, not a smooth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split-by-time idea as W5D1.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makes one assumption about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envelope.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numbers as the code book and Quiz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Winning a bad race is not the same as being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by the network and the season repeats.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lines of code, still blind.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fitted, nothing tuned.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rate travels, a count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resolve it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W5D2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W5D2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5 · DAY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Grandma's forecast: “tomorrow will be like today.” She's harder to beat than you think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series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trend · season · noise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baselines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cheapest forecasts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them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MAE, in tickets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size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trick that wins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forecasts next week's NOC tickets?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Grandma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“The same as today, my child.” Free, one line of code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consultant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An AI model and a ₦25 million invoice, never compared with Grandma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“is it wrong now?” to “what comes next?”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3–5: detection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Is a reading that already happened normal?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5–6: forecasting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Guess a reading that hasn't happened yet, only from the past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tickets, every week for two years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104 weeks, 1 Jan 2024 – 22 Dec 2025, 0 gaps · 28–80 tickets a week · 1,200 → 2,181 terminals. The last 8 weeks are locked away.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+ a season that comes in steps + noise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network grows every week; tickets grow with it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April: +17 / +16 tickets in one week. November: −15. December bump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week-to-week wobble no forecast should chase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last 8 weeks away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train, actual = y.iloc[:-H], y.iloc[-H:]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train.index.max() &lt; actual.index.min()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96 training weeks to learn from, 8 test weeks to be judged on. Every forecast is made on 27 Oct 2025, blind.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baselines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The cheapest forecasts there are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Grandma could think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same as last week: 74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naive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same week last year: 42–54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mean of the last 8 weeks: 77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smoothing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running level (α 0.3): 75.6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forecasts vs what really happened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Naive and smoothing sail over November; seasonal naive sits far below all 8 weeks.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the typical miss, in tickets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(21 + 20 + 16 + 19 + 6 + 1 + 5 + 2) ÷ 8 = 11.25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Naive's 8 misses, minus signs dropped, averaged: on a typical week it was off by about 11 tickets.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scoreboard: MAE, lower is better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Naive wins. Seasonal naive comes last, on a seasonal series.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seasonal naive come last?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It copied the right season from a much smaller network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1,581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terminals a year before the forecast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2,131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terminals at the forecast origin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growth: every copied week is too low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why did naive “win”?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It copied the wrong season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tickets, 27 Oct (rainy season)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tickets, 3 Nov (dry season)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16–21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tickets too high, every November week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the size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The trick the original code book never tries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per 1,000 terminals: the season repeats</a:t>
            </a:r>
            <a:endParaRPr lang="en-US" sz="3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69848"/>
                <a:gridCol w="850392"/>
                <a:gridCol w="850392"/>
                <a:gridCol w="850392"/>
                <a:gridCol w="850392"/>
                <a:gridCol w="850392"/>
                <a:gridCol w="850392"/>
                <a:gridCol w="850392"/>
                <a:gridCol w="850392"/>
                <a:gridCol w="850392"/>
                <a:gridCol w="850392"/>
                <a:gridCol w="850392"/>
                <a:gridCol w="8503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Feb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Apr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Jul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Nov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2024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25.6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26.7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29.1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39.4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40.2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40.2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40.9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37.8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37.2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36.5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26.6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31.7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25.9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27.4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28.9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39.2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38.5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39.8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38.6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37.7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37.7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35.5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locked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locked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Training weeks only (Nov–Dec 2025 are the locked test weeks). Never more than 2.3 apart. The rainy season lifts the rate by 37.5%.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seasonal naive: Grandma, adjusted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year's rate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42 ÷ 1,588 = 26.4 per 1,000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today's network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2,131 terminals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forecast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56.4 for 3 Nov (actual 53)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rate = series / terminals  ·  rate.iloc[-52:].values[:h] * terminals.iloc[-1]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follows the drop and the growth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MAE 2.24 against naive's 11.25: 5× better, all 8 weeks forecast on 27 Oct.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out what you already know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Day 3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amplifier temperature ÷ RF drive = temp_per_drive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tickets ÷ terminals = the season, repeating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fancier model must beat this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best baseline, not the one its name suggests.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split can lie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flat training average scored 7.77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It “beat” all four code-book baselines on these 8 weeks. Skill or luck? Week 6 · Day 1 tests every method on dozens of stretches.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W5D2-exercise,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load, lock the last 8 weeks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four baselines + the scoreboard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the rate forecast · Part D: the lucky average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Baselines first: naive, seasonal naive, moving average, smoothing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Score honestly: lock the last weeks away, forecast blind, MAE in tickets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Divide by the size: last year's rate × today's network = 2.24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Regression forecasts + honest ranges · Project Checkpoint 4 next session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W5D2 · Forecasting Baselines</dc:title>
  <dc:subject>PptxGenJS Presentation</dc:subject>
  <dc:creator>Publica Academy</dc:creator>
  <cp:lastModifiedBy>Publica Academy</cp:lastModifiedBy>
  <cp:revision>1</cp:revision>
  <dcterms:created xsi:type="dcterms:W3CDTF">2026-10-29T22:23:27Z</dcterms:created>
  <dcterms:modified xsi:type="dcterms:W3CDTF">2026-10-29T22:23:27Z</dcterms:modified>
</cp:coreProperties>
</file>