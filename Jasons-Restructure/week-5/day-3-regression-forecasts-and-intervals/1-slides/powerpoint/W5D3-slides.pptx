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seasonal naive</c:v>
                  </c:pt>
                  <c:pt idx="1">
                    <c:v>moving average</c:v>
                  </c:pt>
                  <c:pt idx="2">
                    <c:v>exp. smoothing</c:v>
                  </c:pt>
                  <c:pt idx="3">
                    <c:v>naive</c:v>
                  </c:pt>
                  <c:pt idx="4">
                    <c:v>rate seasonal naive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15.25</c:v>
                </c:pt>
                <c:pt idx="1">
                  <c:v>14.25</c:v>
                </c:pt>
                <c:pt idx="2">
                  <c:v>12.8</c:v>
                </c:pt>
                <c:pt idx="3">
                  <c:v>11.25</c:v>
                </c:pt>
                <c:pt idx="4">
                  <c:v>2.24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622"/>
            </a:solidFill>
            <a:ln w="25400" cap="flat">
              <a:solidFill>
                <a:srgbClr val="0B16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622"/>
              </a:solidFill>
              <a:ln w="9525" cap="flat">
                <a:solidFill>
                  <a:srgbClr val="0B16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58</c:v>
                </c:pt>
                <c:pt idx="3">
                  <c:v>55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70.9</c:v>
                </c:pt>
                <c:pt idx="1">
                  <c:v>60.5</c:v>
                </c:pt>
                <c:pt idx="2">
                  <c:v>61.4</c:v>
                </c:pt>
                <c:pt idx="3">
                  <c:v>63</c:v>
                </c:pt>
                <c:pt idx="4">
                  <c:v>64.1</c:v>
                </c:pt>
                <c:pt idx="5">
                  <c:v>70.3</c:v>
                </c:pt>
                <c:pt idx="6">
                  <c:v>73.1</c:v>
                </c:pt>
                <c:pt idx="7">
                  <c:v>71.8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66.3</c:v>
                </c:pt>
                <c:pt idx="1">
                  <c:v>55.8</c:v>
                </c:pt>
                <c:pt idx="2">
                  <c:v>56.8</c:v>
                </c:pt>
                <c:pt idx="3">
                  <c:v>58.4</c:v>
                </c:pt>
                <c:pt idx="4">
                  <c:v>59.4</c:v>
                </c:pt>
                <c:pt idx="5">
                  <c:v>65.6</c:v>
                </c:pt>
                <c:pt idx="6">
                  <c:v>68.5</c:v>
                </c:pt>
                <c:pt idx="7">
                  <c:v>67.2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upper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75.6</c:v>
                </c:pt>
                <c:pt idx="1">
                  <c:v>65.1</c:v>
                </c:pt>
                <c:pt idx="2">
                  <c:v>66.1</c:v>
                </c:pt>
                <c:pt idx="3">
                  <c:v>67.7</c:v>
                </c:pt>
                <c:pt idx="4">
                  <c:v>68.8</c:v>
                </c:pt>
                <c:pt idx="5">
                  <c:v>74.9</c:v>
                </c:pt>
                <c:pt idx="6">
                  <c:v>77.8</c:v>
                </c:pt>
                <c:pt idx="7">
                  <c:v>76.5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7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8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Sheet1!$A$2:$A$33</c:f>
              <c:multiLvlStrCache>
                <c:ptCount val="32"/>
                <c:lvl>
                  <c:pt idx="0">
                    <c:v>24 Mar</c:v>
                  </c:pt>
                  <c:pt idx="1">
                    <c:v>31 Mar</c:v>
                  </c:pt>
                  <c:pt idx="2">
                    <c:v>7 Apr</c:v>
                  </c:pt>
                  <c:pt idx="3">
                    <c:v>14 Apr</c:v>
                  </c:pt>
                  <c:pt idx="4">
                    <c:v>21 Apr</c:v>
                  </c:pt>
                  <c:pt idx="5">
                    <c:v>28 Apr</c:v>
                  </c:pt>
                  <c:pt idx="6">
                    <c:v>5 May</c:v>
                  </c:pt>
                  <c:pt idx="7">
                    <c:v>12 May</c:v>
                  </c:pt>
                  <c:pt idx="8">
                    <c:v>19 May</c:v>
                  </c:pt>
                  <c:pt idx="9">
                    <c:v>26 May</c:v>
                  </c:pt>
                  <c:pt idx="10">
                    <c:v>2 Jun</c:v>
                  </c:pt>
                  <c:pt idx="11">
                    <c:v>9 Jun</c:v>
                  </c:pt>
                  <c:pt idx="12">
                    <c:v>16 Jun</c:v>
                  </c:pt>
                  <c:pt idx="13">
                    <c:v>23 Jun</c:v>
                  </c:pt>
                  <c:pt idx="14">
                    <c:v>30 Jun</c:v>
                  </c:pt>
                  <c:pt idx="15">
                    <c:v>7 Jul</c:v>
                  </c:pt>
                  <c:pt idx="16">
                    <c:v>14 Jul</c:v>
                  </c:pt>
                  <c:pt idx="17">
                    <c:v>21 Jul</c:v>
                  </c:pt>
                  <c:pt idx="18">
                    <c:v>28 Jul</c:v>
                  </c:pt>
                  <c:pt idx="19">
                    <c:v>4 Aug</c:v>
                  </c:pt>
                  <c:pt idx="20">
                    <c:v>11 Aug</c:v>
                  </c:pt>
                  <c:pt idx="21">
                    <c:v>18 Aug</c:v>
                  </c:pt>
                  <c:pt idx="22">
                    <c:v>25 Aug</c:v>
                  </c:pt>
                  <c:pt idx="23">
                    <c:v>1 Sep</c:v>
                  </c:pt>
                  <c:pt idx="24">
                    <c:v>8 Sep</c:v>
                  </c:pt>
                  <c:pt idx="25">
                    <c:v>15 Sep</c:v>
                  </c:pt>
                  <c:pt idx="26">
                    <c:v>22 Sep</c:v>
                  </c:pt>
                  <c:pt idx="27">
                    <c:v>29 Sep</c:v>
                  </c:pt>
                  <c:pt idx="28">
                    <c:v>6 Oct</c:v>
                  </c:pt>
                  <c:pt idx="29">
                    <c:v>13 Oct</c:v>
                  </c:pt>
                  <c:pt idx="30">
                    <c:v>20 Oct</c:v>
                  </c:pt>
                  <c:pt idx="31">
                    <c:v>27 Oct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2.9</c:v>
                </c:pt>
                <c:pt idx="1">
                  <c:v>5.9</c:v>
                </c:pt>
                <c:pt idx="2">
                  <c:v>15.1</c:v>
                </c:pt>
                <c:pt idx="3">
                  <c:v>-8.4</c:v>
                </c:pt>
                <c:pt idx="4">
                  <c:v>-3.3</c:v>
                </c:pt>
                <c:pt idx="5">
                  <c:v>-11.3</c:v>
                </c:pt>
                <c:pt idx="6">
                  <c:v>-12.5</c:v>
                </c:pt>
                <c:pt idx="7">
                  <c:v>-4</c:v>
                </c:pt>
                <c:pt idx="8">
                  <c:v>0.2</c:v>
                </c:pt>
                <c:pt idx="9">
                  <c:v>3.7</c:v>
                </c:pt>
                <c:pt idx="10">
                  <c:v>-1.6</c:v>
                </c:pt>
                <c:pt idx="11">
                  <c:v>2.5</c:v>
                </c:pt>
                <c:pt idx="12">
                  <c:v>-1</c:v>
                </c:pt>
                <c:pt idx="13">
                  <c:v>2.8</c:v>
                </c:pt>
                <c:pt idx="14">
                  <c:v>2.2</c:v>
                </c:pt>
                <c:pt idx="15">
                  <c:v>-0.7</c:v>
                </c:pt>
                <c:pt idx="16">
                  <c:v>3.2</c:v>
                </c:pt>
                <c:pt idx="17">
                  <c:v>-1.2</c:v>
                </c:pt>
                <c:pt idx="18">
                  <c:v>1.6</c:v>
                </c:pt>
                <c:pt idx="19">
                  <c:v>3.2</c:v>
                </c:pt>
                <c:pt idx="20">
                  <c:v>0.8</c:v>
                </c:pt>
                <c:pt idx="21">
                  <c:v>6.5</c:v>
                </c:pt>
                <c:pt idx="22">
                  <c:v>0.2</c:v>
                </c:pt>
                <c:pt idx="23">
                  <c:v>2.1</c:v>
                </c:pt>
                <c:pt idx="24">
                  <c:v>3.2</c:v>
                </c:pt>
                <c:pt idx="25">
                  <c:v>2.2</c:v>
                </c:pt>
                <c:pt idx="26">
                  <c:v>2.5</c:v>
                </c:pt>
                <c:pt idx="27">
                  <c:v>-2.9</c:v>
                </c:pt>
                <c:pt idx="28">
                  <c:v>-0.4</c:v>
                </c:pt>
                <c:pt idx="29">
                  <c:v>0</c:v>
                </c:pt>
                <c:pt idx="30">
                  <c:v>-3.4</c:v>
                </c:pt>
                <c:pt idx="31">
                  <c:v>0.2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-16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622"/>
            </a:solidFill>
            <a:ln w="25400" cap="flat">
              <a:solidFill>
                <a:srgbClr val="0B16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622"/>
              </a:solidFill>
              <a:ln w="9525" cap="flat">
                <a:solidFill>
                  <a:srgbClr val="0B16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58</c:v>
                </c:pt>
                <c:pt idx="3">
                  <c:v>55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70.9</c:v>
                </c:pt>
                <c:pt idx="1">
                  <c:v>60.5</c:v>
                </c:pt>
                <c:pt idx="2">
                  <c:v>61.4</c:v>
                </c:pt>
                <c:pt idx="3">
                  <c:v>63</c:v>
                </c:pt>
                <c:pt idx="4">
                  <c:v>64.1</c:v>
                </c:pt>
                <c:pt idx="5">
                  <c:v>70.3</c:v>
                </c:pt>
                <c:pt idx="6">
                  <c:v>73.1</c:v>
                </c:pt>
                <c:pt idx="7">
                  <c:v>71.8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62.7</c:v>
                </c:pt>
                <c:pt idx="1">
                  <c:v>52.3</c:v>
                </c:pt>
                <c:pt idx="2">
                  <c:v>53.2</c:v>
                </c:pt>
                <c:pt idx="3">
                  <c:v>54.8</c:v>
                </c:pt>
                <c:pt idx="4">
                  <c:v>55.9</c:v>
                </c:pt>
                <c:pt idx="5">
                  <c:v>62.1</c:v>
                </c:pt>
                <c:pt idx="6">
                  <c:v>64.9</c:v>
                </c:pt>
                <c:pt idx="7">
                  <c:v>63.6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upper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79.1</c:v>
                </c:pt>
                <c:pt idx="1">
                  <c:v>68.7</c:v>
                </c:pt>
                <c:pt idx="2">
                  <c:v>69.6</c:v>
                </c:pt>
                <c:pt idx="3">
                  <c:v>71.2</c:v>
                </c:pt>
                <c:pt idx="4">
                  <c:v>72.3</c:v>
                </c:pt>
                <c:pt idx="5">
                  <c:v>78.5</c:v>
                </c:pt>
                <c:pt idx="6">
                  <c:v>81.3</c:v>
                </c:pt>
                <c:pt idx="7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622"/>
            </a:solidFill>
            <a:ln w="25400" cap="flat">
              <a:solidFill>
                <a:srgbClr val="0B16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622"/>
              </a:solidFill>
              <a:ln w="9525" cap="flat">
                <a:solidFill>
                  <a:srgbClr val="0B16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58</c:v>
                </c:pt>
                <c:pt idx="3">
                  <c:v>55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56.4</c:v>
                </c:pt>
                <c:pt idx="1">
                  <c:v>56.1</c:v>
                </c:pt>
                <c:pt idx="2">
                  <c:v>58.5</c:v>
                </c:pt>
                <c:pt idx="3">
                  <c:v>55.6</c:v>
                </c:pt>
                <c:pt idx="4">
                  <c:v>69.8</c:v>
                </c:pt>
                <c:pt idx="5">
                  <c:v>66.8</c:v>
                </c:pt>
                <c:pt idx="6">
                  <c:v>67.7</c:v>
                </c:pt>
                <c:pt idx="7">
                  <c:v>70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49.4</c:v>
                </c:pt>
                <c:pt idx="1">
                  <c:v>49.1</c:v>
                </c:pt>
                <c:pt idx="2">
                  <c:v>51.5</c:v>
                </c:pt>
                <c:pt idx="3">
                  <c:v>48.6</c:v>
                </c:pt>
                <c:pt idx="4">
                  <c:v>62.8</c:v>
                </c:pt>
                <c:pt idx="5">
                  <c:v>59.8</c:v>
                </c:pt>
                <c:pt idx="6">
                  <c:v>60.7</c:v>
                </c:pt>
                <c:pt idx="7">
                  <c:v>62.9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upper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1 Dec</c:v>
                  </c:pt>
                  <c:pt idx="5">
                    <c:v>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63.4</c:v>
                </c:pt>
                <c:pt idx="1">
                  <c:v>63.1</c:v>
                </c:pt>
                <c:pt idx="2">
                  <c:v>65.5</c:v>
                </c:pt>
                <c:pt idx="3">
                  <c:v>62.6</c:v>
                </c:pt>
                <c:pt idx="4">
                  <c:v>76.8</c:v>
                </c:pt>
                <c:pt idx="5">
                  <c:v>73.8</c:v>
                </c:pt>
                <c:pt idx="6">
                  <c:v>74.7</c:v>
                </c:pt>
                <c:pt idx="7">
                  <c:v>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forecast, a fair comparison, an honest range. Then Checkpoint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Amaka says 90%, she'd better be right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the best, not the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questions 7 and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knowable before the week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 10. Keep one doubt: a circle is smooth, the rainy season is a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regression got last week's real count every week: it's a one-week-ahead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questions 13–15. 1.645 is the two-sided 90%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preview of Week 6 Day 1's backtesting.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weeks you measure on decides the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width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a season change? Measure on season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8 weeks ahead without peeking.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questions 17 and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checkpoint: Week 6 Day 3, demo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W5D3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W5D3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5 · DAY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Forecasts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Honest Ranges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A forecast is a guess. An honest forecast says how wrong it might be, and checks it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rule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features known before the week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like-with-like scoring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range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band you checked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your honest test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50 min hands-on · 20 min Checkpoint 4 · 10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is coming from the Island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Tobi: “I'm on my way”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One number, no warning: a point forecast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Amaka: “30 to 90 minutes, Third Mainland permitting”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Most likely, a range, and what could blow it up: an interval forecast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time: the bar any model must clear (MAE, 8 held-out weeks)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3 Nov – 22 Dec 2025. The rate seasonal naive forecast all 8 weeks blind.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 is a regression with one rule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Every feature known before the week starts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 rule: known before the week starts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shift(1): last week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On 3 Nov's row you see 27 Oct's 74. You knew it on Monday morning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shift(-1): next week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You see 10 Nov's 54: reading tomorrow's newspaper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columns the model reads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74980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323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tickets_lag1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last week: shift(1)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284067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041843" y="224028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7" y="243230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4184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tickets_lag52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206435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same week last year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513271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5333878" y="224028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02" y="243230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3387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49847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network size this week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742474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7625913" y="224028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37" y="243230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2591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sin52 + cos52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90505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week of year on a clock</a:t>
            </a:r>
            <a:endParaRPr lang="en-US" sz="1600" dirty="0"/>
          </a:p>
        </p:txBody>
      </p:sp>
      <p:sp>
        <p:nvSpPr>
          <p:cNvPr id="23" name="card 5"/>
          <p:cNvSpPr/>
          <p:nvPr/>
        </p:nvSpPr>
        <p:spPr>
          <a:xfrm>
            <a:off x="971678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icon 5 circle"/>
          <p:cNvSpPr/>
          <p:nvPr/>
        </p:nvSpPr>
        <p:spPr>
          <a:xfrm>
            <a:off x="991794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25" name="icon 5" descr="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972" y="2432304"/>
            <a:ext cx="576072" cy="5760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1794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0082540" y="4114800"/>
            <a:ext cx="1194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this week's tickets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sin and cos?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is a clock, not a ruler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As a number, week 52 and week 1 are 51 apart; on a circle they are neighbours. Two columns instead of 52.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weeks → 52 usable rows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52 weeks, only feed lag52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44 rows · 30 Dec – 27 Oct 2025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8 weeks · 3 Nov – 22 Dec 2025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shift(52) has nothing to copy in 2024, so dropna() removes those rows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Fit, then read the coefficients like an engineer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5971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Makes sense?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tickets_lag1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+0.4974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half of last week carries over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tickets_lag52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+0.2259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 bit of last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terminals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+0.0231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+23 tickets/week per 1,000 terminals ✅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sin52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+0.8881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together: the yearly wave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cos52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-2.9379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together: the yearly wave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 negative terminals sign would be a warning: investigate before you trust anything.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with like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Same weeks, same horizon, same information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“Half of naive's error!”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MAE on the 8 held-out weeks, tickets per week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naive, 8 weeks blind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regression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6.75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naive made the same way (last week's real count)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BEST baseline, not the weakest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4599432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far ahead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Information used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naive (W5D2)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last training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11.25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seasonal naive (W5D2)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same weeks last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15.25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one-step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last week's real count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6.75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regression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last week's real count + 4 more columns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5.85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rate seasonal naive (W5D2)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last year's tickets per terminal × terminals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Even with a hint every week, the regression (5.85) loses to a forecast made 8 weeks blind (2.24).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ranges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Amaka's sentence, with a number on it, checked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book's “90%” band: right 5 times in 8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forecast ± 1.645 × residual sd (2.84) = ± 4.67. 5 of 8 weeks inside: 62.5%, not 90%.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narrow? Two reasons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marked its own homework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Training misses sd 2.84; unseen weeks sd 6.99, on average 4.1 too high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season switched off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3 Nov: forecast 70.9, reality 53 (-17.9). A smooth wave can't make a step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recipe: misses made before it knew the answer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Walk forward through the training weeks from 24 Mar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Fit on the weeks before, forecast the next week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down the miss: 32 honest misses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Band = forecast ± the 90th-percentile miss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regression's honest past misses (actual − forecast)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tallest: 7 Apr, the rains arrive (15.1). All misses: ± 8.20. Summer only: ± 3.33.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from the honest misses: 7 of 8 ✅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Same forecast, ± 8.20. The one miss is the season switch, 3 Nov.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band is only as honest as the weeks you measured it 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Same recipe, different starting week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538718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5021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49299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misses from 24 Mar (includes the April switch): ± 8.20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6255868" y="2011680"/>
            <a:ext cx="538718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8748" y="2377440"/>
            <a:ext cx="5021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84468" y="3840480"/>
            <a:ext cx="49299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misses from 19 May (summer only): ± 3.33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forecast gets a band too: 8 of 8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Rate seasonal naive ± 7.01, from 296 misses of 8-week forecasts made at 37 earlier weeks.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turn the knob. Say it like Amaka.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z until the test looks right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Tuning on the answers: expo again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sentence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“Week of 3 Nov: most likely around 56, plausibly 49 to 63; expect bigger misses at season changes.”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· Checkpoint 4: honest test</a:t>
            </a:r>
            <a:endParaRPr lang="en-US" sz="32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1463040"/>
                <a:gridCol w="1828800"/>
                <a:gridCol w="1947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far ahead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90% band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11.25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15.25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rate seasonal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weeks, blind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± 7.01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 of 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one-step naive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6.75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regression · code-book band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5.85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± 4.67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 of 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regression · honest band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week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5.85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± 8.20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 of 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Bring a table like this: split by time + assert + embargo, your baseline on the same period with the same scorer. Real data stays on NIGCOMSAT systems.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50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W5D3-exercise,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features without a leak + the split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fit, read the signs, like with like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three bands · Part D: your Checkpoint 4 table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Leak rule: every feature known before the week starts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Like with like; beat the best baseline (2.24)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Honest band: width from past misses that include the hard weeks, then check coverage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Backtesting: is one split of 8 weeks enough?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W5D3 · Regression Forecasts + Honest Ranges</dc:title>
  <dc:subject>PptxGenJS Presentation</dc:subject>
  <dc:creator>Publica Academy</dc:creator>
  <cp:lastModifiedBy>Publica Academy</cp:lastModifiedBy>
  <cp:revision>1</cp:revision>
  <dcterms:created xsi:type="dcterms:W3CDTF">2026-10-29T22:23:40Z</dcterms:created>
  <dcterms:modified xsi:type="dcterms:W3CDTF">2026-10-29T22:23:40Z</dcterms:modified>
</cp:coreProperties>
</file>