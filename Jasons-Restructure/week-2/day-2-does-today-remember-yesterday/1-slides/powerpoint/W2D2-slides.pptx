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4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Gbps</c:v>
                </c:pt>
              </c:strCache>
            </c:strRef>
          </c:tx>
          <c:spPr>
            <a:solidFill>
              <a:srgbClr val="0A5DB4"/>
            </a:solidFill>
            <a:ln w="25400" cap="flat">
              <a:solidFill>
                <a:srgbClr val="0A5D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A5DB4"/>
              </a:solidFill>
              <a:ln w="9525" cap="flat">
                <a:solidFill>
                  <a:srgbClr val="0A5D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Sheet1!$A$2:$A$57</c:f>
              <c:multiLvlStrCache>
                <c:ptCount val="56"/>
                <c:lvl>
                  <c:pt idx="0">
                    <c:v>wk1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>wk2</c:v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>wk3</c:v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>wk4</c:v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>wk5</c:v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>wk6</c:v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>wk7</c:v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>wk8</c:v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</c:lvl>
              </c:multiLvlStrCache>
            </c:multiLvlStrRef>
          </c:cat>
          <c:val>
            <c:numRef>
              <c:f>Sheet1!$B$2:$B$57</c:f>
              <c:numCache>
                <c:formatCode>General</c:formatCode>
                <c:ptCount val="56"/>
                <c:pt idx="0">
                  <c:v>3.194</c:v>
                </c:pt>
                <c:pt idx="1">
                  <c:v>3.14</c:v>
                </c:pt>
                <c:pt idx="2">
                  <c:v>3.299</c:v>
                </c:pt>
                <c:pt idx="3">
                  <c:v>3.249</c:v>
                </c:pt>
                <c:pt idx="4">
                  <c:v>3.144</c:v>
                </c:pt>
                <c:pt idx="5">
                  <c:v>2.469</c:v>
                </c:pt>
                <c:pt idx="6">
                  <c:v>2.331</c:v>
                </c:pt>
                <c:pt idx="7">
                  <c:v>3.183</c:v>
                </c:pt>
                <c:pt idx="8">
                  <c:v>3.255</c:v>
                </c:pt>
                <c:pt idx="9">
                  <c:v>3.212</c:v>
                </c:pt>
                <c:pt idx="10">
                  <c:v>3.159</c:v>
                </c:pt>
                <c:pt idx="11">
                  <c:v>3.168</c:v>
                </c:pt>
                <c:pt idx="12">
                  <c:v>2.455</c:v>
                </c:pt>
                <c:pt idx="13">
                  <c:v>2.392</c:v>
                </c:pt>
                <c:pt idx="14">
                  <c:v>3.269</c:v>
                </c:pt>
                <c:pt idx="15">
                  <c:v>3.321</c:v>
                </c:pt>
                <c:pt idx="16">
                  <c:v>3.263</c:v>
                </c:pt>
                <c:pt idx="17">
                  <c:v>3.316</c:v>
                </c:pt>
                <c:pt idx="18">
                  <c:v>3.263</c:v>
                </c:pt>
                <c:pt idx="19">
                  <c:v>2.507</c:v>
                </c:pt>
                <c:pt idx="20">
                  <c:v>2.394</c:v>
                </c:pt>
                <c:pt idx="21">
                  <c:v>3.271</c:v>
                </c:pt>
                <c:pt idx="22">
                  <c:v>3.282</c:v>
                </c:pt>
                <c:pt idx="23">
                  <c:v>3.325</c:v>
                </c:pt>
                <c:pt idx="24">
                  <c:v>3.351</c:v>
                </c:pt>
                <c:pt idx="25">
                  <c:v>3.14</c:v>
                </c:pt>
                <c:pt idx="26">
                  <c:v>2.591</c:v>
                </c:pt>
                <c:pt idx="27">
                  <c:v>2.397</c:v>
                </c:pt>
                <c:pt idx="28">
                  <c:v>3.271</c:v>
                </c:pt>
                <c:pt idx="29">
                  <c:v>3.328</c:v>
                </c:pt>
                <c:pt idx="30">
                  <c:v>3.288</c:v>
                </c:pt>
                <c:pt idx="31">
                  <c:v>3.352</c:v>
                </c:pt>
                <c:pt idx="32">
                  <c:v>3.213</c:v>
                </c:pt>
                <c:pt idx="33">
                  <c:v>2.545</c:v>
                </c:pt>
                <c:pt idx="34">
                  <c:v>2.449</c:v>
                </c:pt>
                <c:pt idx="35">
                  <c:v>3.37</c:v>
                </c:pt>
                <c:pt idx="36">
                  <c:v>3.391</c:v>
                </c:pt>
                <c:pt idx="37">
                  <c:v>3.39</c:v>
                </c:pt>
                <c:pt idx="38">
                  <c:v>3.28</c:v>
                </c:pt>
                <c:pt idx="39">
                  <c:v>3.298</c:v>
                </c:pt>
                <c:pt idx="40">
                  <c:v>2.533</c:v>
                </c:pt>
                <c:pt idx="41">
                  <c:v>2.435</c:v>
                </c:pt>
                <c:pt idx="42">
                  <c:v>3.331</c:v>
                </c:pt>
                <c:pt idx="43">
                  <c:v>3.371</c:v>
                </c:pt>
                <c:pt idx="44">
                  <c:v>3.352</c:v>
                </c:pt>
                <c:pt idx="45">
                  <c:v>3.31</c:v>
                </c:pt>
                <c:pt idx="46">
                  <c:v>3.276</c:v>
                </c:pt>
                <c:pt idx="47">
                  <c:v>2.596</c:v>
                </c:pt>
                <c:pt idx="48">
                  <c:v>2.482</c:v>
                </c:pt>
                <c:pt idx="49">
                  <c:v>3.365</c:v>
                </c:pt>
                <c:pt idx="50">
                  <c:v>3.377</c:v>
                </c:pt>
                <c:pt idx="51">
                  <c:v>3.382</c:v>
                </c:pt>
                <c:pt idx="52">
                  <c:v>3.363</c:v>
                </c:pt>
                <c:pt idx="53">
                  <c:v>3.341</c:v>
                </c:pt>
                <c:pt idx="54">
                  <c:v>2.646</c:v>
                </c:pt>
                <c:pt idx="55">
                  <c:v>2.499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7"/>
      </c:catAx>
      <c:valAx>
        <c:axId val="2094734552"/>
        <c:scaling>
          <c:orientation val="minMax"/>
          <c:max val="3.8"/>
          <c:min val="2.2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autocorrelation</c:v>
                </c:pt>
              </c:strCache>
            </c:strRef>
          </c:tx>
          <c:spPr>
            <a:solidFill>
              <a:srgbClr val="0A5DB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7770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C77700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9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20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21"/>
            <c:invertIfNegative val="0"/>
            <c:bubble3D val="0"/>
            <c:spPr>
              <a:solidFill>
                <a:srgbClr val="C77700"/>
              </a:solidFill>
              <a:effectLst/>
            </c:spPr>
          </c:dPt>
          <c:cat>
            <c:multiLvlStrRef>
              <c:f>Sheet1!$A$2:$A$23</c:f>
              <c:multiLvlStrCache>
                <c:ptCount val="22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</c:lvl>
              </c:multiLvlStrCache>
            </c:multiLvl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1</c:v>
                </c:pt>
                <c:pt idx="1">
                  <c:v>0.58</c:v>
                </c:pt>
                <c:pt idx="2">
                  <c:v>0.12</c:v>
                </c:pt>
                <c:pt idx="3">
                  <c:v>0.02</c:v>
                </c:pt>
                <c:pt idx="4">
                  <c:v>0.02</c:v>
                </c:pt>
                <c:pt idx="5">
                  <c:v>0.12</c:v>
                </c:pt>
                <c:pt idx="6">
                  <c:v>0.57</c:v>
                </c:pt>
                <c:pt idx="7">
                  <c:v>0.98</c:v>
                </c:pt>
                <c:pt idx="8">
                  <c:v>0.57</c:v>
                </c:pt>
                <c:pt idx="9">
                  <c:v>0.11</c:v>
                </c:pt>
                <c:pt idx="10">
                  <c:v>0.01</c:v>
                </c:pt>
                <c:pt idx="11">
                  <c:v>0.01</c:v>
                </c:pt>
                <c:pt idx="12">
                  <c:v>0.11</c:v>
                </c:pt>
                <c:pt idx="13">
                  <c:v>0.56</c:v>
                </c:pt>
                <c:pt idx="14">
                  <c:v>0.96</c:v>
                </c:pt>
                <c:pt idx="15">
                  <c:v>0.55</c:v>
                </c:pt>
                <c:pt idx="16">
                  <c:v>0.1</c:v>
                </c:pt>
                <c:pt idx="17">
                  <c:v>0</c:v>
                </c:pt>
                <c:pt idx="18">
                  <c:v>0.01</c:v>
                </c:pt>
                <c:pt idx="19">
                  <c:v>0.1</c:v>
                </c:pt>
                <c:pt idx="20">
                  <c:v>0.55</c:v>
                </c:pt>
                <c:pt idx="21">
                  <c:v>0.94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B1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error (Gbps)</c:v>
                </c:pt>
              </c:strCache>
            </c:strRef>
          </c:tx>
          <c:spPr>
            <a:solidFill>
              <a:srgbClr val="0A5DB4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7770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same as yesterday</c:v>
                  </c:pt>
                  <c:pt idx="1">
                    <c:v>same weekday last week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0.338</c:v>
                </c:pt>
                <c:pt idx="1">
                  <c:v>0.062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0B1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.0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suya (index)</c:v>
                </c:pt>
              </c:strCache>
            </c:strRef>
          </c:tx>
          <c:spPr>
            <a:solidFill>
              <a:srgbClr val="C77700"/>
            </a:solidFill>
            <a:ln w="25400" cap="flat">
              <a:solidFill>
                <a:srgbClr val="C777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77700"/>
              </a:solidFill>
              <a:ln w="9525" cap="flat">
                <a:solidFill>
                  <a:srgbClr val="C777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Sheet1!$A$2:$A$53</c:f>
              <c:multiLvlStrCache>
                <c:ptCount val="52"/>
                <c:lvl>
                  <c:pt idx="0">
                    <c:v>wk1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wk5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wk9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wk13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wk17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wk21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wk25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>wk29</c:v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>wk33</c:v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>wk37</c:v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wk41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>wk45</c:v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>wk49</c:v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</c:lvl>
              </c:multiLvlStrCache>
            </c:multiLvlStrRef>
          </c:cat>
          <c:val>
            <c:numRef>
              <c:f>Sheet1!$B$2:$B$53</c:f>
              <c:numCache>
                <c:formatCode>General</c:formatCode>
                <c:ptCount val="52"/>
                <c:pt idx="0">
                  <c:v>93.5</c:v>
                </c:pt>
                <c:pt idx="1">
                  <c:v>104</c:v>
                </c:pt>
                <c:pt idx="2">
                  <c:v>105.5</c:v>
                </c:pt>
                <c:pt idx="3">
                  <c:v>97</c:v>
                </c:pt>
                <c:pt idx="4">
                  <c:v>100.7</c:v>
                </c:pt>
                <c:pt idx="5">
                  <c:v>101.6</c:v>
                </c:pt>
                <c:pt idx="6">
                  <c:v>110.8</c:v>
                </c:pt>
                <c:pt idx="7">
                  <c:v>109.2</c:v>
                </c:pt>
                <c:pt idx="8">
                  <c:v>116.5</c:v>
                </c:pt>
                <c:pt idx="9">
                  <c:v>102.7</c:v>
                </c:pt>
                <c:pt idx="10">
                  <c:v>126.2</c:v>
                </c:pt>
                <c:pt idx="11">
                  <c:v>118.2</c:v>
                </c:pt>
                <c:pt idx="12">
                  <c:v>125.4</c:v>
                </c:pt>
                <c:pt idx="13">
                  <c:v>122.7</c:v>
                </c:pt>
                <c:pt idx="14">
                  <c:v>123.5</c:v>
                </c:pt>
                <c:pt idx="15">
                  <c:v>131.1</c:v>
                </c:pt>
                <c:pt idx="16">
                  <c:v>135.6</c:v>
                </c:pt>
                <c:pt idx="17">
                  <c:v>131.6</c:v>
                </c:pt>
                <c:pt idx="18">
                  <c:v>134.2</c:v>
                </c:pt>
                <c:pt idx="19">
                  <c:v>141.8</c:v>
                </c:pt>
                <c:pt idx="20">
                  <c:v>134.4</c:v>
                </c:pt>
                <c:pt idx="21">
                  <c:v>132.8</c:v>
                </c:pt>
                <c:pt idx="22">
                  <c:v>147</c:v>
                </c:pt>
                <c:pt idx="23">
                  <c:v>142.6</c:v>
                </c:pt>
                <c:pt idx="24">
                  <c:v>137.2</c:v>
                </c:pt>
                <c:pt idx="25">
                  <c:v>146.4</c:v>
                </c:pt>
                <c:pt idx="26">
                  <c:v>150.9</c:v>
                </c:pt>
                <c:pt idx="27">
                  <c:v>148.8</c:v>
                </c:pt>
                <c:pt idx="28">
                  <c:v>149.2</c:v>
                </c:pt>
                <c:pt idx="29">
                  <c:v>161</c:v>
                </c:pt>
                <c:pt idx="30">
                  <c:v>168.7</c:v>
                </c:pt>
                <c:pt idx="31">
                  <c:v>164</c:v>
                </c:pt>
                <c:pt idx="32">
                  <c:v>163.2</c:v>
                </c:pt>
                <c:pt idx="33">
                  <c:v>172.5</c:v>
                </c:pt>
                <c:pt idx="34">
                  <c:v>176.9</c:v>
                </c:pt>
                <c:pt idx="35">
                  <c:v>172.9</c:v>
                </c:pt>
                <c:pt idx="36">
                  <c:v>180.5</c:v>
                </c:pt>
                <c:pt idx="37">
                  <c:v>185.9</c:v>
                </c:pt>
                <c:pt idx="38">
                  <c:v>180.5</c:v>
                </c:pt>
                <c:pt idx="39">
                  <c:v>179.1</c:v>
                </c:pt>
                <c:pt idx="40">
                  <c:v>188.6</c:v>
                </c:pt>
                <c:pt idx="41">
                  <c:v>190.3</c:v>
                </c:pt>
                <c:pt idx="42">
                  <c:v>197.9</c:v>
                </c:pt>
                <c:pt idx="43">
                  <c:v>185.4</c:v>
                </c:pt>
                <c:pt idx="44">
                  <c:v>191.6</c:v>
                </c:pt>
                <c:pt idx="45">
                  <c:v>192.9</c:v>
                </c:pt>
                <c:pt idx="46">
                  <c:v>189.6</c:v>
                </c:pt>
                <c:pt idx="47">
                  <c:v>203.5</c:v>
                </c:pt>
                <c:pt idx="48">
                  <c:v>208.4</c:v>
                </c:pt>
                <c:pt idx="49">
                  <c:v>202.8</c:v>
                </c:pt>
                <c:pt idx="50">
                  <c:v>218.4</c:v>
                </c:pt>
                <c:pt idx="51">
                  <c:v>217.2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generators (index)</c:v>
                </c:pt>
              </c:strCache>
            </c:strRef>
          </c:tx>
          <c:spPr>
            <a:solidFill>
              <a:srgbClr val="008C7E"/>
            </a:solidFill>
            <a:ln w="25400" cap="flat">
              <a:solidFill>
                <a:srgbClr val="008C7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8C7E"/>
              </a:solidFill>
              <a:ln w="9525" cap="flat">
                <a:solidFill>
                  <a:srgbClr val="008C7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Sheet1!$A$2:$A$53</c:f>
              <c:multiLvlStrCache>
                <c:ptCount val="52"/>
                <c:lvl>
                  <c:pt idx="0">
                    <c:v>wk1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wk5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wk9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wk13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wk17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wk21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wk25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>wk29</c:v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>wk33</c:v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>wk37</c:v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wk41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>wk45</c:v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>wk49</c:v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</c:lvl>
              </c:multiLvlStrCache>
            </c:multiLvlStrRef>
          </c:cat>
          <c:val>
            <c:numRef>
              <c:f>Sheet1!$C$2:$C$53</c:f>
              <c:numCache>
                <c:formatCode>General</c:formatCode>
                <c:ptCount val="52"/>
                <c:pt idx="0">
                  <c:v>100.2</c:v>
                </c:pt>
                <c:pt idx="1">
                  <c:v>100.8</c:v>
                </c:pt>
                <c:pt idx="2">
                  <c:v>108.9</c:v>
                </c:pt>
                <c:pt idx="3">
                  <c:v>90.1</c:v>
                </c:pt>
                <c:pt idx="4">
                  <c:v>111.1</c:v>
                </c:pt>
                <c:pt idx="5">
                  <c:v>114</c:v>
                </c:pt>
                <c:pt idx="6">
                  <c:v>94.5</c:v>
                </c:pt>
                <c:pt idx="7">
                  <c:v>117.1</c:v>
                </c:pt>
                <c:pt idx="8">
                  <c:v>114.3</c:v>
                </c:pt>
                <c:pt idx="9">
                  <c:v>126.8</c:v>
                </c:pt>
                <c:pt idx="10">
                  <c:v>118.4</c:v>
                </c:pt>
                <c:pt idx="11">
                  <c:v>125</c:v>
                </c:pt>
                <c:pt idx="12">
                  <c:v>131.2</c:v>
                </c:pt>
                <c:pt idx="13">
                  <c:v>122.8</c:v>
                </c:pt>
                <c:pt idx="14">
                  <c:v>139.4</c:v>
                </c:pt>
                <c:pt idx="15">
                  <c:v>135.6</c:v>
                </c:pt>
                <c:pt idx="16">
                  <c:v>144.1</c:v>
                </c:pt>
                <c:pt idx="17">
                  <c:v>137.2</c:v>
                </c:pt>
                <c:pt idx="18">
                  <c:v>155.4</c:v>
                </c:pt>
                <c:pt idx="19">
                  <c:v>153.5</c:v>
                </c:pt>
                <c:pt idx="20">
                  <c:v>149.1</c:v>
                </c:pt>
                <c:pt idx="21">
                  <c:v>159.5</c:v>
                </c:pt>
                <c:pt idx="22">
                  <c:v>168.3</c:v>
                </c:pt>
                <c:pt idx="23">
                  <c:v>176.1</c:v>
                </c:pt>
                <c:pt idx="24">
                  <c:v>147.3</c:v>
                </c:pt>
                <c:pt idx="25">
                  <c:v>173</c:v>
                </c:pt>
                <c:pt idx="26">
                  <c:v>172.1</c:v>
                </c:pt>
                <c:pt idx="27">
                  <c:v>169.5</c:v>
                </c:pt>
                <c:pt idx="28">
                  <c:v>163.9</c:v>
                </c:pt>
                <c:pt idx="29">
                  <c:v>188.1</c:v>
                </c:pt>
                <c:pt idx="30">
                  <c:v>167</c:v>
                </c:pt>
                <c:pt idx="31">
                  <c:v>187.1</c:v>
                </c:pt>
                <c:pt idx="32">
                  <c:v>196.9</c:v>
                </c:pt>
                <c:pt idx="33">
                  <c:v>172.4</c:v>
                </c:pt>
                <c:pt idx="34">
                  <c:v>187.4</c:v>
                </c:pt>
                <c:pt idx="35">
                  <c:v>180.8</c:v>
                </c:pt>
                <c:pt idx="36">
                  <c:v>198.1</c:v>
                </c:pt>
                <c:pt idx="37">
                  <c:v>212.9</c:v>
                </c:pt>
                <c:pt idx="38">
                  <c:v>220.7</c:v>
                </c:pt>
                <c:pt idx="39">
                  <c:v>187.8</c:v>
                </c:pt>
                <c:pt idx="40">
                  <c:v>201.9</c:v>
                </c:pt>
                <c:pt idx="41">
                  <c:v>216.6</c:v>
                </c:pt>
                <c:pt idx="42">
                  <c:v>227.6</c:v>
                </c:pt>
                <c:pt idx="43">
                  <c:v>219.8</c:v>
                </c:pt>
                <c:pt idx="44">
                  <c:v>211.6</c:v>
                </c:pt>
                <c:pt idx="45">
                  <c:v>224.2</c:v>
                </c:pt>
                <c:pt idx="46">
                  <c:v>224.2</c:v>
                </c:pt>
                <c:pt idx="47">
                  <c:v>225.1</c:v>
                </c:pt>
                <c:pt idx="48">
                  <c:v>222.9</c:v>
                </c:pt>
                <c:pt idx="49">
                  <c:v>236.4</c:v>
                </c:pt>
                <c:pt idx="50">
                  <c:v>238.3</c:v>
                </c:pt>
                <c:pt idx="51">
                  <c:v>237.4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70"/>
          <c:min val="80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is about memory: some data remembers yesterday, some remembers last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 both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Lag 1 = yesterday, lag 7 = same weekday last week, lag 24 on hourly data = same hour yesterday.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 = with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Friday to Saturday is a big change, so lag 1 is weak; same day last week is strong.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original code book says lag 1 is about 0.83; the real file gives 0.58.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plot_acf(s, lags=35) draws this. Spikes at 7, 14, 21 = weekly season.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questions 2 and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Ka-band one is the bonus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seasonal naive baseline from Week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question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Illustration only, not course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differencing makes it collapse, it was shared trend.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it does not collapse, despite what the original text says.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Feeding uplink power into a rain-fade detector leaks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Tease Lab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pic>
        <p:nvPicPr>
          <p:cNvPr id="3" name="Image 0" descr="/Users/jason/Desktop/nigcomsat-ai-developer/Jasons-Restructure/assets/brand/publica-acade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402336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6336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Publica Academy · Time-Series Programme · W2D2</a:t>
            </a:r>
            <a:endParaRPr lang="en-US" sz="1100" dirty="0"/>
          </a:p>
        </p:txBody>
      </p:sp>
      <p:pic>
        <p:nvPicPr>
          <p:cNvPr id="5" name="Image 1" descr="/Users/jason/Desktop/nigcomsat-ai-developer/Jasons-Restructure/assets/brand/nigcomsa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415" y="6236208"/>
            <a:ext cx="548640" cy="457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74520"/>
            <a:ext cx="69494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9D6E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SECTION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dirty="0">
                <a:solidFill>
                  <a:srgbClr val="C9D6E5"/>
                </a:solidFill>
              </a:defRPr>
            </a:lvl1pPr>
          </a:lstStyle>
          <a:p>
            <a:pPr algn="ctr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RECAP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pic>
        <p:nvPicPr>
          <p:cNvPr id="3" name="Image 0" descr="/Users/jason/Desktop/nigcomsat-ai-developer/Jasons-Restructure/assets/brand/publica-acade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402336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6336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</a:rPr>
              <a:t>Publica Academy · Time-Series Programme · W2D2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315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B83D"/>
                </a:solidFill>
              </a:rPr>
              <a:t>WEEK 2 · DAY 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7452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Today Remember Yesterday?</a:t>
            </a:r>
            <a:endParaRPr lang="en-US" sz="4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947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6E5"/>
                </a:solidFill>
              </a:rPr>
              <a:t>Autocorrelation: measure a series' memory, find its season, and catch fake correlations</a:t>
            </a:r>
            <a:endParaRPr lang="en-US" sz="2000" dirty="0"/>
          </a:p>
        </p:txBody>
      </p:sp>
      <p:sp>
        <p:nvSpPr>
          <p:cNvPr id="5" name="NIGCOMSAT logo card"/>
          <p:cNvSpPr/>
          <p:nvPr/>
        </p:nvSpPr>
        <p:spPr>
          <a:xfrm>
            <a:off x="731520" y="5074920"/>
            <a:ext cx="160020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NIGCOMSA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166360"/>
            <a:ext cx="1143000" cy="960120"/>
          </a:xfrm>
          <a:prstGeom prst="rect">
            <a:avLst/>
          </a:prstGeom>
        </p:spPr>
      </p:pic>
      <p:sp>
        <p:nvSpPr>
          <p:cNvPr id="7" name="Publica logo card"/>
          <p:cNvSpPr/>
          <p:nvPr/>
        </p:nvSpPr>
        <p:spPr>
          <a:xfrm>
            <a:off x="2514600" y="5074920"/>
            <a:ext cx="274320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8" name="Image 1" descr="Publica Academy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5257800"/>
            <a:ext cx="978408" cy="777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794760" y="5212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800" dirty="0"/>
          </a:p>
        </p:txBody>
      </p:sp>
      <p:sp>
        <p:nvSpPr>
          <p:cNvPr id="10" name="earth"/>
          <p:cNvSpPr/>
          <p:nvPr/>
        </p:nvSpPr>
        <p:spPr>
          <a:xfrm>
            <a:off x="8503920" y="1280160"/>
            <a:ext cx="3291840" cy="3291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orbit"/>
          <p:cNvSpPr/>
          <p:nvPr/>
        </p:nvSpPr>
        <p:spPr>
          <a:xfrm>
            <a:off x="7726680" y="502920"/>
            <a:ext cx="4846320" cy="4846320"/>
          </a:xfrm>
          <a:prstGeom prst="ellipse">
            <a:avLst/>
          </a:prstGeom>
          <a:ln w="15875">
            <a:solidFill>
              <a:srgbClr val="3B8BE0"/>
            </a:solidFill>
            <a:prstDash val="dash"/>
          </a:ln>
        </p:spPr>
      </p:sp>
      <p:pic>
        <p:nvPicPr>
          <p:cNvPr id="12" name="satellite" descr="satelli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457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mission: three moves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step icon 1 circle"/>
          <p:cNvSpPr/>
          <p:nvPr/>
        </p:nvSpPr>
        <p:spPr>
          <a:xfrm>
            <a:off x="1681429" y="2057400"/>
            <a:ext cx="1005840" cy="100584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step icon 1" descr="ste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2597" y="2258568"/>
            <a:ext cx="603504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a copy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line today up with yesterday</a:t>
            </a:r>
            <a:endParaRPr lang="en-US" sz="1600" dirty="0"/>
          </a:p>
        </p:txBody>
      </p:sp>
      <p:sp>
        <p:nvSpPr>
          <p:cNvPr id="8" name="arrow 1"/>
          <p:cNvSpPr/>
          <p:nvPr/>
        </p:nvSpPr>
        <p:spPr>
          <a:xfrm>
            <a:off x="3929786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4460138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tep icon 2 circle"/>
          <p:cNvSpPr/>
          <p:nvPr/>
        </p:nvSpPr>
        <p:spPr>
          <a:xfrm>
            <a:off x="5592928" y="2057400"/>
            <a:ext cx="1005840" cy="100584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1" name="step icon 2" descr="ste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096" y="225856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34458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the memory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734458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autocorrelation, lag by lag</a:t>
            </a:r>
            <a:endParaRPr lang="en-US" sz="1600" dirty="0"/>
          </a:p>
        </p:txBody>
      </p:sp>
      <p:sp>
        <p:nvSpPr>
          <p:cNvPr id="14" name="arrow 2"/>
          <p:cNvSpPr/>
          <p:nvPr/>
        </p:nvSpPr>
        <p:spPr>
          <a:xfrm>
            <a:off x="7841285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8371637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step icon 3 circle"/>
          <p:cNvSpPr/>
          <p:nvPr/>
        </p:nvSpPr>
        <p:spPr>
          <a:xfrm>
            <a:off x="9504426" y="2057400"/>
            <a:ext cx="1005840" cy="100584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7" name="step icon 3" descr="ste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594" y="2258568"/>
            <a:ext cx="603504" cy="6035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645957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correlogram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645957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find the season, catch fake links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10 min hook · 30 min slides · 60 min hands-on · 20 min wrap-up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Mainland Bridge was jammed at 8am today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 at 8am?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Probably. Today tells you about tomorrow: memory at lag 1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Monday at 8am?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Even more likely: Mondays look like Mondays. Memory at lag 7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Line a series up with its own past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lag is a copy pushed back in time: s.shift(1)</a:t>
            </a:r>
            <a:endParaRPr lang="en-US" sz="32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2336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Day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today (Gbps)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yesterday = s.shift(1)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Mon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3.194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NaN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Tue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3.140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3.194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Wed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3.299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3.140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Thu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3.249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3.299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Fri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3.144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3.249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Day 1 has no yesterday, so it gets NaN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Autocorrelation</a:t>
            </a:r>
            <a:endParaRPr lang="en-US" sz="3200" dirty="0"/>
          </a:p>
        </p:txBody>
      </p:sp>
      <p:sp>
        <p:nvSpPr>
          <p:cNvPr id="3" name="big icon circle"/>
          <p:cNvSpPr/>
          <p:nvPr/>
        </p:nvSpPr>
        <p:spPr>
          <a:xfrm>
            <a:off x="5090008" y="1463040"/>
            <a:ext cx="2011680" cy="201168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4" name="big icon" descr="bi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2344" y="1865376"/>
            <a:ext cx="1207008" cy="12070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3657600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does the series look like its own shifted copy?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4709160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One number from −1 (opposite) through 0 (no memory) to +1 (perfect copy): s.autocorr(lag=7)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weeks of satellite throughput: weekends dip</a:t>
            </a:r>
            <a:endParaRPr lang="en-US" sz="3200" dirty="0"/>
          </a:p>
        </p:txBody>
      </p:sp>
      <p:graphicFrame>
        <p:nvGraphicFramePr>
          <p:cNvPr id="3" name="line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bandwidth_throughput_daily.csv · first 8 weeks: weekdays ≈ 3.3 Gbps, weekends ≈ 2.5 Gbps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remembers last Monday far better than yesterday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Autocorrelation of daily throughput at four lags</a:t>
            </a:r>
            <a:endParaRPr lang="en-US" sz="1800" dirty="0"/>
          </a:p>
        </p:txBody>
      </p:sp>
      <p:sp>
        <p:nvSpPr>
          <p:cNvPr id="4" name="stat 1"/>
          <p:cNvSpPr/>
          <p:nvPr/>
        </p:nvSpPr>
        <p:spPr>
          <a:xfrm>
            <a:off x="548640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0.58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lag 1 · yesterday</a:t>
            </a:r>
            <a:endParaRPr lang="en-US" sz="1600" dirty="0"/>
          </a:p>
        </p:txBody>
      </p:sp>
      <p:sp>
        <p:nvSpPr>
          <p:cNvPr id="7" name="stat 2"/>
          <p:cNvSpPr/>
          <p:nvPr/>
        </p:nvSpPr>
        <p:spPr>
          <a:xfrm>
            <a:off x="3402254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85134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630854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lag 7 · last week</a:t>
            </a:r>
            <a:endParaRPr lang="en-US" sz="1600" dirty="0"/>
          </a:p>
        </p:txBody>
      </p:sp>
      <p:sp>
        <p:nvSpPr>
          <p:cNvPr id="10" name="stat 3"/>
          <p:cNvSpPr/>
          <p:nvPr/>
        </p:nvSpPr>
        <p:spPr>
          <a:xfrm>
            <a:off x="6255868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38748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6484468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lag 14 · two weeks ago</a:t>
            </a:r>
            <a:endParaRPr lang="en-US" sz="1600" dirty="0"/>
          </a:p>
        </p:txBody>
      </p:sp>
      <p:sp>
        <p:nvSpPr>
          <p:cNvPr id="13" name="stat 4"/>
          <p:cNvSpPr/>
          <p:nvPr/>
        </p:nvSpPr>
        <p:spPr>
          <a:xfrm>
            <a:off x="9109481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92361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0.09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9338081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lag 30 · a month ago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2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Correlogram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Every lag at once, on one chart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correlogram: spikes every 7 days</a:t>
            </a:r>
            <a:endParaRPr lang="en-US" sz="3200" dirty="0"/>
          </a:p>
        </p:txBody>
      </p:sp>
      <p:graphicFrame>
        <p:nvGraphicFramePr>
          <p:cNvPr id="3" name="bar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Lag 0 is always 1: ignore it. Gap between spikes = the period (7)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shapes you'll meet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914400" y="210312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9514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spikes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 season. Period = the gap between spikes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368698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icon 2 circle"/>
          <p:cNvSpPr/>
          <p:nvPr/>
        </p:nvSpPr>
        <p:spPr>
          <a:xfrm>
            <a:off x="4734458" y="210312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0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482" y="2295144"/>
            <a:ext cx="576072" cy="576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34458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decay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734458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 trend. Every step looks like the last (transponder use)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8188757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icon 3 circle"/>
          <p:cNvSpPr/>
          <p:nvPr/>
        </p:nvSpPr>
        <p:spPr>
          <a:xfrm>
            <a:off x="8554517" y="210312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5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541" y="2295144"/>
            <a:ext cx="576072" cy="5760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54517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inside the band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554517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No memory. Pure noise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spikes tell you the season length</a:t>
            </a:r>
            <a:endParaRPr lang="en-US" sz="3200" dirty="0"/>
          </a:p>
        </p:txBody>
      </p:sp>
      <p:graphicFrame>
        <p:nvGraphicFramePr>
          <p:cNvPr id="1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645920"/>
                <a:gridCol w="4663440"/>
                <a:gridCol w="1856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Cadence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What the correlogram shows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Period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Throughput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daily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spikes at 7, 14, 21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7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NOC tickets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daily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lag 7 = 0.72 vs lag 1 = 0.40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7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Battery charge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hourly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lag 24 = 1.00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Ka-band availability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daily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peak at lag 365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365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The period comes from the process. Check it, don't assume it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gives you a free forecast</a:t>
            </a:r>
            <a:endParaRPr lang="en-US" sz="3200" dirty="0"/>
          </a:p>
        </p:txBody>
      </p:sp>
      <p:graphicFrame>
        <p:nvGraphicFramePr>
          <p:cNvPr id="3" name="bar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Average daily error over 2 years: last week's same weekday is about 5× more accurate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split time data at random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split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Same-weekday rows (r = 0.99) land in both train and test. The answer leaks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by time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Train on the past, test on the future. Honest, like an exam with no expo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3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is not cause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When two series move together, ask why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Made-up: suya and generator sales rise together</a:t>
            </a:r>
            <a:endParaRPr lang="en-US" sz="3200" dirty="0"/>
          </a:p>
        </p:txBody>
      </p:sp>
      <p:graphicFrame>
        <p:nvGraphicFramePr>
          <p:cNvPr id="3" name="line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changes, not the levels: .diff()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Levels: r = 0.97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“Suya sells generators!” Looks convincing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Changes: r = 0.06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Collapses: it was only shared trend (Detty December)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case: amplifier temperature vs RF drive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Levels: r = 0.59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Both drift upward over two years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.diff(): r = 0.40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Drops but survives: part shared trend, part real physics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 and uplink power: r = 0.97, but one direction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step icon 1 circle"/>
          <p:cNvSpPr/>
          <p:nvPr/>
        </p:nvSpPr>
        <p:spPr>
          <a:xfrm>
            <a:off x="1681429" y="2057400"/>
            <a:ext cx="1005840" cy="100584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step icon 1" descr="ste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2597" y="2258568"/>
            <a:ext cx="603504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rain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signal fades</a:t>
            </a:r>
            <a:endParaRPr lang="en-US" sz="1600" dirty="0"/>
          </a:p>
        </p:txBody>
      </p:sp>
      <p:sp>
        <p:nvSpPr>
          <p:cNvPr id="8" name="arrow 1"/>
          <p:cNvSpPr/>
          <p:nvPr/>
        </p:nvSpPr>
        <p:spPr>
          <a:xfrm>
            <a:off x="3929786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4460138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tep icon 2 circle"/>
          <p:cNvSpPr/>
          <p:nvPr/>
        </p:nvSpPr>
        <p:spPr>
          <a:xfrm>
            <a:off x="5592928" y="2057400"/>
            <a:ext cx="1005840" cy="100584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1" name="step icon 2" descr="ste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096" y="225856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34458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control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734458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station turns up the power</a:t>
            </a:r>
            <a:endParaRPr lang="en-US" sz="1600" dirty="0"/>
          </a:p>
        </p:txBody>
      </p:sp>
      <p:sp>
        <p:nvSpPr>
          <p:cNvPr id="14" name="arrow 2"/>
          <p:cNvSpPr/>
          <p:nvPr/>
        </p:nvSpPr>
        <p:spPr>
          <a:xfrm>
            <a:off x="7841285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8371637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step icon 3 circle"/>
          <p:cNvSpPr/>
          <p:nvPr/>
        </p:nvSpPr>
        <p:spPr>
          <a:xfrm>
            <a:off x="9504426" y="2057400"/>
            <a:ext cx="1005840" cy="100584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7" name="step icon 3" descr="ste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594" y="2258568"/>
            <a:ext cx="603504" cy="6035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645957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Uplink power rises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645957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 response, not a cause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Turning up the power doesn't make it rain. Ask which causes which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60 minutes</a:t>
            </a:r>
            <a:endParaRPr lang="en-US" sz="3200" dirty="0"/>
          </a:p>
        </p:txBody>
      </p:sp>
      <p:sp>
        <p:nvSpPr>
          <p:cNvPr id="3" name="number 1"/>
          <p:cNvSpPr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002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Open W2D2-exercise in Colab</a:t>
            </a:r>
            <a:endParaRPr lang="en-US" sz="2400" dirty="0"/>
          </a:p>
        </p:txBody>
      </p:sp>
      <p:sp>
        <p:nvSpPr>
          <p:cNvPr id="6" name="number 2"/>
          <p:cNvSpPr/>
          <p:nvPr/>
        </p:nvSpPr>
        <p:spPr>
          <a:xfrm>
            <a:off x="548640" y="262432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24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24328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File → Save a copy in Drive</a:t>
            </a:r>
            <a:endParaRPr lang="en-US" sz="2400" dirty="0"/>
          </a:p>
        </p:txBody>
      </p:sp>
      <p:sp>
        <p:nvSpPr>
          <p:cNvPr id="9" name="number 3"/>
          <p:cNvSpPr/>
          <p:nvPr/>
        </p:nvSpPr>
        <p:spPr>
          <a:xfrm>
            <a:off x="548640" y="3648456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484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648456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Run STEP 0, then top to bottom</a:t>
            </a:r>
            <a:endParaRPr lang="en-US" sz="2400" dirty="0"/>
          </a:p>
        </p:txBody>
      </p:sp>
      <p:sp>
        <p:nvSpPr>
          <p:cNvPr id="12" name="number 4"/>
          <p:cNvSpPr/>
          <p:nvPr/>
        </p:nvSpPr>
        <p:spPr>
          <a:xfrm>
            <a:off x="548640" y="4672584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6725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672584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Replace every ___, run, get the green tick</a:t>
            </a:r>
            <a:endParaRPr lang="en-US" sz="2400" dirty="0"/>
          </a:p>
        </p:txBody>
      </p:sp>
      <p:sp>
        <p:nvSpPr>
          <p:cNvPr id="15" name="icon circle"/>
          <p:cNvSpPr/>
          <p:nvPr/>
        </p:nvSpPr>
        <p:spPr>
          <a:xfrm>
            <a:off x="9418320" y="2011680"/>
            <a:ext cx="2103120" cy="2103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6" name="icon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4" y="2432304"/>
            <a:ext cx="1261872" cy="12618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now know</a:t>
            </a:r>
            <a:endParaRPr lang="en-US" sz="3400" dirty="0"/>
          </a:p>
        </p:txBody>
      </p:sp>
      <p:sp>
        <p:nvSpPr>
          <p:cNvPr id="3" name="recap 1"/>
          <p:cNvSpPr/>
          <p:nvPr/>
        </p:nvSpPr>
        <p:spPr>
          <a:xfrm>
            <a:off x="548640" y="160020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4" name="recap icon 1" descr="reca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60020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Autocorrelation: how much a series matches its own copy shifted by a lag</a:t>
            </a:r>
            <a:endParaRPr lang="en-US" sz="2200" dirty="0"/>
          </a:p>
        </p:txBody>
      </p:sp>
      <p:sp>
        <p:nvSpPr>
          <p:cNvPr id="6" name="recap 2"/>
          <p:cNvSpPr/>
          <p:nvPr/>
        </p:nvSpPr>
        <p:spPr>
          <a:xfrm>
            <a:off x="548640" y="278892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7" name="recap icon 2" descr="reca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71800"/>
            <a:ext cx="594360" cy="5943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278892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Correlogram: spikes = season (gap = period), slow decay = trend, inside band = noise</a:t>
            </a:r>
            <a:endParaRPr lang="en-US" sz="2200" dirty="0"/>
          </a:p>
        </p:txBody>
      </p:sp>
      <p:sp>
        <p:nvSpPr>
          <p:cNvPr id="9" name="recap 3"/>
          <p:cNvSpPr/>
          <p:nvPr/>
        </p:nvSpPr>
        <p:spPr>
          <a:xfrm>
            <a:off x="548640" y="397764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10" name="recap icon 3" descr="reca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60520"/>
            <a:ext cx="594360" cy="5943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737360" y="397764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Two trending series? .diff() first. Correlation ≠ cause, and direction matters</a:t>
            </a:r>
            <a:endParaRPr lang="en-US" sz="22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B83D"/>
                </a:solidFill>
              </a:rPr>
              <a:t>Next: Lab Day + Quiz 1, and you pick your final project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GCOMSAT Time-Series">
  <a:themeElements>
    <a:clrScheme name="NIGCOMSAT Time-Series">
      <a:dk1>
        <a:srgbClr val="0B1622"/>
      </a:dk1>
      <a:lt1>
        <a:srgbClr val="FFFFFF"/>
      </a:lt1>
      <a:dk2>
        <a:srgbClr val="12233A"/>
      </a:dk2>
      <a:lt2>
        <a:srgbClr val="EEF3F8"/>
      </a:lt2>
      <a:accent1>
        <a:srgbClr val="0A5DB4"/>
      </a:accent1>
      <a:accent2>
        <a:srgbClr val="008C7E"/>
      </a:accent2>
      <a:accent3>
        <a:srgbClr val="C77700"/>
      </a:accent3>
      <a:accent4>
        <a:srgbClr val="1E9E5A"/>
      </a:accent4>
      <a:accent5>
        <a:srgbClr val="E5484D"/>
      </a:accent5>
      <a:accent6>
        <a:srgbClr val="5B6B7D"/>
      </a:accent6>
      <a:hlink>
        <a:srgbClr val="0A5DB4"/>
      </a:hlink>
      <a:folHlink>
        <a:srgbClr val="008C7E"/>
      </a:folHlink>
    </a:clrScheme>
    <a:fontScheme name="NIGCOMSAT Time-Seri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Publica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W2D2 · Does Today Remember Yesterday?</dc:title>
  <dc:subject>PptxGenJS Presentation</dc:subject>
  <dc:creator>Publica Academy</dc:creator>
  <cp:lastModifiedBy>Publica Academy</cp:lastModifiedBy>
  <cp:revision>1</cp:revision>
  <dcterms:created xsi:type="dcterms:W3CDTF">2026-10-29T17:05:49Z</dcterms:created>
  <dcterms:modified xsi:type="dcterms:W3CDTF">2026-10-29T17:05:49Z</dcterms:modified>
</cp:coreProperties>
</file>