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capacity (Ah, monthly mean)</c:v>
                </c:pt>
              </c:strCache>
            </c:strRef>
          </c:tx>
          <c:spPr>
            <a:solidFill>
              <a:srgbClr val="0A5DB4"/>
            </a:solidFill>
            <a:ln w="25400" cap="flat">
              <a:solidFill>
                <a:srgbClr val="0A5DB4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0A5DB4"/>
              </a:solidFill>
              <a:ln w="9525" cap="flat">
                <a:solidFill>
                  <a:srgbClr val="0A5DB4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Sheet1!$A$2:$A$37</c:f>
              <c:multiLvlStrCache>
                <c:ptCount val="36"/>
                <c:lvl>
                  <c:pt idx="0">
                    <c:v>Jan 23</c:v>
                  </c:pt>
                  <c:pt idx="1">
                    <c:v/>
                  </c:pt>
                  <c:pt idx="2">
                    <c:v/>
                  </c:pt>
                  <c:pt idx="3">
                    <c:v>Apr 23</c:v>
                  </c:pt>
                  <c:pt idx="4">
                    <c:v/>
                  </c:pt>
                  <c:pt idx="5">
                    <c:v/>
                  </c:pt>
                  <c:pt idx="6">
                    <c:v>Jul 23</c:v>
                  </c:pt>
                  <c:pt idx="7">
                    <c:v/>
                  </c:pt>
                  <c:pt idx="8">
                    <c:v/>
                  </c:pt>
                  <c:pt idx="9">
                    <c:v>Oct 23</c:v>
                  </c:pt>
                  <c:pt idx="10">
                    <c:v/>
                  </c:pt>
                  <c:pt idx="11">
                    <c:v/>
                  </c:pt>
                  <c:pt idx="12">
                    <c:v>Jan 24</c:v>
                  </c:pt>
                  <c:pt idx="13">
                    <c:v/>
                  </c:pt>
                  <c:pt idx="14">
                    <c:v/>
                  </c:pt>
                  <c:pt idx="15">
                    <c:v>Apr 24</c:v>
                  </c:pt>
                  <c:pt idx="16">
                    <c:v/>
                  </c:pt>
                  <c:pt idx="17">
                    <c:v/>
                  </c:pt>
                  <c:pt idx="18">
                    <c:v>Jul 24</c:v>
                  </c:pt>
                  <c:pt idx="19">
                    <c:v/>
                  </c:pt>
                  <c:pt idx="20">
                    <c:v/>
                  </c:pt>
                  <c:pt idx="21">
                    <c:v>Oct 24</c:v>
                  </c:pt>
                  <c:pt idx="22">
                    <c:v/>
                  </c:pt>
                  <c:pt idx="23">
                    <c:v/>
                  </c:pt>
                  <c:pt idx="24">
                    <c:v>Jan 25</c:v>
                  </c:pt>
                  <c:pt idx="25">
                    <c:v/>
                  </c:pt>
                  <c:pt idx="26">
                    <c:v/>
                  </c:pt>
                  <c:pt idx="27">
                    <c:v>Apr 25</c:v>
                  </c:pt>
                  <c:pt idx="28">
                    <c:v/>
                  </c:pt>
                  <c:pt idx="29">
                    <c:v/>
                  </c:pt>
                  <c:pt idx="30">
                    <c:v>Jul 25</c:v>
                  </c:pt>
                  <c:pt idx="31">
                    <c:v/>
                  </c:pt>
                  <c:pt idx="32">
                    <c:v/>
                  </c:pt>
                  <c:pt idx="33">
                    <c:v>Oct 25</c:v>
                  </c:pt>
                  <c:pt idx="34">
                    <c:v/>
                  </c:pt>
                  <c:pt idx="35">
                    <c:v/>
                  </c:pt>
                </c:lvl>
              </c:multiLvlStrCache>
            </c:multiLvlStrRef>
          </c:cat>
          <c:val>
            <c:numRef>
              <c:f>Sheet1!$B$2:$B$37</c:f>
              <c:numCache>
                <c:formatCode>General</c:formatCode>
                <c:ptCount val="36"/>
                <c:pt idx="0">
                  <c:v>103.14</c:v>
                </c:pt>
                <c:pt idx="1">
                  <c:v>102.95</c:v>
                </c:pt>
                <c:pt idx="2">
                  <c:v>102.8</c:v>
                </c:pt>
                <c:pt idx="3">
                  <c:v>102.56</c:v>
                </c:pt>
                <c:pt idx="4">
                  <c:v>102.4</c:v>
                </c:pt>
                <c:pt idx="5">
                  <c:v>102.24</c:v>
                </c:pt>
                <c:pt idx="6">
                  <c:v>102.04</c:v>
                </c:pt>
                <c:pt idx="7">
                  <c:v>101.83</c:v>
                </c:pt>
                <c:pt idx="8">
                  <c:v>101.66</c:v>
                </c:pt>
                <c:pt idx="9">
                  <c:v>101.44</c:v>
                </c:pt>
                <c:pt idx="10">
                  <c:v>101.27</c:v>
                </c:pt>
                <c:pt idx="11">
                  <c:v>101.08</c:v>
                </c:pt>
                <c:pt idx="12">
                  <c:v>100.91</c:v>
                </c:pt>
                <c:pt idx="13">
                  <c:v>100.73</c:v>
                </c:pt>
                <c:pt idx="14">
                  <c:v>100.55</c:v>
                </c:pt>
                <c:pt idx="15">
                  <c:v>100.33</c:v>
                </c:pt>
                <c:pt idx="16">
                  <c:v>100.14</c:v>
                </c:pt>
                <c:pt idx="17">
                  <c:v>99.97</c:v>
                </c:pt>
                <c:pt idx="18">
                  <c:v>99.8</c:v>
                </c:pt>
                <c:pt idx="19">
                  <c:v>99.59</c:v>
                </c:pt>
                <c:pt idx="20">
                  <c:v>99.42</c:v>
                </c:pt>
                <c:pt idx="21">
                  <c:v>99.22</c:v>
                </c:pt>
                <c:pt idx="22">
                  <c:v>99.03</c:v>
                </c:pt>
                <c:pt idx="23">
                  <c:v>98.81</c:v>
                </c:pt>
                <c:pt idx="24">
                  <c:v>98.68</c:v>
                </c:pt>
                <c:pt idx="25">
                  <c:v>98.47</c:v>
                </c:pt>
                <c:pt idx="26">
                  <c:v>98.3</c:v>
                </c:pt>
                <c:pt idx="27">
                  <c:v>98.06</c:v>
                </c:pt>
                <c:pt idx="28">
                  <c:v>97.9</c:v>
                </c:pt>
                <c:pt idx="29">
                  <c:v>97.73</c:v>
                </c:pt>
                <c:pt idx="30">
                  <c:v>97.55</c:v>
                </c:pt>
                <c:pt idx="31">
                  <c:v>97.36</c:v>
                </c:pt>
                <c:pt idx="32">
                  <c:v>97.16</c:v>
                </c:pt>
                <c:pt idx="33">
                  <c:v>97</c:v>
                </c:pt>
                <c:pt idx="34">
                  <c:v>96.79</c:v>
                </c:pt>
                <c:pt idx="35">
                  <c:v>96.65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practice alert line (97 Ah, made up)</c:v>
                </c:pt>
              </c:strCache>
            </c:strRef>
          </c:tx>
          <c:spPr>
            <a:solidFill>
              <a:srgbClr val="E5484D"/>
            </a:solidFill>
            <a:ln w="25400" cap="flat">
              <a:solidFill>
                <a:srgbClr val="E5484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E5484D"/>
              </a:solidFill>
              <a:ln w="9525" cap="flat">
                <a:solidFill>
                  <a:srgbClr val="E5484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Sheet1!$A$2:$A$37</c:f>
              <c:multiLvlStrCache>
                <c:ptCount val="36"/>
                <c:lvl>
                  <c:pt idx="0">
                    <c:v>Jan 23</c:v>
                  </c:pt>
                  <c:pt idx="1">
                    <c:v/>
                  </c:pt>
                  <c:pt idx="2">
                    <c:v/>
                  </c:pt>
                  <c:pt idx="3">
                    <c:v>Apr 23</c:v>
                  </c:pt>
                  <c:pt idx="4">
                    <c:v/>
                  </c:pt>
                  <c:pt idx="5">
                    <c:v/>
                  </c:pt>
                  <c:pt idx="6">
                    <c:v>Jul 23</c:v>
                  </c:pt>
                  <c:pt idx="7">
                    <c:v/>
                  </c:pt>
                  <c:pt idx="8">
                    <c:v/>
                  </c:pt>
                  <c:pt idx="9">
                    <c:v>Oct 23</c:v>
                  </c:pt>
                  <c:pt idx="10">
                    <c:v/>
                  </c:pt>
                  <c:pt idx="11">
                    <c:v/>
                  </c:pt>
                  <c:pt idx="12">
                    <c:v>Jan 24</c:v>
                  </c:pt>
                  <c:pt idx="13">
                    <c:v/>
                  </c:pt>
                  <c:pt idx="14">
                    <c:v/>
                  </c:pt>
                  <c:pt idx="15">
                    <c:v>Apr 24</c:v>
                  </c:pt>
                  <c:pt idx="16">
                    <c:v/>
                  </c:pt>
                  <c:pt idx="17">
                    <c:v/>
                  </c:pt>
                  <c:pt idx="18">
                    <c:v>Jul 24</c:v>
                  </c:pt>
                  <c:pt idx="19">
                    <c:v/>
                  </c:pt>
                  <c:pt idx="20">
                    <c:v/>
                  </c:pt>
                  <c:pt idx="21">
                    <c:v>Oct 24</c:v>
                  </c:pt>
                  <c:pt idx="22">
                    <c:v/>
                  </c:pt>
                  <c:pt idx="23">
                    <c:v/>
                  </c:pt>
                  <c:pt idx="24">
                    <c:v>Jan 25</c:v>
                  </c:pt>
                  <c:pt idx="25">
                    <c:v/>
                  </c:pt>
                  <c:pt idx="26">
                    <c:v/>
                  </c:pt>
                  <c:pt idx="27">
                    <c:v>Apr 25</c:v>
                  </c:pt>
                  <c:pt idx="28">
                    <c:v/>
                  </c:pt>
                  <c:pt idx="29">
                    <c:v/>
                  </c:pt>
                  <c:pt idx="30">
                    <c:v>Jul 25</c:v>
                  </c:pt>
                  <c:pt idx="31">
                    <c:v/>
                  </c:pt>
                  <c:pt idx="32">
                    <c:v/>
                  </c:pt>
                  <c:pt idx="33">
                    <c:v>Oct 25</c:v>
                  </c:pt>
                  <c:pt idx="34">
                    <c:v/>
                  </c:pt>
                  <c:pt idx="35">
                    <c:v/>
                  </c:pt>
                </c:lvl>
              </c:multiLvlStrCache>
            </c:multiLvlStrRef>
          </c:cat>
          <c:val>
            <c:numRef>
              <c:f>Sheet1!$C$2:$C$37</c:f>
              <c:numCache>
                <c:formatCode>General</c:formatCode>
                <c:ptCount val="36"/>
                <c:pt idx="0">
                  <c:v>97</c:v>
                </c:pt>
                <c:pt idx="1">
                  <c:v>97</c:v>
                </c:pt>
                <c:pt idx="2">
                  <c:v>97</c:v>
                </c:pt>
                <c:pt idx="3">
                  <c:v>97</c:v>
                </c:pt>
                <c:pt idx="4">
                  <c:v>97</c:v>
                </c:pt>
                <c:pt idx="5">
                  <c:v>97</c:v>
                </c:pt>
                <c:pt idx="6">
                  <c:v>97</c:v>
                </c:pt>
                <c:pt idx="7">
                  <c:v>97</c:v>
                </c:pt>
                <c:pt idx="8">
                  <c:v>97</c:v>
                </c:pt>
                <c:pt idx="9">
                  <c:v>97</c:v>
                </c:pt>
                <c:pt idx="10">
                  <c:v>97</c:v>
                </c:pt>
                <c:pt idx="11">
                  <c:v>97</c:v>
                </c:pt>
                <c:pt idx="12">
                  <c:v>97</c:v>
                </c:pt>
                <c:pt idx="13">
                  <c:v>97</c:v>
                </c:pt>
                <c:pt idx="14">
                  <c:v>97</c:v>
                </c:pt>
                <c:pt idx="15">
                  <c:v>97</c:v>
                </c:pt>
                <c:pt idx="16">
                  <c:v>97</c:v>
                </c:pt>
                <c:pt idx="17">
                  <c:v>97</c:v>
                </c:pt>
                <c:pt idx="18">
                  <c:v>97</c:v>
                </c:pt>
                <c:pt idx="19">
                  <c:v>97</c:v>
                </c:pt>
                <c:pt idx="20">
                  <c:v>97</c:v>
                </c:pt>
                <c:pt idx="21">
                  <c:v>97</c:v>
                </c:pt>
                <c:pt idx="22">
                  <c:v>97</c:v>
                </c:pt>
                <c:pt idx="23">
                  <c:v>97</c:v>
                </c:pt>
                <c:pt idx="24">
                  <c:v>97</c:v>
                </c:pt>
                <c:pt idx="25">
                  <c:v>97</c:v>
                </c:pt>
                <c:pt idx="26">
                  <c:v>97</c:v>
                </c:pt>
                <c:pt idx="27">
                  <c:v>97</c:v>
                </c:pt>
                <c:pt idx="28">
                  <c:v>97</c:v>
                </c:pt>
                <c:pt idx="29">
                  <c:v>97</c:v>
                </c:pt>
                <c:pt idx="30">
                  <c:v>97</c:v>
                </c:pt>
                <c:pt idx="31">
                  <c:v>97</c:v>
                </c:pt>
                <c:pt idx="32">
                  <c:v>97</c:v>
                </c:pt>
                <c:pt idx="33">
                  <c:v>97</c:v>
                </c:pt>
                <c:pt idx="34">
                  <c:v>97</c:v>
                </c:pt>
                <c:pt idx="35">
                  <c:v>97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D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4"/>
          <c:min val="95"/>
        </c:scaling>
        <c:delete val="0"/>
        <c:axPos val="l"/>
        <c:majorGridlines>
          <c:spPr>
            <a:ln w="9525" cap="flat">
              <a:solidFill>
                <a:srgbClr val="E3E9F0"/>
              </a:solidFill>
              <a:prstDash val="solid"/>
              <a:round/>
            </a:ln>
          </c:spPr>
        </c:majorGridlines>
        <c:numFmt formatCode="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D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200"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Consolidation day: recap game, lab, Quiz 1, project kickoff.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Plus 10 minutes to wrap 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first, then reveal. Numbers come from the Week 3 data files.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battery_health_daily, week-03 version. 97 Ah is a made-up line for practice.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Warn about the trap: the same file name exists in week-03 and week-04.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Same format as the final-project report.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Google Forms CSV and printable quiz are in 2-exercise/quiz/.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Kickoff.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Naija versions: strange satellite hours; tired battery; rain cutting signal; full expressway; VSAT sites giving wahala.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checks: my unit? data available? someone owns the process?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Committing restricted data is a serious failure.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Fifteen minutes at the end of each of those days.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Template is on the worksheet.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Week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5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_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indent="0" marL="0">
              <a:buNone/>
            </a:pPr>
            <a:endParaRPr lang="en-US" sz="3200" dirty="0"/>
          </a:p>
        </p:txBody>
      </p:sp>
      <p:pic>
        <p:nvPicPr>
          <p:cNvPr id="3" name="Image 0" descr="/Users/jason/Desktop/nigcomsat-ai-developer/Jasons-Restructure/assets/brand/publica-academy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336792"/>
            <a:ext cx="402336" cy="32004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051560" y="6336792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Publica Academy · Time-Series Programme · W2D3</a:t>
            </a:r>
            <a:endParaRPr lang="en-US" sz="1100" dirty="0"/>
          </a:p>
        </p:txBody>
      </p:sp>
      <p:pic>
        <p:nvPicPr>
          <p:cNvPr id="5" name="Image 1" descr="/Users/jason/Desktop/nigcomsat-ai-developer/Jasons-Restructure/assets/brand/nigcomsat-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94415" y="6236208"/>
            <a:ext cx="548640" cy="4572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08615" y="6336792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TITLE">
    <p:bg>
      <p:bgPr>
        <a:solidFill>
          <a:srgbClr val="0B16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874520"/>
            <a:ext cx="6949440" cy="1828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2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4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794760"/>
            <a:ext cx="676656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rgbClr val="C9D6E5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SECTION">
    <p:bg>
      <p:bgPr>
        <a:solidFill>
          <a:srgbClr val="0B16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468880"/>
            <a:ext cx="11094415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4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ctr" indent="0" marL="0">
              <a:buNone/>
            </a:pP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703320"/>
            <a:ext cx="11094415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2200" dirty="0">
                <a:solidFill>
                  <a:srgbClr val="C9D6E5"/>
                </a:solidFill>
              </a:defRPr>
            </a:lvl1pPr>
          </a:lstStyle>
          <a:p>
            <a:pPr algn="ctr" indent="0" marL="0">
              <a:buNone/>
            </a:pPr>
            <a:endParaRPr lang="en-US" sz="220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RECAP">
    <p:bg>
      <p:bgPr>
        <a:solidFill>
          <a:srgbClr val="0B16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indent="0" marL="0">
              <a:buNone/>
            </a:pPr>
            <a:endParaRPr lang="en-US" sz="3400" dirty="0"/>
          </a:p>
        </p:txBody>
      </p:sp>
      <p:pic>
        <p:nvPicPr>
          <p:cNvPr id="3" name="Image 0" descr="/Users/jason/Desktop/nigcomsat-ai-developer/Jasons-Restructure/assets/brand/publica-academy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336792"/>
            <a:ext cx="402336" cy="32004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051560" y="6336792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C6"/>
                </a:solidFill>
              </a:rPr>
              <a:t>Publica Academy · Time-Series Programme · W2D3</a:t>
            </a:r>
            <a:endParaRPr lang="en-US" sz="11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08615" y="6336792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31520" y="14173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5B83D"/>
                </a:solidFill>
              </a:rPr>
              <a:t>WEEK 2 · DAY 3</a:t>
            </a:r>
            <a:endParaRPr lang="en-US" sz="14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731520" y="1874520"/>
            <a:ext cx="6949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 Day + Quiz 1 + Pick Your Project</a:t>
            </a:r>
            <a:endParaRPr lang="en-US" sz="42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731520" y="3794760"/>
            <a:ext cx="6766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C9D6E5"/>
                </a:solidFill>
              </a:rPr>
              <a:t>One real investigation, one quiz, and the start of your final project</a:t>
            </a:r>
            <a:endParaRPr lang="en-US" sz="2000" dirty="0"/>
          </a:p>
        </p:txBody>
      </p:sp>
      <p:sp>
        <p:nvSpPr>
          <p:cNvPr id="5" name="NIGCOMSAT logo card"/>
          <p:cNvSpPr/>
          <p:nvPr/>
        </p:nvSpPr>
        <p:spPr>
          <a:xfrm>
            <a:off x="731520" y="5074920"/>
            <a:ext cx="1600200" cy="1143000"/>
          </a:xfrm>
          <a:prstGeom prst="roundRect">
            <a:avLst>
              <a:gd name="adj" fmla="val 12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pic>
        <p:nvPicPr>
          <p:cNvPr id="6" name="Image 0" descr="NIGCOMSAT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5166360"/>
            <a:ext cx="1143000" cy="960120"/>
          </a:xfrm>
          <a:prstGeom prst="rect">
            <a:avLst/>
          </a:prstGeom>
        </p:spPr>
      </p:pic>
      <p:sp>
        <p:nvSpPr>
          <p:cNvPr id="7" name="Publica logo card"/>
          <p:cNvSpPr/>
          <p:nvPr/>
        </p:nvSpPr>
        <p:spPr>
          <a:xfrm>
            <a:off x="2514600" y="5074920"/>
            <a:ext cx="2743200" cy="1143000"/>
          </a:xfrm>
          <a:prstGeom prst="roundRect">
            <a:avLst>
              <a:gd name="adj" fmla="val 12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pic>
        <p:nvPicPr>
          <p:cNvPr id="8" name="Image 1" descr="Publica Academy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7480" y="5257800"/>
            <a:ext cx="978408" cy="77724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3794760" y="5212080"/>
            <a:ext cx="1371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Publica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Academy</a:t>
            </a:r>
            <a:endParaRPr lang="en-US" sz="1800" dirty="0"/>
          </a:p>
        </p:txBody>
      </p:sp>
      <p:sp>
        <p:nvSpPr>
          <p:cNvPr id="10" name="earth"/>
          <p:cNvSpPr/>
          <p:nvPr/>
        </p:nvSpPr>
        <p:spPr>
          <a:xfrm>
            <a:off x="8503920" y="1280160"/>
            <a:ext cx="3291840" cy="32918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orbit"/>
          <p:cNvSpPr/>
          <p:nvPr/>
        </p:nvSpPr>
        <p:spPr>
          <a:xfrm>
            <a:off x="7726680" y="502920"/>
            <a:ext cx="4846320" cy="4846320"/>
          </a:xfrm>
          <a:prstGeom prst="ellipse">
            <a:avLst/>
          </a:prstGeom>
          <a:ln w="15875">
            <a:solidFill>
              <a:srgbClr val="3B8BE0"/>
            </a:solidFill>
            <a:prstDash val="dash"/>
          </a:ln>
        </p:spPr>
      </p:sp>
      <p:pic>
        <p:nvPicPr>
          <p:cNvPr id="12" name="satellite" descr="satellit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0" y="457200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Today's mission: four moves</a:t>
            </a:r>
            <a:endParaRPr lang="en-US" sz="3200" dirty="0"/>
          </a:p>
        </p:txBody>
      </p:sp>
      <p:sp>
        <p:nvSpPr>
          <p:cNvPr id="3" name="card 1"/>
          <p:cNvSpPr/>
          <p:nvPr/>
        </p:nvSpPr>
        <p:spPr>
          <a:xfrm>
            <a:off x="548640" y="1691640"/>
            <a:ext cx="2499284" cy="3383280"/>
          </a:xfrm>
          <a:prstGeom prst="roundRect">
            <a:avLst>
              <a:gd name="adj" fmla="val 6586"/>
            </a:avLst>
          </a:prstGeom>
          <a:solidFill>
            <a:schemeClr val="bg2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4" name="icon 1 circle"/>
          <p:cNvSpPr/>
          <p:nvPr/>
        </p:nvSpPr>
        <p:spPr>
          <a:xfrm>
            <a:off x="914400" y="2103120"/>
            <a:ext cx="960120" cy="960120"/>
          </a:xfrm>
          <a:prstGeom prst="ellipse">
            <a:avLst/>
          </a:prstGeom>
          <a:solidFill>
            <a:schemeClr val="accent1">
              <a:alpha val="16000"/>
            </a:schemeClr>
          </a:solidFill>
          <a:ln w="12700">
            <a:solidFill>
              <a:schemeClr val="accent1">
                <a:alpha val="40000"/>
              </a:schemeClr>
            </a:solidFill>
            <a:prstDash val="solid"/>
          </a:ln>
        </p:spPr>
      </p:sp>
      <p:pic>
        <p:nvPicPr>
          <p:cNvPr id="5" name="icon 1" descr="icon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6424" y="2295144"/>
            <a:ext cx="576072" cy="57607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914400" y="3291840"/>
            <a:ext cx="17677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Recap game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3977640"/>
            <a:ext cx="17677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8 quick questions · 15 min</a:t>
            </a:r>
            <a:endParaRPr lang="en-US" sz="1600" dirty="0"/>
          </a:p>
        </p:txBody>
      </p:sp>
      <p:sp>
        <p:nvSpPr>
          <p:cNvPr id="8" name="card 2"/>
          <p:cNvSpPr/>
          <p:nvPr/>
        </p:nvSpPr>
        <p:spPr>
          <a:xfrm>
            <a:off x="3413684" y="1691640"/>
            <a:ext cx="2499284" cy="3383280"/>
          </a:xfrm>
          <a:prstGeom prst="roundRect">
            <a:avLst>
              <a:gd name="adj" fmla="val 6586"/>
            </a:avLst>
          </a:prstGeom>
          <a:solidFill>
            <a:schemeClr val="bg2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9" name="icon 2 circle"/>
          <p:cNvSpPr/>
          <p:nvPr/>
        </p:nvSpPr>
        <p:spPr>
          <a:xfrm>
            <a:off x="3779444" y="2103120"/>
            <a:ext cx="960120" cy="960120"/>
          </a:xfrm>
          <a:prstGeom prst="ellipse">
            <a:avLst/>
          </a:prstGeom>
          <a:solidFill>
            <a:schemeClr val="accent2">
              <a:alpha val="16000"/>
            </a:schemeClr>
          </a:solidFill>
          <a:ln w="12700">
            <a:solidFill>
              <a:schemeClr val="accent2">
                <a:alpha val="40000"/>
              </a:schemeClr>
            </a:solidFill>
            <a:prstDash val="solid"/>
          </a:ln>
        </p:spPr>
      </p:sp>
      <p:pic>
        <p:nvPicPr>
          <p:cNvPr id="10" name="icon 2" descr="icon 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1468" y="2295144"/>
            <a:ext cx="576072" cy="57607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779444" y="3291840"/>
            <a:ext cx="17677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 investigation</a:t>
            </a:r>
            <a:endParaRPr lang="en-US" sz="2200" dirty="0"/>
          </a:p>
        </p:txBody>
      </p:sp>
      <p:sp>
        <p:nvSpPr>
          <p:cNvPr id="12" name="Text 8"/>
          <p:cNvSpPr txBox="1"/>
          <p:nvPr/>
        </p:nvSpPr>
        <p:spPr>
          <a:xfrm>
            <a:off x="3779444" y="3977640"/>
            <a:ext cx="17677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is our battery getting tired? · 50 min</a:t>
            </a:r>
            <a:endParaRPr lang="en-US" sz="1600" dirty="0"/>
          </a:p>
        </p:txBody>
      </p:sp>
      <p:sp>
        <p:nvSpPr>
          <p:cNvPr id="13" name="card 3"/>
          <p:cNvSpPr/>
          <p:nvPr/>
        </p:nvSpPr>
        <p:spPr>
          <a:xfrm>
            <a:off x="6278728" y="1691640"/>
            <a:ext cx="2499284" cy="3383280"/>
          </a:xfrm>
          <a:prstGeom prst="roundRect">
            <a:avLst>
              <a:gd name="adj" fmla="val 6586"/>
            </a:avLst>
          </a:prstGeom>
          <a:solidFill>
            <a:schemeClr val="bg2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14" name="icon 3 circle"/>
          <p:cNvSpPr/>
          <p:nvPr/>
        </p:nvSpPr>
        <p:spPr>
          <a:xfrm>
            <a:off x="6644488" y="2103120"/>
            <a:ext cx="960120" cy="960120"/>
          </a:xfrm>
          <a:prstGeom prst="ellipse">
            <a:avLst/>
          </a:prstGeom>
          <a:solidFill>
            <a:schemeClr val="accent3">
              <a:alpha val="16000"/>
            </a:schemeClr>
          </a:solidFill>
          <a:ln w="12700">
            <a:solidFill>
              <a:schemeClr val="accent3">
                <a:alpha val="40000"/>
              </a:schemeClr>
            </a:solidFill>
            <a:prstDash val="solid"/>
          </a:ln>
        </p:spPr>
      </p:sp>
      <p:pic>
        <p:nvPicPr>
          <p:cNvPr id="15" name="icon 3" descr="icon 3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6512" y="2295144"/>
            <a:ext cx="576072" cy="576072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644488" y="3291840"/>
            <a:ext cx="17677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Quiz 1</a:t>
            </a:r>
            <a:endParaRPr lang="en-US" sz="2200" dirty="0"/>
          </a:p>
        </p:txBody>
      </p:sp>
      <p:sp>
        <p:nvSpPr>
          <p:cNvPr id="17" name="Text 12"/>
          <p:cNvSpPr txBox="1"/>
          <p:nvPr/>
        </p:nvSpPr>
        <p:spPr>
          <a:xfrm>
            <a:off x="6644488" y="3977640"/>
            <a:ext cx="17677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30 questions, just you · 20 min</a:t>
            </a:r>
            <a:endParaRPr lang="en-US" sz="1600" dirty="0"/>
          </a:p>
        </p:txBody>
      </p:sp>
      <p:sp>
        <p:nvSpPr>
          <p:cNvPr id="18" name="card 4"/>
          <p:cNvSpPr/>
          <p:nvPr/>
        </p:nvSpPr>
        <p:spPr>
          <a:xfrm>
            <a:off x="9143771" y="1691640"/>
            <a:ext cx="2499284" cy="3383280"/>
          </a:xfrm>
          <a:prstGeom prst="roundRect">
            <a:avLst>
              <a:gd name="adj" fmla="val 6586"/>
            </a:avLst>
          </a:prstGeom>
          <a:solidFill>
            <a:schemeClr val="bg2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19" name="icon 4 circle"/>
          <p:cNvSpPr/>
          <p:nvPr/>
        </p:nvSpPr>
        <p:spPr>
          <a:xfrm>
            <a:off x="9509531" y="2103120"/>
            <a:ext cx="960120" cy="960120"/>
          </a:xfrm>
          <a:prstGeom prst="ellipse">
            <a:avLst/>
          </a:prstGeom>
          <a:solidFill>
            <a:schemeClr val="accent4">
              <a:alpha val="16000"/>
            </a:schemeClr>
          </a:solidFill>
          <a:ln w="12700">
            <a:solidFill>
              <a:schemeClr val="accent4">
                <a:alpha val="40000"/>
              </a:schemeClr>
            </a:solidFill>
            <a:prstDash val="solid"/>
          </a:ln>
        </p:spPr>
      </p:sp>
      <p:pic>
        <p:nvPicPr>
          <p:cNvPr id="20" name="icon 4" descr="icon 4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01555" y="2295144"/>
            <a:ext cx="576072" cy="576072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9509531" y="3291840"/>
            <a:ext cx="17677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kickoff</a:t>
            </a:r>
            <a:endParaRPr lang="en-US" sz="2200" dirty="0"/>
          </a:p>
        </p:txBody>
      </p:sp>
      <p:sp>
        <p:nvSpPr>
          <p:cNvPr id="22" name="Text 16"/>
          <p:cNvSpPr txBox="1"/>
          <p:nvPr/>
        </p:nvSpPr>
        <p:spPr>
          <a:xfrm>
            <a:off x="9509531" y="3977640"/>
            <a:ext cx="17677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pick your brief · 25 min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08615" y="6336792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Sharp-sharp recap: Weeks 1–2</a:t>
            </a:r>
            <a:endParaRPr lang="en-US" sz="3200" dirty="0"/>
          </a:p>
        </p:txBody>
      </p:sp>
      <p:graphicFrame>
        <p:nvGraphicFramePr>
          <p:cNvPr id="4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4415" cy="914400"/>
        </p:xfrm>
        <a:graphic>
          <a:graphicData uri="http://schemas.openxmlformats.org/drawingml/2006/table">
            <a:tbl>
              <a:tblPr/>
              <a:tblGrid>
                <a:gridCol w="5669280"/>
                <a:gridCol w="542239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Question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6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Answer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62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B1622"/>
                          </a:solidFill>
                        </a:rPr>
                        <a:t>Shuffle the rows of a series: still a time series?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No: the order carries the information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B1622"/>
                          </a:solidFill>
                        </a:rPr>
                        <a:t>1,093 rows for 1,096 days: what reveals the gaps?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.asfreq("D"): missing days appear as NaN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B1622"/>
                          </a:solidFill>
                        </a:rPr>
                        <a:t>11 August days had a link-down hour. How many had a negative daily mean?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Zero. Report SLAs from the minimum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B1622"/>
                          </a:solidFill>
                        </a:rPr>
                        <a:t>Weekend tickets ≈ half of weekday. Which window?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7 days: one full week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B1622"/>
                          </a:solidFill>
                        </a:rPr>
                        <a:t>Live dashboard: trailing or centred window?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Trailing: centred peeks at the future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B1622"/>
                          </a:solidFill>
                        </a:rPr>
                        <a:t>Decompose daily NOC tickets: which period?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7: the working week sets it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B1622"/>
                          </a:solidFill>
                        </a:rPr>
                        <a:t>Lag 1 = 0.58, lag 7 = 0.99. Meaning?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Weekly repeat: same weekday last week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B1622"/>
                          </a:solidFill>
                        </a:rPr>
                        <a:t>Temperature vs drive: 0.59. Cause?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Not proven: 0.40 after differencing (shared trend)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08615" y="6336792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lab: is our battery getting tired?</a:t>
            </a:r>
            <a:endParaRPr lang="en-US" sz="3200" dirty="0"/>
          </a:p>
        </p:txBody>
      </p:sp>
      <p:graphicFrame>
        <p:nvGraphicFramePr>
          <p:cNvPr id="3" name="line chart" descr=""/>
          <p:cNvGraphicFramePr/>
          <p:nvPr/>
        </p:nvGraphicFramePr>
        <p:xfrm>
          <a:off x="548640" y="1371600"/>
          <a:ext cx="11094415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62356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08615" y="6336792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lab in 7 steps</a:t>
            </a:r>
            <a:endParaRPr lang="en-US" sz="3200" dirty="0"/>
          </a:p>
        </p:txBody>
      </p:sp>
      <p:graphicFrame>
        <p:nvGraphicFramePr>
          <p:cNvPr id="6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4415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2743200"/>
                <a:gridCol w="752551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#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6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Step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6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The tool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62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B1622"/>
                          </a:solidFill>
                        </a:rPr>
                        <a:t>1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Load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the week-03 file, parse_dates, index_col, .asfreq("D")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B1622"/>
                          </a:solidFill>
                        </a:rPr>
                        <a:t>2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Profile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rows, empty cells, duplicate timestamps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B1622"/>
                          </a:solidFill>
                        </a:rPr>
                        <a:t>3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Plot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threshold line + a title that states a finding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B1622"/>
                          </a:solidFill>
                        </a:rPr>
                        <a:t>4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Smooth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a trailing rolling window long enough to swallow the eclipse pattern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B1622"/>
                          </a:solidFill>
                        </a:rPr>
                        <a:t>5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Decompose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seasonal_decompose with a period the process justifies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B1622"/>
                          </a:solidFill>
                        </a:rPr>
                        <a:t>6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ACF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the correlogram confirms the period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B1622"/>
                          </a:solidFill>
                        </a:rPr>
                        <a:t>7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Finding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Situation · Observation · Implication · Recommendation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08615" y="6336792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4-sentence finding</a:t>
            </a:r>
            <a:endParaRPr lang="en-US" sz="3200" dirty="0"/>
          </a:p>
        </p:txBody>
      </p:sp>
      <p:graphicFrame>
        <p:nvGraphicFramePr>
          <p:cNvPr id="7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4415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71423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Sentence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6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Example (from noc_tickets_daily)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62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B1622"/>
                          </a:solidFill>
                        </a:rPr>
                        <a:t>Situation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The NOC staffs every day of the week the same way.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B1622"/>
                          </a:solidFill>
                        </a:rPr>
                        <a:t>Observation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Weekends average 3.4 tickets a day vs 7.1 on weekdays (48%).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B1622"/>
                          </a:solidFill>
                        </a:rPr>
                        <a:t>Implication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Weekend shifts carry about half the load of weekday shifts.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B1622"/>
                          </a:solidFill>
                        </a:rPr>
                        <a:t>Recommendation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Trial a lighter weekend roster with one engineer on call.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62356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6"/>
                </a:solidFill>
              </a:rPr>
              <a:t>The Observation always carries a number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08615" y="6336792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Quiz 1: Weeks 1–2</a:t>
            </a:r>
            <a:endParaRPr lang="en-US" sz="3200" dirty="0"/>
          </a:p>
        </p:txBody>
      </p:sp>
      <p:sp>
        <p:nvSpPr>
          <p:cNvPr id="3" name="big icon circle"/>
          <p:cNvSpPr/>
          <p:nvPr/>
        </p:nvSpPr>
        <p:spPr>
          <a:xfrm>
            <a:off x="5090008" y="1463040"/>
            <a:ext cx="2011680" cy="2011680"/>
          </a:xfrm>
          <a:prstGeom prst="ellipse">
            <a:avLst/>
          </a:prstGeom>
          <a:solidFill>
            <a:schemeClr val="accent1">
              <a:alpha val="16000"/>
            </a:schemeClr>
          </a:solidFill>
          <a:ln w="12700">
            <a:solidFill>
              <a:schemeClr val="accent1">
                <a:alpha val="40000"/>
              </a:schemeClr>
            </a:solidFill>
            <a:prstDash val="solid"/>
          </a:ln>
        </p:spPr>
      </p:sp>
      <p:pic>
        <p:nvPicPr>
          <p:cNvPr id="4" name="big icon" descr="big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92344" y="1865376"/>
            <a:ext cx="1207008" cy="120700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005840" y="3657600"/>
            <a:ext cx="1018001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questions · 20 minutes · just you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1463040" y="4709160"/>
            <a:ext cx="92656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accent6"/>
                </a:solidFill>
              </a:rPr>
              <a:t>Phones down, notebooks closed, no AI button. We mark it together.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08615" y="6336792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96596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400" kern="0" dirty="0">
                <a:solidFill>
                  <a:srgbClr val="F5B83D"/>
                </a:solidFill>
              </a:rPr>
              <a:t>FINAL PROJECT</a:t>
            </a:r>
            <a:endParaRPr lang="en-US" sz="16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2468880"/>
            <a:ext cx="110944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 Your Project</a:t>
            </a:r>
            <a:endParaRPr lang="en-US" sz="48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548640" y="37033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ctr" indent="0" marL="0">
              <a:buNone/>
            </a:pPr>
            <a:r>
              <a:rPr lang="en-US" sz="2200" dirty="0">
                <a:solidFill>
                  <a:srgbClr val="C9D6E5"/>
                </a:solidFill>
              </a:rPr>
              <a:t>One real problem · your unit's data · a tool they can open</a:t>
            </a:r>
            <a:endParaRPr lang="en-US" sz="2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ONE brief</a:t>
            </a:r>
            <a:endParaRPr lang="en-US" sz="3200" dirty="0"/>
          </a:p>
        </p:txBody>
      </p:sp>
      <p:sp>
        <p:nvSpPr>
          <p:cNvPr id="3" name="card 1"/>
          <p:cNvSpPr/>
          <p:nvPr/>
        </p:nvSpPr>
        <p:spPr>
          <a:xfrm>
            <a:off x="548640" y="1828800"/>
            <a:ext cx="1926275" cy="2926080"/>
          </a:xfrm>
          <a:prstGeom prst="roundRect">
            <a:avLst>
              <a:gd name="adj" fmla="val 8545"/>
            </a:avLst>
          </a:prstGeom>
          <a:solidFill>
            <a:schemeClr val="bg2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4" name="icon 1 circle"/>
          <p:cNvSpPr/>
          <p:nvPr/>
        </p:nvSpPr>
        <p:spPr>
          <a:xfrm>
            <a:off x="749808" y="2240280"/>
            <a:ext cx="960120" cy="960120"/>
          </a:xfrm>
          <a:prstGeom prst="ellipse">
            <a:avLst/>
          </a:prstGeom>
          <a:solidFill>
            <a:schemeClr val="accent1">
              <a:alpha val="16000"/>
            </a:schemeClr>
          </a:solidFill>
          <a:ln w="12700">
            <a:solidFill>
              <a:schemeClr val="accent1">
                <a:alpha val="40000"/>
              </a:schemeClr>
            </a:solidFill>
            <a:prstDash val="solid"/>
          </a:ln>
        </p:spPr>
      </p:sp>
      <p:pic>
        <p:nvPicPr>
          <p:cNvPr id="5" name="icon 1" descr="icon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832" y="2432304"/>
            <a:ext cx="576072" cy="57607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49808" y="3429000"/>
            <a:ext cx="152393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Telemetry anomalies</a:t>
            </a:r>
            <a:endParaRPr lang="en-US" sz="1800" dirty="0"/>
          </a:p>
        </p:txBody>
      </p:sp>
      <p:sp>
        <p:nvSpPr>
          <p:cNvPr id="7" name="card 2"/>
          <p:cNvSpPr/>
          <p:nvPr/>
        </p:nvSpPr>
        <p:spPr>
          <a:xfrm>
            <a:off x="2840675" y="1828800"/>
            <a:ext cx="1926275" cy="2926080"/>
          </a:xfrm>
          <a:prstGeom prst="roundRect">
            <a:avLst>
              <a:gd name="adj" fmla="val 8545"/>
            </a:avLst>
          </a:prstGeom>
          <a:solidFill>
            <a:schemeClr val="bg2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8" name="icon 2 circle"/>
          <p:cNvSpPr/>
          <p:nvPr/>
        </p:nvSpPr>
        <p:spPr>
          <a:xfrm>
            <a:off x="3041843" y="2240280"/>
            <a:ext cx="960120" cy="960120"/>
          </a:xfrm>
          <a:prstGeom prst="ellipse">
            <a:avLst/>
          </a:prstGeom>
          <a:solidFill>
            <a:schemeClr val="accent2">
              <a:alpha val="16000"/>
            </a:schemeClr>
          </a:solidFill>
          <a:ln w="12700">
            <a:solidFill>
              <a:schemeClr val="accent2">
                <a:alpha val="40000"/>
              </a:schemeClr>
            </a:solidFill>
            <a:prstDash val="solid"/>
          </a:ln>
        </p:spPr>
      </p:sp>
      <p:pic>
        <p:nvPicPr>
          <p:cNvPr id="9" name="icon 2" descr="icon 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3867" y="2432304"/>
            <a:ext cx="576072" cy="576072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3041843" y="3429000"/>
            <a:ext cx="152393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Battery ageing</a:t>
            </a:r>
            <a:endParaRPr lang="en-US" sz="1800" dirty="0"/>
          </a:p>
        </p:txBody>
      </p:sp>
      <p:sp>
        <p:nvSpPr>
          <p:cNvPr id="11" name="card 3"/>
          <p:cNvSpPr/>
          <p:nvPr/>
        </p:nvSpPr>
        <p:spPr>
          <a:xfrm>
            <a:off x="5132710" y="1828800"/>
            <a:ext cx="1926275" cy="2926080"/>
          </a:xfrm>
          <a:prstGeom prst="roundRect">
            <a:avLst>
              <a:gd name="adj" fmla="val 8545"/>
            </a:avLst>
          </a:prstGeom>
          <a:solidFill>
            <a:schemeClr val="bg2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12" name="icon 3 circle"/>
          <p:cNvSpPr/>
          <p:nvPr/>
        </p:nvSpPr>
        <p:spPr>
          <a:xfrm>
            <a:off x="5333878" y="2240280"/>
            <a:ext cx="960120" cy="960120"/>
          </a:xfrm>
          <a:prstGeom prst="ellipse">
            <a:avLst/>
          </a:prstGeom>
          <a:solidFill>
            <a:schemeClr val="accent3">
              <a:alpha val="16000"/>
            </a:schemeClr>
          </a:solidFill>
          <a:ln w="12700">
            <a:solidFill>
              <a:schemeClr val="accent3">
                <a:alpha val="40000"/>
              </a:schemeClr>
            </a:solidFill>
            <a:prstDash val="solid"/>
          </a:ln>
        </p:spPr>
      </p:sp>
      <p:pic>
        <p:nvPicPr>
          <p:cNvPr id="13" name="icon 3" descr="icon 3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25902" y="2432304"/>
            <a:ext cx="576072" cy="576072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5333878" y="3429000"/>
            <a:ext cx="152393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RF link quality</a:t>
            </a:r>
            <a:endParaRPr lang="en-US" sz="1800" dirty="0"/>
          </a:p>
        </p:txBody>
      </p:sp>
      <p:sp>
        <p:nvSpPr>
          <p:cNvPr id="15" name="card 4"/>
          <p:cNvSpPr/>
          <p:nvPr/>
        </p:nvSpPr>
        <p:spPr>
          <a:xfrm>
            <a:off x="7424745" y="1828800"/>
            <a:ext cx="1926275" cy="2926080"/>
          </a:xfrm>
          <a:prstGeom prst="roundRect">
            <a:avLst>
              <a:gd name="adj" fmla="val 8545"/>
            </a:avLst>
          </a:prstGeom>
          <a:solidFill>
            <a:schemeClr val="bg2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16" name="icon 4 circle"/>
          <p:cNvSpPr/>
          <p:nvPr/>
        </p:nvSpPr>
        <p:spPr>
          <a:xfrm>
            <a:off x="7625913" y="2240280"/>
            <a:ext cx="960120" cy="960120"/>
          </a:xfrm>
          <a:prstGeom prst="ellipse">
            <a:avLst/>
          </a:prstGeom>
          <a:solidFill>
            <a:schemeClr val="accent4">
              <a:alpha val="16000"/>
            </a:schemeClr>
          </a:solidFill>
          <a:ln w="12700">
            <a:solidFill>
              <a:schemeClr val="accent4">
                <a:alpha val="40000"/>
              </a:schemeClr>
            </a:solidFill>
            <a:prstDash val="solid"/>
          </a:ln>
        </p:spPr>
      </p:sp>
      <p:pic>
        <p:nvPicPr>
          <p:cNvPr id="17" name="icon 4" descr="icon 4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7937" y="2432304"/>
            <a:ext cx="576072" cy="576072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7625913" y="3429000"/>
            <a:ext cx="152393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 Capacity</a:t>
            </a:r>
            <a:endParaRPr lang="en-US" sz="1800" dirty="0"/>
          </a:p>
        </p:txBody>
      </p:sp>
      <p:sp>
        <p:nvSpPr>
          <p:cNvPr id="19" name="card 5"/>
          <p:cNvSpPr/>
          <p:nvPr/>
        </p:nvSpPr>
        <p:spPr>
          <a:xfrm>
            <a:off x="9716780" y="1828800"/>
            <a:ext cx="1926275" cy="2926080"/>
          </a:xfrm>
          <a:prstGeom prst="roundRect">
            <a:avLst>
              <a:gd name="adj" fmla="val 8545"/>
            </a:avLst>
          </a:prstGeom>
          <a:solidFill>
            <a:schemeClr val="bg2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20" name="icon 5 circle"/>
          <p:cNvSpPr/>
          <p:nvPr/>
        </p:nvSpPr>
        <p:spPr>
          <a:xfrm>
            <a:off x="9917948" y="2240280"/>
            <a:ext cx="960120" cy="960120"/>
          </a:xfrm>
          <a:prstGeom prst="ellipse">
            <a:avLst/>
          </a:prstGeom>
          <a:solidFill>
            <a:schemeClr val="accent1">
              <a:alpha val="16000"/>
            </a:schemeClr>
          </a:solidFill>
          <a:ln w="12700">
            <a:solidFill>
              <a:schemeClr val="accent1">
                <a:alpha val="40000"/>
              </a:schemeClr>
            </a:solidFill>
            <a:prstDash val="solid"/>
          </a:ln>
        </p:spPr>
      </p:sp>
      <p:pic>
        <p:nvPicPr>
          <p:cNvPr id="21" name="icon 5" descr="icon 5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09972" y="2432304"/>
            <a:ext cx="576072" cy="576072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9917948" y="3429000"/>
            <a:ext cx="152393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E. Site downtime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08615" y="6336792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 a process, not a topic</a:t>
            </a:r>
            <a:endParaRPr lang="en-US" sz="3200" dirty="0"/>
          </a:p>
        </p:txBody>
      </p:sp>
      <p:sp>
        <p:nvSpPr>
          <p:cNvPr id="3" name="left card"/>
          <p:cNvSpPr/>
          <p:nvPr/>
        </p:nvSpPr>
        <p:spPr>
          <a:xfrm>
            <a:off x="548640" y="1645920"/>
            <a:ext cx="5318608" cy="3931920"/>
          </a:xfrm>
          <a:prstGeom prst="roundRect">
            <a:avLst>
              <a:gd name="adj" fmla="val 4186"/>
            </a:avLst>
          </a:prstGeom>
          <a:solidFill>
            <a:schemeClr val="bg2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4" name="left icon circle"/>
          <p:cNvSpPr/>
          <p:nvPr/>
        </p:nvSpPr>
        <p:spPr>
          <a:xfrm>
            <a:off x="960120" y="2057400"/>
            <a:ext cx="1097280" cy="1097280"/>
          </a:xfrm>
          <a:prstGeom prst="ellipse">
            <a:avLst/>
          </a:prstGeom>
          <a:solidFill>
            <a:schemeClr val="accent4">
              <a:alpha val="16000"/>
            </a:schemeClr>
          </a:solidFill>
          <a:ln w="12700">
            <a:solidFill>
              <a:schemeClr val="accent4">
                <a:alpha val="40000"/>
              </a:schemeClr>
            </a:solidFill>
            <a:prstDash val="solid"/>
          </a:ln>
        </p:spPr>
      </p:sp>
      <p:pic>
        <p:nvPicPr>
          <p:cNvPr id="5" name="left icon" descr="left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9576" y="2276856"/>
            <a:ext cx="658368" cy="65836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960120" y="3383280"/>
            <a:ext cx="44956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 vague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960120" y="4069080"/>
            <a:ext cx="449564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6"/>
                </a:solidFill>
              </a:rPr>
              <a:t>“Satellite data”, “Network performance”, “Something with AI”</a:t>
            </a:r>
            <a:endParaRPr lang="en-US" sz="1800" dirty="0"/>
          </a:p>
        </p:txBody>
      </p:sp>
      <p:sp>
        <p:nvSpPr>
          <p:cNvPr id="8" name="right card"/>
          <p:cNvSpPr/>
          <p:nvPr/>
        </p:nvSpPr>
        <p:spPr>
          <a:xfrm>
            <a:off x="6324448" y="1645920"/>
            <a:ext cx="5318608" cy="3931920"/>
          </a:xfrm>
          <a:prstGeom prst="roundRect">
            <a:avLst>
              <a:gd name="adj" fmla="val 4186"/>
            </a:avLst>
          </a:prstGeom>
          <a:solidFill>
            <a:schemeClr val="bg2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9" name="right icon circle"/>
          <p:cNvSpPr/>
          <p:nvPr/>
        </p:nvSpPr>
        <p:spPr>
          <a:xfrm>
            <a:off x="6735928" y="2057400"/>
            <a:ext cx="1097280" cy="1097280"/>
          </a:xfrm>
          <a:prstGeom prst="ellipse">
            <a:avLst/>
          </a:prstGeom>
          <a:solidFill>
            <a:schemeClr val="accent5">
              <a:alpha val="16000"/>
            </a:schemeClr>
          </a:solidFill>
          <a:ln w="12700">
            <a:solidFill>
              <a:schemeClr val="accent5">
                <a:alpha val="40000"/>
              </a:schemeClr>
            </a:solidFill>
            <a:prstDash val="solid"/>
          </a:ln>
        </p:spPr>
      </p:sp>
      <p:pic>
        <p:nvPicPr>
          <p:cNvPr id="10" name="right icon" descr="right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5384" y="2276856"/>
            <a:ext cx="658368" cy="65836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6735928" y="3383280"/>
            <a:ext cx="44956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Named process + owner</a:t>
            </a:r>
            <a:endParaRPr lang="en-US" sz="2600" dirty="0"/>
          </a:p>
        </p:txBody>
      </p:sp>
      <p:sp>
        <p:nvSpPr>
          <p:cNvPr id="12" name="Text 8"/>
          <p:cNvSpPr txBox="1"/>
          <p:nvPr/>
        </p:nvSpPr>
        <p:spPr>
          <a:xfrm>
            <a:off x="6735928" y="4069080"/>
            <a:ext cx="449564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6"/>
                </a:solidFill>
              </a:rPr>
              <a:t>“The weekly battery-health review on the bus subsystem”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08615" y="6336792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data rules</a:t>
            </a:r>
            <a:endParaRPr lang="en-US" sz="3200" dirty="0"/>
          </a:p>
        </p:txBody>
      </p:sp>
      <p:sp>
        <p:nvSpPr>
          <p:cNvPr id="3" name="card 1"/>
          <p:cNvSpPr/>
          <p:nvPr/>
        </p:nvSpPr>
        <p:spPr>
          <a:xfrm>
            <a:off x="548640" y="1691640"/>
            <a:ext cx="3454298" cy="3383280"/>
          </a:xfrm>
          <a:prstGeom prst="roundRect">
            <a:avLst>
              <a:gd name="adj" fmla="val 4865"/>
            </a:avLst>
          </a:prstGeom>
          <a:solidFill>
            <a:schemeClr val="bg2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4" name="icon 1 circle"/>
          <p:cNvSpPr/>
          <p:nvPr/>
        </p:nvSpPr>
        <p:spPr>
          <a:xfrm>
            <a:off x="914400" y="2103120"/>
            <a:ext cx="960120" cy="960120"/>
          </a:xfrm>
          <a:prstGeom prst="ellipse">
            <a:avLst/>
          </a:prstGeom>
          <a:solidFill>
            <a:schemeClr val="accent1">
              <a:alpha val="16000"/>
            </a:schemeClr>
          </a:solidFill>
          <a:ln w="12700">
            <a:solidFill>
              <a:schemeClr val="accent1">
                <a:alpha val="40000"/>
              </a:schemeClr>
            </a:solidFill>
            <a:prstDash val="solid"/>
          </a:ln>
        </p:spPr>
      </p:sp>
      <p:pic>
        <p:nvPicPr>
          <p:cNvPr id="5" name="icon 1" descr="icon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6424" y="2295144"/>
            <a:ext cx="576072" cy="57607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914400" y="3291840"/>
            <a:ext cx="27227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Stays in-house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3977640"/>
            <a:ext cx="272277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Real NIGCOMSAT data does not go into Colab without written OK</a:t>
            </a:r>
            <a:endParaRPr lang="en-US" sz="1600" dirty="0"/>
          </a:p>
        </p:txBody>
      </p:sp>
      <p:sp>
        <p:nvSpPr>
          <p:cNvPr id="8" name="card 2"/>
          <p:cNvSpPr/>
          <p:nvPr/>
        </p:nvSpPr>
        <p:spPr>
          <a:xfrm>
            <a:off x="4368698" y="1691640"/>
            <a:ext cx="3454298" cy="3383280"/>
          </a:xfrm>
          <a:prstGeom prst="roundRect">
            <a:avLst>
              <a:gd name="adj" fmla="val 4865"/>
            </a:avLst>
          </a:prstGeom>
          <a:solidFill>
            <a:schemeClr val="bg2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9" name="icon 2 circle"/>
          <p:cNvSpPr/>
          <p:nvPr/>
        </p:nvSpPr>
        <p:spPr>
          <a:xfrm>
            <a:off x="4734458" y="2103120"/>
            <a:ext cx="960120" cy="960120"/>
          </a:xfrm>
          <a:prstGeom prst="ellipse">
            <a:avLst/>
          </a:prstGeom>
          <a:solidFill>
            <a:schemeClr val="accent2">
              <a:alpha val="16000"/>
            </a:schemeClr>
          </a:solidFill>
          <a:ln w="12700">
            <a:solidFill>
              <a:schemeClr val="accent2">
                <a:alpha val="40000"/>
              </a:schemeClr>
            </a:solidFill>
            <a:prstDash val="solid"/>
          </a:ln>
        </p:spPr>
      </p:sp>
      <p:pic>
        <p:nvPicPr>
          <p:cNvPr id="10" name="icon 2" descr="icon 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6482" y="2295144"/>
            <a:ext cx="576072" cy="57607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734458" y="3291840"/>
            <a:ext cx="27227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only on GitHub</a:t>
            </a:r>
            <a:endParaRPr lang="en-US" sz="2200" dirty="0"/>
          </a:p>
        </p:txBody>
      </p:sp>
      <p:sp>
        <p:nvSpPr>
          <p:cNvPr id="12" name="Text 8"/>
          <p:cNvSpPr txBox="1"/>
          <p:nvPr/>
        </p:nvSpPr>
        <p:spPr>
          <a:xfrm>
            <a:off x="4734458" y="3977640"/>
            <a:ext cx="272277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Commit code, never the raw export</a:t>
            </a:r>
            <a:endParaRPr lang="en-US" sz="1600" dirty="0"/>
          </a:p>
        </p:txBody>
      </p:sp>
      <p:sp>
        <p:nvSpPr>
          <p:cNvPr id="13" name="card 3"/>
          <p:cNvSpPr/>
          <p:nvPr/>
        </p:nvSpPr>
        <p:spPr>
          <a:xfrm>
            <a:off x="8188757" y="1691640"/>
            <a:ext cx="3454298" cy="3383280"/>
          </a:xfrm>
          <a:prstGeom prst="roundRect">
            <a:avLst>
              <a:gd name="adj" fmla="val 4865"/>
            </a:avLst>
          </a:prstGeom>
          <a:solidFill>
            <a:schemeClr val="bg2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14" name="icon 3 circle"/>
          <p:cNvSpPr/>
          <p:nvPr/>
        </p:nvSpPr>
        <p:spPr>
          <a:xfrm>
            <a:off x="8554517" y="2103120"/>
            <a:ext cx="960120" cy="960120"/>
          </a:xfrm>
          <a:prstGeom prst="ellipse">
            <a:avLst/>
          </a:prstGeom>
          <a:solidFill>
            <a:schemeClr val="accent3">
              <a:alpha val="16000"/>
            </a:schemeClr>
          </a:solidFill>
          <a:ln w="12700">
            <a:solidFill>
              <a:schemeClr val="accent3">
                <a:alpha val="40000"/>
              </a:schemeClr>
            </a:solidFill>
            <a:prstDash val="solid"/>
          </a:ln>
        </p:spPr>
      </p:sp>
      <p:pic>
        <p:nvPicPr>
          <p:cNvPr id="15" name="icon 3" descr="icon 3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46541" y="2295144"/>
            <a:ext cx="576072" cy="576072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554517" y="3291840"/>
            <a:ext cx="27227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never sees it</a:t>
            </a:r>
            <a:endParaRPr lang="en-US" sz="2200" dirty="0"/>
          </a:p>
        </p:txBody>
      </p:sp>
      <p:sp>
        <p:nvSpPr>
          <p:cNvPr id="17" name="Text 12"/>
          <p:cNvSpPr txBox="1"/>
          <p:nvPr/>
        </p:nvSpPr>
        <p:spPr>
          <a:xfrm>
            <a:off x="8554517" y="3977640"/>
            <a:ext cx="272277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Describe the shape, never paste restricted data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08615" y="6336792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checkpoints to demo day</a:t>
            </a:r>
            <a:endParaRPr lang="en-US" sz="3200" dirty="0"/>
          </a:p>
        </p:txBody>
      </p:sp>
      <p:graphicFrame>
        <p:nvGraphicFramePr>
          <p:cNvPr id="13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4415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560320"/>
                <a:gridCol w="578815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When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6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Checkpoint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6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Bring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62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B1622"/>
                          </a:solidFill>
                        </a:rPr>
                        <a:t>Week 2 · Day 3 (today)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Brief chosen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Your brief, the named process, the draft email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B1622"/>
                          </a:solidFill>
                        </a:rPr>
                        <a:t>Week 3 · Day 3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Data in hand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Unit head's reply + your data loaded and profiled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B1622"/>
                          </a:solidFill>
                        </a:rPr>
                        <a:t>Week 4 · Day 3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Method drafted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First version of your method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B1622"/>
                          </a:solidFill>
                        </a:rPr>
                        <a:t>Week 5 · Day 3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Honest test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Temporal split + baseline comparison table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B1622"/>
                          </a:solidFill>
                        </a:rPr>
                        <a:t>Week 6 · Day 3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Demo day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Working tool, report, 5-minute demo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08615" y="6336792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Homework before Week 3 · Day 3</a:t>
            </a:r>
            <a:endParaRPr lang="en-US" sz="3200" dirty="0"/>
          </a:p>
        </p:txBody>
      </p:sp>
      <p:sp>
        <p:nvSpPr>
          <p:cNvPr id="3" name="number 1"/>
          <p:cNvSpPr/>
          <p:nvPr/>
        </p:nvSpPr>
        <p:spPr>
          <a:xfrm>
            <a:off x="548640" y="160020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6002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1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1554480" y="1600200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Fill in the project kickoff worksheet</a:t>
            </a:r>
            <a:endParaRPr lang="en-US" sz="2400" dirty="0"/>
          </a:p>
        </p:txBody>
      </p:sp>
      <p:sp>
        <p:nvSpPr>
          <p:cNvPr id="6" name="number 2"/>
          <p:cNvSpPr/>
          <p:nvPr/>
        </p:nvSpPr>
        <p:spPr>
          <a:xfrm>
            <a:off x="548640" y="2624328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2624328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2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1554480" y="2624328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Name your process and its owner</a:t>
            </a:r>
            <a:endParaRPr lang="en-US" sz="2400" dirty="0"/>
          </a:p>
        </p:txBody>
      </p:sp>
      <p:sp>
        <p:nvSpPr>
          <p:cNvPr id="9" name="number 3"/>
          <p:cNvSpPr/>
          <p:nvPr/>
        </p:nvSpPr>
        <p:spPr>
          <a:xfrm>
            <a:off x="548640" y="3648456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3648456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3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1554480" y="3648456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Send the email to your unit head</a:t>
            </a:r>
            <a:endParaRPr lang="en-US" sz="2400" dirty="0"/>
          </a:p>
        </p:txBody>
      </p:sp>
      <p:sp>
        <p:nvSpPr>
          <p:cNvPr id="12" name="number 4"/>
          <p:cNvSpPr/>
          <p:nvPr/>
        </p:nvSpPr>
        <p:spPr>
          <a:xfrm>
            <a:off x="548640" y="4672584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4672584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4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1554480" y="4672584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Bring the reply to Week 3 · Day 3</a:t>
            </a:r>
            <a:endParaRPr lang="en-US" sz="2400" dirty="0"/>
          </a:p>
        </p:txBody>
      </p:sp>
      <p:sp>
        <p:nvSpPr>
          <p:cNvPr id="15" name="icon circle"/>
          <p:cNvSpPr/>
          <p:nvPr/>
        </p:nvSpPr>
        <p:spPr>
          <a:xfrm>
            <a:off x="9418320" y="2011680"/>
            <a:ext cx="2103120" cy="2103120"/>
          </a:xfrm>
          <a:prstGeom prst="ellipse">
            <a:avLst/>
          </a:prstGeom>
          <a:solidFill>
            <a:schemeClr val="accent2">
              <a:alpha val="16000"/>
            </a:schemeClr>
          </a:solidFill>
          <a:ln w="12700">
            <a:solidFill>
              <a:schemeClr val="accent2">
                <a:alpha val="40000"/>
              </a:schemeClr>
            </a:solidFill>
            <a:prstDash val="solid"/>
          </a:ln>
        </p:spPr>
      </p:sp>
      <p:pic>
        <p:nvPicPr>
          <p:cNvPr id="16" name="icon" descr="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38944" y="2432304"/>
            <a:ext cx="1261872" cy="126187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08615" y="6336792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 did today</a:t>
            </a:r>
            <a:endParaRPr lang="en-US" sz="3400" dirty="0"/>
          </a:p>
        </p:txBody>
      </p:sp>
      <p:sp>
        <p:nvSpPr>
          <p:cNvPr id="3" name="recap 1"/>
          <p:cNvSpPr/>
          <p:nvPr/>
        </p:nvSpPr>
        <p:spPr>
          <a:xfrm>
            <a:off x="548640" y="1600200"/>
            <a:ext cx="11094415" cy="960120"/>
          </a:xfrm>
          <a:prstGeom prst="roundRect">
            <a:avLst>
              <a:gd name="adj" fmla="val 14286"/>
            </a:avLst>
          </a:prstGeom>
          <a:solidFill>
            <a:schemeClr val="tx2"/>
          </a:solidFill>
          <a:ln w="12700">
            <a:solidFill>
              <a:srgbClr val="24384F"/>
            </a:solidFill>
            <a:prstDash val="solid"/>
          </a:ln>
        </p:spPr>
      </p:sp>
      <p:pic>
        <p:nvPicPr>
          <p:cNvPr id="4" name="recap icon 1" descr="recap icon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783080"/>
            <a:ext cx="594360" cy="59436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737360" y="1600200"/>
            <a:ext cx="963137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bg1"/>
                </a:solidFill>
              </a:rPr>
              <a:t>Ran a full investigation: load → profile → plot → smooth → decompose → ACF → finding</a:t>
            </a:r>
            <a:endParaRPr lang="en-US" sz="2200" dirty="0"/>
          </a:p>
        </p:txBody>
      </p:sp>
      <p:sp>
        <p:nvSpPr>
          <p:cNvPr id="6" name="recap 2"/>
          <p:cNvSpPr/>
          <p:nvPr/>
        </p:nvSpPr>
        <p:spPr>
          <a:xfrm>
            <a:off x="548640" y="2788920"/>
            <a:ext cx="11094415" cy="960120"/>
          </a:xfrm>
          <a:prstGeom prst="roundRect">
            <a:avLst>
              <a:gd name="adj" fmla="val 14286"/>
            </a:avLst>
          </a:prstGeom>
          <a:solidFill>
            <a:schemeClr val="tx2"/>
          </a:solidFill>
          <a:ln w="12700">
            <a:solidFill>
              <a:srgbClr val="24384F"/>
            </a:solidFill>
            <a:prstDash val="solid"/>
          </a:ln>
        </p:spPr>
      </p:sp>
      <p:pic>
        <p:nvPicPr>
          <p:cNvPr id="7" name="recap icon 2" descr="recap icon 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2971800"/>
            <a:ext cx="594360" cy="59436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737360" y="2788920"/>
            <a:ext cx="963137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bg1"/>
                </a:solidFill>
              </a:rPr>
              <a:t>Quiz 1 done: Weeks 1–2 checked</a:t>
            </a:r>
            <a:endParaRPr lang="en-US" sz="2200" dirty="0"/>
          </a:p>
        </p:txBody>
      </p:sp>
      <p:sp>
        <p:nvSpPr>
          <p:cNvPr id="9" name="recap 3"/>
          <p:cNvSpPr/>
          <p:nvPr/>
        </p:nvSpPr>
        <p:spPr>
          <a:xfrm>
            <a:off x="548640" y="3977640"/>
            <a:ext cx="11094415" cy="960120"/>
          </a:xfrm>
          <a:prstGeom prst="roundRect">
            <a:avLst>
              <a:gd name="adj" fmla="val 14286"/>
            </a:avLst>
          </a:prstGeom>
          <a:solidFill>
            <a:schemeClr val="tx2"/>
          </a:solidFill>
          <a:ln w="12700">
            <a:solidFill>
              <a:srgbClr val="24384F"/>
            </a:solidFill>
            <a:prstDash val="solid"/>
          </a:ln>
        </p:spPr>
      </p:sp>
      <p:pic>
        <p:nvPicPr>
          <p:cNvPr id="10" name="recap icon 3" descr="recap icon 3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4160520"/>
            <a:ext cx="594360" cy="59436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737360" y="3977640"/>
            <a:ext cx="963137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bg1"/>
                </a:solidFill>
              </a:rPr>
              <a:t>Project started: brief picked, process named, email on its way</a:t>
            </a:r>
            <a:endParaRPr lang="en-US" sz="2200" dirty="0"/>
          </a:p>
        </p:txBody>
      </p:sp>
      <p:sp>
        <p:nvSpPr>
          <p:cNvPr id="12" name="Text 7"/>
          <p:cNvSpPr txBox="1"/>
          <p:nvPr/>
        </p:nvSpPr>
        <p:spPr>
          <a:xfrm>
            <a:off x="548640" y="534924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B83D"/>
                </a:solidFill>
              </a:rPr>
              <a:t>Next week: Alarms That Cry Wolf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IGCOMSAT Time-Series">
  <a:themeElements>
    <a:clrScheme name="NIGCOMSAT Time-Series">
      <a:dk1>
        <a:srgbClr val="0B1622"/>
      </a:dk1>
      <a:lt1>
        <a:srgbClr val="FFFFFF"/>
      </a:lt1>
      <a:dk2>
        <a:srgbClr val="12233A"/>
      </a:dk2>
      <a:lt2>
        <a:srgbClr val="EEF3F8"/>
      </a:lt2>
      <a:accent1>
        <a:srgbClr val="0A5DB4"/>
      </a:accent1>
      <a:accent2>
        <a:srgbClr val="008C7E"/>
      </a:accent2>
      <a:accent3>
        <a:srgbClr val="C77700"/>
      </a:accent3>
      <a:accent4>
        <a:srgbClr val="1E9E5A"/>
      </a:accent4>
      <a:accent5>
        <a:srgbClr val="E5484D"/>
      </a:accent5>
      <a:accent6>
        <a:srgbClr val="5B6B7D"/>
      </a:accent6>
      <a:hlink>
        <a:srgbClr val="0A5DB4"/>
      </a:hlink>
      <a:folHlink>
        <a:srgbClr val="008C7E"/>
      </a:folHlink>
    </a:clrScheme>
    <a:fontScheme name="NIGCOMSAT Time-Serie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Publica Academy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W2D3 · Lab Day + Quiz 1 + Pick Your Project</dc:title>
  <dc:subject>PptxGenJS Presentation</dc:subject>
  <dc:creator>Publica Academy</dc:creator>
  <cp:lastModifiedBy>Publica Academy</cp:lastModifiedBy>
  <cp:revision>1</cp:revision>
  <dcterms:created xsi:type="dcterms:W3CDTF">2026-10-29T16:44:47Z</dcterms:created>
  <dcterms:modified xsi:type="dcterms:W3CDTF">2026-10-29T16:44:47Z</dcterms:modified>
</cp:coreProperties>
</file>