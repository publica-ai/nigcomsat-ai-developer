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(Ah, monthly mean)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103.14</c:v>
                </c:pt>
                <c:pt idx="1">
                  <c:v>102.95</c:v>
                </c:pt>
                <c:pt idx="2">
                  <c:v>102.8</c:v>
                </c:pt>
                <c:pt idx="3">
                  <c:v>102.56</c:v>
                </c:pt>
                <c:pt idx="4">
                  <c:v>102.4</c:v>
                </c:pt>
                <c:pt idx="5">
                  <c:v>102.24</c:v>
                </c:pt>
                <c:pt idx="6">
                  <c:v>102.04</c:v>
                </c:pt>
                <c:pt idx="7">
                  <c:v>101.83</c:v>
                </c:pt>
                <c:pt idx="8">
                  <c:v>101.66</c:v>
                </c:pt>
                <c:pt idx="9">
                  <c:v>101.44</c:v>
                </c:pt>
                <c:pt idx="10">
                  <c:v>101.27</c:v>
                </c:pt>
                <c:pt idx="11">
                  <c:v>101.08</c:v>
                </c:pt>
                <c:pt idx="12">
                  <c:v>100.91</c:v>
                </c:pt>
                <c:pt idx="13">
                  <c:v>100.73</c:v>
                </c:pt>
                <c:pt idx="14">
                  <c:v>100.55</c:v>
                </c:pt>
                <c:pt idx="15">
                  <c:v>100.33</c:v>
                </c:pt>
                <c:pt idx="16">
                  <c:v>100.14</c:v>
                </c:pt>
                <c:pt idx="17">
                  <c:v>99.97</c:v>
                </c:pt>
                <c:pt idx="18">
                  <c:v>99.8</c:v>
                </c:pt>
                <c:pt idx="19">
                  <c:v>99.59</c:v>
                </c:pt>
                <c:pt idx="20">
                  <c:v>99.42</c:v>
                </c:pt>
                <c:pt idx="21">
                  <c:v>99.22</c:v>
                </c:pt>
                <c:pt idx="22">
                  <c:v>99.03</c:v>
                </c:pt>
                <c:pt idx="23">
                  <c:v>98.81</c:v>
                </c:pt>
                <c:pt idx="24">
                  <c:v>98.68</c:v>
                </c:pt>
                <c:pt idx="25">
                  <c:v>98.47</c:v>
                </c:pt>
                <c:pt idx="26">
                  <c:v>98.3</c:v>
                </c:pt>
                <c:pt idx="27">
                  <c:v>98.06</c:v>
                </c:pt>
                <c:pt idx="28">
                  <c:v>97.9</c:v>
                </c:pt>
                <c:pt idx="29">
                  <c:v>97.73</c:v>
                </c:pt>
                <c:pt idx="30">
                  <c:v>97.55</c:v>
                </c:pt>
                <c:pt idx="31">
                  <c:v>97.36</c:v>
                </c:pt>
                <c:pt idx="32">
                  <c:v>97.16</c:v>
                </c:pt>
                <c:pt idx="33">
                  <c:v>97</c:v>
                </c:pt>
                <c:pt idx="34">
                  <c:v>96.79</c:v>
                </c:pt>
                <c:pt idx="35">
                  <c:v>96.65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practice alert line (97 Ah, made up)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97</c:v>
                </c:pt>
                <c:pt idx="1">
                  <c:v>97</c:v>
                </c:pt>
                <c:pt idx="2">
                  <c:v>97</c:v>
                </c:pt>
                <c:pt idx="3">
                  <c:v>97</c:v>
                </c:pt>
                <c:pt idx="4">
                  <c:v>97</c:v>
                </c:pt>
                <c:pt idx="5">
                  <c:v>97</c:v>
                </c:pt>
                <c:pt idx="6">
                  <c:v>97</c:v>
                </c:pt>
                <c:pt idx="7">
                  <c:v>97</c:v>
                </c:pt>
                <c:pt idx="8">
                  <c:v>97</c:v>
                </c:pt>
                <c:pt idx="9">
                  <c:v>97</c:v>
                </c:pt>
                <c:pt idx="10">
                  <c:v>97</c:v>
                </c:pt>
                <c:pt idx="11">
                  <c:v>97</c:v>
                </c:pt>
                <c:pt idx="12">
                  <c:v>97</c:v>
                </c:pt>
                <c:pt idx="13">
                  <c:v>97</c:v>
                </c:pt>
                <c:pt idx="14">
                  <c:v>97</c:v>
                </c:pt>
                <c:pt idx="15">
                  <c:v>97</c:v>
                </c:pt>
                <c:pt idx="16">
                  <c:v>97</c:v>
                </c:pt>
                <c:pt idx="17">
                  <c:v>97</c:v>
                </c:pt>
                <c:pt idx="18">
                  <c:v>97</c:v>
                </c:pt>
                <c:pt idx="19">
                  <c:v>97</c:v>
                </c:pt>
                <c:pt idx="20">
                  <c:v>97</c:v>
                </c:pt>
                <c:pt idx="21">
                  <c:v>97</c:v>
                </c:pt>
                <c:pt idx="22">
                  <c:v>97</c:v>
                </c:pt>
                <c:pt idx="23">
                  <c:v>97</c:v>
                </c:pt>
                <c:pt idx="24">
                  <c:v>97</c:v>
                </c:pt>
                <c:pt idx="25">
                  <c:v>97</c:v>
                </c:pt>
                <c:pt idx="26">
                  <c:v>97</c:v>
                </c:pt>
                <c:pt idx="27">
                  <c:v>97</c:v>
                </c:pt>
                <c:pt idx="28">
                  <c:v>97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97</c:v>
                </c:pt>
                <c:pt idx="33">
                  <c:v>97</c:v>
                </c:pt>
                <c:pt idx="34">
                  <c:v>97</c:v>
                </c:pt>
                <c:pt idx="35">
                  <c:v>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4"/>
          <c:min val="9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Consolidation day: recap game, lab, Quiz 1, project 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 10 minutes to wrap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first, then reveal. Numbers come from the Week 3 data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battery_health_daily, week-03 version. 97 Ah is a made-up line for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about the trap: the same file name exists in week-03 and week-04.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format as the final-project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Forms CSV and printable quiz are in 2-exercise/quiz/.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Naija versions: strange satellite hours; tired battery; rain cutting signal; full expressway; VSAT sites giving wahala.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checks: my unit? data available? someone owns the process?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Committing restricted data is a serious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 at the end of each of those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is on the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Week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W2D3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W2D3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2 · DAY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Day + Quiz 1 + Pick Your Project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One real investigation, one quiz, and the start of your final project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four moves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game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8 quick questions · 15 min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investigation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is our battery getting tired? · 50 min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1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30 questions, just you · 20 min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kickoff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pick your brief · 25 min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Sharp-sharp recap: Weeks 1–2</a:t>
            </a:r>
            <a:endParaRPr lang="en-US" sz="32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422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Shuffle the rows of a series: still a time series?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No: the order carries the information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1,093 rows for 1,096 days: what reveals the gaps?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.asfreq("D"): missing days appear as NaN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11 August days had a link-down hour. How many had a negative daily mean?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Zero. Report SLAs from the minimum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Weekend tickets ≈ half of weekday. Which window?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 days: one full week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Live dashboard: trailing or centred window?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Trailing: centred peeks at the future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Decompose daily NOC tickets: which period?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7: the working week sets it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Lag 1 = 0.58, lag 7 = 0.99. Meaning?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Weekly repeat: same weekday last week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Temperature vs drive: 0.59. Cause?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Not proven: 0.40 after differencing (shared trend)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lab: is our battery getting tired?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lab in 7 steps</a:t>
            </a:r>
            <a:endParaRPr lang="en-US" sz="32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743200"/>
                <a:gridCol w="7525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The tool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Load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week-03 file, parse_dates, index_col, .asfreq("D")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Profile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rows, empty cells, duplicate timestamps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Plot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threshold line + a title that states a finding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Smooth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 trailing rolling window long enough to swallow the eclipse pattern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Decompose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seasonal_decompose with a period the process justifies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ACF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correlogram confirms the period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Finding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Situation · Observation · Implication · Recommendation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4-sentence finding</a:t>
            </a:r>
            <a:endParaRPr lang="en-US" sz="32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Sentence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 (from noc_tickets_daily)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Situation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 NOC staffs every day of the week the same way.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Observation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Weekends average 3.4 tickets a day vs 7.1 on weekdays (48%).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Implication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Weekend shifts carry about half the load of weekday shifts.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Trial a lighter weekend roster with one engineer on call.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The Observation always carries a number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1: Weeks 1–2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questions · 20 minutes · just you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Phones down, notebooks closed, no AI button. We mark it together.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FINAL PROJECT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 Project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real problem · your unit's data · a tool they can open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brief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Telemetry anomalies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Battery ageing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RF link quality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Capacity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 Site downtime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 process, not a topic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vague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“Satellite data”, “Network performance”, “Something with AI”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process + owner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“The weekly battery-health review on the bus subsystem”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in-house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Real NIGCOMSAT data does not go into Colab without written OK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only on GitHub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Commit code, never the raw export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sees it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Describe the shape, never paste restricted data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checkpoints to demo day</a:t>
            </a:r>
            <a:endParaRPr lang="en-US" sz="32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5788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Checkpoint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Bring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2 · Day 3 (today)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Brief chosen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Your brief, the named process, the draft email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3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Data in hand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Unit head's reply + your data loaded and profiled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4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Method drafted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First version of your method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5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Honest test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Temporal split + baseline comparison table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Week 6 · Day 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Demo day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Working tool, report, 5-minute demo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 before Week 3 · Day 3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Fill in the project kickoff worksheet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Name your process and its owner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Send the email to your unit head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Bring the reply to Week 3 · Day 3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did today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Ran a full investigation: load → profile → plot → smooth → decompose → ACF → finding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Quiz 1 done: Weeks 1–2 checked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Project started: brief picked, process named, email on its way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 week: Alarms That Cry Wolf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W2D3 · Lab Day + Quiz 1 + Pick Your Project</dc:title>
  <dc:subject>PptxGenJS Presentation</dc:subject>
  <dc:creator>Publica Academy</dc:creator>
  <cp:lastModifiedBy>Publica Academy</cp:lastModifiedBy>
  <cp:revision>1</cp:revision>
  <dcterms:created xsi:type="dcterms:W3CDTF">2026-10-29T17:06:06Z</dcterms:created>
  <dcterms:modified xsi:type="dcterms:W3CDTF">2026-10-29T17:06:06Z</dcterms:modified>
</cp:coreProperties>
</file>