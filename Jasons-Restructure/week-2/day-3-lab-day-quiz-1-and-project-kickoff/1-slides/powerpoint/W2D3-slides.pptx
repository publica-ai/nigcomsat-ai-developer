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capacity (Ah, monthly mean)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Jan 23</c:v>
                  </c:pt>
                  <c:pt idx="1">
                    <c:v/>
                  </c:pt>
                  <c:pt idx="2">
                    <c:v/>
                  </c:pt>
                  <c:pt idx="3">
                    <c:v>Apr 23</c:v>
                  </c:pt>
                  <c:pt idx="4">
                    <c:v/>
                  </c:pt>
                  <c:pt idx="5">
                    <c:v/>
                  </c:pt>
                  <c:pt idx="6">
                    <c:v>Jul 23</c:v>
                  </c:pt>
                  <c:pt idx="7">
                    <c:v/>
                  </c:pt>
                  <c:pt idx="8">
                    <c:v/>
                  </c:pt>
                  <c:pt idx="9">
                    <c:v>Oct 23</c:v>
                  </c:pt>
                  <c:pt idx="10">
                    <c:v/>
                  </c:pt>
                  <c:pt idx="11">
                    <c:v/>
                  </c:pt>
                  <c:pt idx="12">
                    <c:v>Jan 24</c:v>
                  </c:pt>
                  <c:pt idx="13">
                    <c:v/>
                  </c:pt>
                  <c:pt idx="14">
                    <c:v/>
                  </c:pt>
                  <c:pt idx="15">
                    <c:v>Apr 24</c:v>
                  </c:pt>
                  <c:pt idx="16">
                    <c:v/>
                  </c:pt>
                  <c:pt idx="17">
                    <c:v/>
                  </c:pt>
                  <c:pt idx="18">
                    <c:v>Jul 24</c:v>
                  </c:pt>
                  <c:pt idx="19">
                    <c:v/>
                  </c:pt>
                  <c:pt idx="20">
                    <c:v/>
                  </c:pt>
                  <c:pt idx="21">
                    <c:v>Oct 24</c:v>
                  </c:pt>
                  <c:pt idx="22">
                    <c:v/>
                  </c:pt>
                  <c:pt idx="23">
                    <c:v/>
                  </c:pt>
                  <c:pt idx="24">
                    <c:v>Jan 25</c:v>
                  </c:pt>
                  <c:pt idx="25">
                    <c:v/>
                  </c:pt>
                  <c:pt idx="26">
                    <c:v/>
                  </c:pt>
                  <c:pt idx="27">
                    <c:v>Apr 25</c:v>
                  </c:pt>
                  <c:pt idx="28">
                    <c:v/>
                  </c:pt>
                  <c:pt idx="29">
                    <c:v/>
                  </c:pt>
                  <c:pt idx="30">
                    <c:v>Jul 25</c:v>
                  </c:pt>
                  <c:pt idx="31">
                    <c:v/>
                  </c:pt>
                  <c:pt idx="32">
                    <c:v/>
                  </c:pt>
                  <c:pt idx="33">
                    <c:v>Oct 25</c:v>
                  </c:pt>
                  <c:pt idx="34">
                    <c:v/>
                  </c:pt>
                  <c:pt idx="35">
                    <c:v/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103.14</c:v>
                </c:pt>
                <c:pt idx="1">
                  <c:v>102.95</c:v>
                </c:pt>
                <c:pt idx="2">
                  <c:v>102.8</c:v>
                </c:pt>
                <c:pt idx="3">
                  <c:v>102.56</c:v>
                </c:pt>
                <c:pt idx="4">
                  <c:v>102.4</c:v>
                </c:pt>
                <c:pt idx="5">
                  <c:v>102.24</c:v>
                </c:pt>
                <c:pt idx="6">
                  <c:v>102.04</c:v>
                </c:pt>
                <c:pt idx="7">
                  <c:v>101.83</c:v>
                </c:pt>
                <c:pt idx="8">
                  <c:v>101.66</c:v>
                </c:pt>
                <c:pt idx="9">
                  <c:v>101.44</c:v>
                </c:pt>
                <c:pt idx="10">
                  <c:v>101.27</c:v>
                </c:pt>
                <c:pt idx="11">
                  <c:v>101.08</c:v>
                </c:pt>
                <c:pt idx="12">
                  <c:v>100.91</c:v>
                </c:pt>
                <c:pt idx="13">
                  <c:v>100.73</c:v>
                </c:pt>
                <c:pt idx="14">
                  <c:v>100.55</c:v>
                </c:pt>
                <c:pt idx="15">
                  <c:v>100.33</c:v>
                </c:pt>
                <c:pt idx="16">
                  <c:v>100.14</c:v>
                </c:pt>
                <c:pt idx="17">
                  <c:v>99.97</c:v>
                </c:pt>
                <c:pt idx="18">
                  <c:v>99.8</c:v>
                </c:pt>
                <c:pt idx="19">
                  <c:v>99.59</c:v>
                </c:pt>
                <c:pt idx="20">
                  <c:v>99.42</c:v>
                </c:pt>
                <c:pt idx="21">
                  <c:v>99.22</c:v>
                </c:pt>
                <c:pt idx="22">
                  <c:v>99.03</c:v>
                </c:pt>
                <c:pt idx="23">
                  <c:v>98.81</c:v>
                </c:pt>
                <c:pt idx="24">
                  <c:v>98.68</c:v>
                </c:pt>
                <c:pt idx="25">
                  <c:v>98.47</c:v>
                </c:pt>
                <c:pt idx="26">
                  <c:v>98.3</c:v>
                </c:pt>
                <c:pt idx="27">
                  <c:v>98.06</c:v>
                </c:pt>
                <c:pt idx="28">
                  <c:v>97.9</c:v>
                </c:pt>
                <c:pt idx="29">
                  <c:v>97.73</c:v>
                </c:pt>
                <c:pt idx="30">
                  <c:v>97.55</c:v>
                </c:pt>
                <c:pt idx="31">
                  <c:v>97.36</c:v>
                </c:pt>
                <c:pt idx="32">
                  <c:v>97.16</c:v>
                </c:pt>
                <c:pt idx="33">
                  <c:v>97</c:v>
                </c:pt>
                <c:pt idx="34">
                  <c:v>96.79</c:v>
                </c:pt>
                <c:pt idx="35">
                  <c:v>96.65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practice alert line (97 Ah, made up)</c:v>
                </c:pt>
              </c:strCache>
            </c:strRef>
          </c:tx>
          <c:spPr>
            <a:solidFill>
              <a:srgbClr val="E5484D"/>
            </a:solidFill>
            <a:ln w="254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Jan 23</c:v>
                  </c:pt>
                  <c:pt idx="1">
                    <c:v/>
                  </c:pt>
                  <c:pt idx="2">
                    <c:v/>
                  </c:pt>
                  <c:pt idx="3">
                    <c:v>Apr 23</c:v>
                  </c:pt>
                  <c:pt idx="4">
                    <c:v/>
                  </c:pt>
                  <c:pt idx="5">
                    <c:v/>
                  </c:pt>
                  <c:pt idx="6">
                    <c:v>Jul 23</c:v>
                  </c:pt>
                  <c:pt idx="7">
                    <c:v/>
                  </c:pt>
                  <c:pt idx="8">
                    <c:v/>
                  </c:pt>
                  <c:pt idx="9">
                    <c:v>Oct 23</c:v>
                  </c:pt>
                  <c:pt idx="10">
                    <c:v/>
                  </c:pt>
                  <c:pt idx="11">
                    <c:v/>
                  </c:pt>
                  <c:pt idx="12">
                    <c:v>Jan 24</c:v>
                  </c:pt>
                  <c:pt idx="13">
                    <c:v/>
                  </c:pt>
                  <c:pt idx="14">
                    <c:v/>
                  </c:pt>
                  <c:pt idx="15">
                    <c:v>Apr 24</c:v>
                  </c:pt>
                  <c:pt idx="16">
                    <c:v/>
                  </c:pt>
                  <c:pt idx="17">
                    <c:v/>
                  </c:pt>
                  <c:pt idx="18">
                    <c:v>Jul 24</c:v>
                  </c:pt>
                  <c:pt idx="19">
                    <c:v/>
                  </c:pt>
                  <c:pt idx="20">
                    <c:v/>
                  </c:pt>
                  <c:pt idx="21">
                    <c:v>Oct 24</c:v>
                  </c:pt>
                  <c:pt idx="22">
                    <c:v/>
                  </c:pt>
                  <c:pt idx="23">
                    <c:v/>
                  </c:pt>
                  <c:pt idx="24">
                    <c:v>Jan 25</c:v>
                  </c:pt>
                  <c:pt idx="25">
                    <c:v/>
                  </c:pt>
                  <c:pt idx="26">
                    <c:v/>
                  </c:pt>
                  <c:pt idx="27">
                    <c:v>Apr 25</c:v>
                  </c:pt>
                  <c:pt idx="28">
                    <c:v/>
                  </c:pt>
                  <c:pt idx="29">
                    <c:v/>
                  </c:pt>
                  <c:pt idx="30">
                    <c:v>Jul 25</c:v>
                  </c:pt>
                  <c:pt idx="31">
                    <c:v/>
                  </c:pt>
                  <c:pt idx="32">
                    <c:v/>
                  </c:pt>
                  <c:pt idx="33">
                    <c:v>Oct 25</c:v>
                  </c:pt>
                  <c:pt idx="34">
                    <c:v/>
                  </c:pt>
                  <c:pt idx="35">
                    <c:v/>
                  </c:pt>
                </c:lvl>
              </c:multiLvlStrCache>
            </c:multiLvl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97</c:v>
                </c:pt>
                <c:pt idx="1">
                  <c:v>97</c:v>
                </c:pt>
                <c:pt idx="2">
                  <c:v>97</c:v>
                </c:pt>
                <c:pt idx="3">
                  <c:v>97</c:v>
                </c:pt>
                <c:pt idx="4">
                  <c:v>97</c:v>
                </c:pt>
                <c:pt idx="5">
                  <c:v>97</c:v>
                </c:pt>
                <c:pt idx="6">
                  <c:v>97</c:v>
                </c:pt>
                <c:pt idx="7">
                  <c:v>97</c:v>
                </c:pt>
                <c:pt idx="8">
                  <c:v>97</c:v>
                </c:pt>
                <c:pt idx="9">
                  <c:v>97</c:v>
                </c:pt>
                <c:pt idx="10">
                  <c:v>97</c:v>
                </c:pt>
                <c:pt idx="11">
                  <c:v>97</c:v>
                </c:pt>
                <c:pt idx="12">
                  <c:v>97</c:v>
                </c:pt>
                <c:pt idx="13">
                  <c:v>97</c:v>
                </c:pt>
                <c:pt idx="14">
                  <c:v>97</c:v>
                </c:pt>
                <c:pt idx="15">
                  <c:v>97</c:v>
                </c:pt>
                <c:pt idx="16">
                  <c:v>97</c:v>
                </c:pt>
                <c:pt idx="17">
                  <c:v>97</c:v>
                </c:pt>
                <c:pt idx="18">
                  <c:v>97</c:v>
                </c:pt>
                <c:pt idx="19">
                  <c:v>97</c:v>
                </c:pt>
                <c:pt idx="20">
                  <c:v>97</c:v>
                </c:pt>
                <c:pt idx="21">
                  <c:v>97</c:v>
                </c:pt>
                <c:pt idx="22">
                  <c:v>97</c:v>
                </c:pt>
                <c:pt idx="23">
                  <c:v>97</c:v>
                </c:pt>
                <c:pt idx="24">
                  <c:v>97</c:v>
                </c:pt>
                <c:pt idx="25">
                  <c:v>97</c:v>
                </c:pt>
                <c:pt idx="26">
                  <c:v>97</c:v>
                </c:pt>
                <c:pt idx="27">
                  <c:v>97</c:v>
                </c:pt>
                <c:pt idx="28">
                  <c:v>97</c:v>
                </c:pt>
                <c:pt idx="29">
                  <c:v>97</c:v>
                </c:pt>
                <c:pt idx="30">
                  <c:v>97</c:v>
                </c:pt>
                <c:pt idx="31">
                  <c:v>97</c:v>
                </c:pt>
                <c:pt idx="32">
                  <c:v>97</c:v>
                </c:pt>
                <c:pt idx="33">
                  <c:v>97</c:v>
                </c:pt>
                <c:pt idx="34">
                  <c:v>97</c:v>
                </c:pt>
                <c:pt idx="35">
                  <c:v>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4"/>
          <c:min val="9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Consolidation day: recap game, lab, Quiz 1, project kickoff.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Plus 10 minutes to wrap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first, then reveal. Numbers come from the Week 3 data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battery_health_daily, week-03 version. 97 Ah is a made-up line for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about the trap: the same file name exists in week-03 and week-04.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format as the final-project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Forms CSV and printable quiz are in 2-exercise/quiz/.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Kickoff.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Naija versions: strange satellite hours; tired battery; rain cutting signal; full expressway; VSAT sites giving wahala.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checks: my unit? data available? someone owns the process?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Committing restricted data is a serious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minutes at the end of each of those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is on the worksheet.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Week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Publica Academy · Time-Series Programme · W2D3</a:t>
            </a:r>
            <a:endParaRPr lang="en-US" sz="1100" dirty="0"/>
          </a:p>
        </p:txBody>
      </p:sp>
      <p:pic>
        <p:nvPicPr>
          <p:cNvPr id="5" name="Image 1" descr="/Users/jason/Desktop/nigcomsat-ai-developer/Jasons-Restructure/assets/brand/nigcomsa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415" y="6236208"/>
            <a:ext cx="54864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6E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SECTION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rgbClr val="C9D6E5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RECAP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</a:rPr>
              <a:t>Publica Academy · Time-Series Programme · W2D3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3D"/>
                </a:solidFill>
              </a:rPr>
              <a:t>WEEK 2 · DAY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Day + Quiz 1 + Pick Your Project</a:t>
            </a:r>
            <a:endParaRPr lang="en-US" sz="4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5"/>
                </a:solidFill>
              </a:rPr>
              <a:t>One real investigation, one quiz, and the start of your final project</a:t>
            </a:r>
            <a:endParaRPr lang="en-US" sz="2000" dirty="0"/>
          </a:p>
        </p:txBody>
      </p:sp>
      <p:sp>
        <p:nvSpPr>
          <p:cNvPr id="5" name="NIGCOMSAT logo card"/>
          <p:cNvSpPr/>
          <p:nvPr/>
        </p:nvSpPr>
        <p:spPr>
          <a:xfrm>
            <a:off x="731520" y="5074920"/>
            <a:ext cx="1600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Image 0" descr="NIGCOMSA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6360"/>
            <a:ext cx="1143000" cy="960120"/>
          </a:xfrm>
          <a:prstGeom prst="rect">
            <a:avLst/>
          </a:prstGeom>
        </p:spPr>
      </p:pic>
      <p:sp>
        <p:nvSpPr>
          <p:cNvPr id="7" name="Publica logo card"/>
          <p:cNvSpPr/>
          <p:nvPr/>
        </p:nvSpPr>
        <p:spPr>
          <a:xfrm>
            <a:off x="2514600" y="5074920"/>
            <a:ext cx="2743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Image 1" descr="Publica Academ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5257800"/>
            <a:ext cx="978408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794760" y="5212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800" dirty="0"/>
          </a:p>
        </p:txBody>
      </p:sp>
      <p:sp>
        <p:nvSpPr>
          <p:cNvPr id="10" name="earth"/>
          <p:cNvSpPr/>
          <p:nvPr/>
        </p:nvSpPr>
        <p:spPr>
          <a:xfrm>
            <a:off x="8503920" y="1280160"/>
            <a:ext cx="3291840" cy="3291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orbit"/>
          <p:cNvSpPr/>
          <p:nvPr/>
        </p:nvSpPr>
        <p:spPr>
          <a:xfrm>
            <a:off x="7726680" y="502920"/>
            <a:ext cx="4846320" cy="4846320"/>
          </a:xfrm>
          <a:prstGeom prst="ellipse">
            <a:avLst/>
          </a:prstGeom>
          <a:ln w="15875">
            <a:solidFill>
              <a:srgbClr val="3B8BE0"/>
            </a:solidFill>
            <a:prstDash val="dash"/>
          </a:ln>
        </p:spPr>
      </p:sp>
      <p:pic>
        <p:nvPicPr>
          <p:cNvPr id="12" name="satellite" descr="satell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mission: four moves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game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8 quick questions · 15 min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3413684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3779444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468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79444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 investigation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779444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is our battery getting tired? · 50 min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6278728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6644488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6512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44488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1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644488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30 questions, just you · 20 min</a:t>
            </a:r>
            <a:endParaRPr lang="en-US" sz="1600" dirty="0"/>
          </a:p>
        </p:txBody>
      </p:sp>
      <p:sp>
        <p:nvSpPr>
          <p:cNvPr id="18" name="card 4"/>
          <p:cNvSpPr/>
          <p:nvPr/>
        </p:nvSpPr>
        <p:spPr>
          <a:xfrm>
            <a:off x="9143771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icon 4 circle"/>
          <p:cNvSpPr/>
          <p:nvPr/>
        </p:nvSpPr>
        <p:spPr>
          <a:xfrm>
            <a:off x="9509531" y="2103120"/>
            <a:ext cx="960120" cy="96012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20" name="icon 4" descr="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555" y="2295144"/>
            <a:ext cx="576072" cy="57607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509531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9509531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pick your brief · 25 min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Sharp-sharp recap: Weeks 1–2</a:t>
            </a:r>
            <a:endParaRPr lang="en-US" sz="32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422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Answer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Shuffle the rows of a series: still a time series?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No: the order carries the information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1,093 rows for 1,096 days: what reveals the gaps?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.asfreq("D"): missing days appear as NaN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11 August days had a link-down hour. How many had a negative daily mean?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Zero. Report SLAs from the minimum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Weekend tickets ≈ half of weekday. Which window?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7 days: one full week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Live dashboard: trailing or centred window?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Trailing: centred peeks at the future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Decompose daily NOC tickets: which period?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7: the working week sets it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Lag 1 = 0.58, lag 7 = 0.99. Meaning?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Weekly repeat: same weekday last week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Temperature vs drive: 0.59. Cause?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Not proven: 0.40 after differencing (shared trend)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lab: is our battery getting tired?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lab in 7 steps</a:t>
            </a:r>
            <a:endParaRPr lang="en-US" sz="32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743200"/>
                <a:gridCol w="7525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The tool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Load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the week-03 file, parse_dates, index_col, .asfreq("D")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Profile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rows, empty cells, duplicate timestamps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Plot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threshold line + a title that states a finding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Smooth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a trailing rolling window long enough to swallow the eclipse pattern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Decompose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seasonal_decompose with a period the process justifies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ACF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the correlogram confirms the period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Finding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Situation · Observation · Implication · Recommendation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4-sentence finding</a:t>
            </a:r>
            <a:endParaRPr lang="en-US" sz="32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Sentence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Example (from noc_tickets_daily)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Situation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The NOC staffs every day of the week the same way.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Observation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Weekends average 3.4 tickets a day vs 7.1 on weekdays (48%).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Implication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Weekend shifts carry about half the load of weekday shifts.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Recommendation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Trial a lighter weekend roster with one engineer on call.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The Observation always carries a number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1: Weeks 1–2</a:t>
            </a:r>
            <a:endParaRPr lang="en-US" sz="3200" dirty="0"/>
          </a:p>
        </p:txBody>
      </p:sp>
      <p:sp>
        <p:nvSpPr>
          <p:cNvPr id="3" name="big icon circle"/>
          <p:cNvSpPr/>
          <p:nvPr/>
        </p:nvSpPr>
        <p:spPr>
          <a:xfrm>
            <a:off x="5090008" y="1463040"/>
            <a:ext cx="2011680" cy="201168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4" name="big icon" descr="big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2344" y="1865376"/>
            <a:ext cx="1207008" cy="12070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5840" y="3657600"/>
            <a:ext cx="10180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questions · 20 minutes · just you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47091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Phones down, notebooks closed, no AI button. We mark it together.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FINAL PROJECT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Your Project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One real problem · your unit's data · a tool they can open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ONE brief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749808" y="224028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43230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Telemetry anomalies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2840675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8" name="icon 2 circle"/>
          <p:cNvSpPr/>
          <p:nvPr/>
        </p:nvSpPr>
        <p:spPr>
          <a:xfrm>
            <a:off x="3041843" y="224028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9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67" y="2432304"/>
            <a:ext cx="576072" cy="5760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041843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Battery ageing</a:t>
            </a:r>
            <a:endParaRPr lang="en-US" sz="1800" dirty="0"/>
          </a:p>
        </p:txBody>
      </p:sp>
      <p:sp>
        <p:nvSpPr>
          <p:cNvPr id="11" name="card 3"/>
          <p:cNvSpPr/>
          <p:nvPr/>
        </p:nvSpPr>
        <p:spPr>
          <a:xfrm>
            <a:off x="513271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2" name="icon 3 circle"/>
          <p:cNvSpPr/>
          <p:nvPr/>
        </p:nvSpPr>
        <p:spPr>
          <a:xfrm>
            <a:off x="5333878" y="224028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3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902" y="2432304"/>
            <a:ext cx="576072" cy="57607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3387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RF link quality</a:t>
            </a:r>
            <a:endParaRPr lang="en-US" sz="1800" dirty="0"/>
          </a:p>
        </p:txBody>
      </p:sp>
      <p:sp>
        <p:nvSpPr>
          <p:cNvPr id="15" name="card 4"/>
          <p:cNvSpPr/>
          <p:nvPr/>
        </p:nvSpPr>
        <p:spPr>
          <a:xfrm>
            <a:off x="7424745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icon 4 circle"/>
          <p:cNvSpPr/>
          <p:nvPr/>
        </p:nvSpPr>
        <p:spPr>
          <a:xfrm>
            <a:off x="7625913" y="2240280"/>
            <a:ext cx="960120" cy="96012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17" name="icon 4" descr="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937" y="2432304"/>
            <a:ext cx="576072" cy="57607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625913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Capacity</a:t>
            </a:r>
            <a:endParaRPr lang="en-US" sz="1800" dirty="0"/>
          </a:p>
        </p:txBody>
      </p:sp>
      <p:sp>
        <p:nvSpPr>
          <p:cNvPr id="19" name="card 5"/>
          <p:cNvSpPr/>
          <p:nvPr/>
        </p:nvSpPr>
        <p:spPr>
          <a:xfrm>
            <a:off x="971678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0" name="icon 5 circle"/>
          <p:cNvSpPr/>
          <p:nvPr/>
        </p:nvSpPr>
        <p:spPr>
          <a:xfrm>
            <a:off x="9917948" y="224028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21" name="icon 5" descr="icon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9972" y="2432304"/>
            <a:ext cx="576072" cy="57607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1794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 Site downtime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a process, not a topic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vague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“Satellite data”, “Network performance”, “Something with AI”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process + owner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“The weekly battery-health review on the bus subsystem”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rules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Stays in-house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Real NIGCOMSAT data does not go into Colab without written OK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only on GitHub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Commit code, never the raw export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sees it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Describe the shape, never paste restricted data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checkpoints to demo day</a:t>
            </a:r>
            <a:endParaRPr lang="en-US" sz="32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5788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When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Checkpoint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Bring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Week 2 · Day 3 (today)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Brief chosen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Your brief, the named process, the draft email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Week 3 · Day 3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Data in hand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Unit head's reply + your data loaded and profiled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Week 4 · Day 3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Method drafted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First version of your method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Week 5 · Day 3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Honest test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Temporal split + baseline comparison table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Week 6 · Day 3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Demo day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Working tool, report, 5-minute demo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 before Week 3 · Day 3</a:t>
            </a:r>
            <a:endParaRPr lang="en-US" sz="3200" dirty="0"/>
          </a:p>
        </p:txBody>
      </p:sp>
      <p:sp>
        <p:nvSpPr>
          <p:cNvPr id="3" name="number 1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002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Fill in the project kickoff worksheet</a:t>
            </a:r>
            <a:endParaRPr lang="en-US" sz="2400" dirty="0"/>
          </a:p>
        </p:txBody>
      </p:sp>
      <p:sp>
        <p:nvSpPr>
          <p:cNvPr id="6" name="number 2"/>
          <p:cNvSpPr/>
          <p:nvPr/>
        </p:nvSpPr>
        <p:spPr>
          <a:xfrm>
            <a:off x="548640" y="26243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24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24328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Name your process and its owner</a:t>
            </a:r>
            <a:endParaRPr lang="en-US" sz="2400" dirty="0"/>
          </a:p>
        </p:txBody>
      </p:sp>
      <p:sp>
        <p:nvSpPr>
          <p:cNvPr id="9" name="number 3"/>
          <p:cNvSpPr/>
          <p:nvPr/>
        </p:nvSpPr>
        <p:spPr>
          <a:xfrm>
            <a:off x="548640" y="364845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64845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648456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Send the email to your unit head</a:t>
            </a:r>
            <a:endParaRPr lang="en-US" sz="2400" dirty="0"/>
          </a:p>
        </p:txBody>
      </p:sp>
      <p:sp>
        <p:nvSpPr>
          <p:cNvPr id="12" name="number 4"/>
          <p:cNvSpPr/>
          <p:nvPr/>
        </p:nvSpPr>
        <p:spPr>
          <a:xfrm>
            <a:off x="548640" y="4672584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725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672584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Bring the reply to Week 3 · Day 3</a:t>
            </a:r>
            <a:endParaRPr lang="en-US" sz="2400" dirty="0"/>
          </a:p>
        </p:txBody>
      </p:sp>
      <p:sp>
        <p:nvSpPr>
          <p:cNvPr id="15" name="icon circle"/>
          <p:cNvSpPr/>
          <p:nvPr/>
        </p:nvSpPr>
        <p:spPr>
          <a:xfrm>
            <a:off x="9418320" y="2011680"/>
            <a:ext cx="2103120" cy="2103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6" name="icon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4" y="2432304"/>
            <a:ext cx="1261872" cy="12618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did today</a:t>
            </a:r>
            <a:endParaRPr lang="en-US" sz="3400" dirty="0"/>
          </a:p>
        </p:txBody>
      </p:sp>
      <p:sp>
        <p:nvSpPr>
          <p:cNvPr id="3" name="recap 1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4" name="recap icon 1" descr="reca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60020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Ran a full investigation: load → profile → plot → smooth → decompose → ACF → finding</a:t>
            </a:r>
            <a:endParaRPr lang="en-US" sz="2200" dirty="0"/>
          </a:p>
        </p:txBody>
      </p:sp>
      <p:sp>
        <p:nvSpPr>
          <p:cNvPr id="6" name="recap 2"/>
          <p:cNvSpPr/>
          <p:nvPr/>
        </p:nvSpPr>
        <p:spPr>
          <a:xfrm>
            <a:off x="548640" y="278892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7" name="recap icon 2" descr="reca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278892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Quiz 1 done: Weeks 1–2 checked</a:t>
            </a:r>
            <a:endParaRPr lang="en-US" sz="2200" dirty="0"/>
          </a:p>
        </p:txBody>
      </p:sp>
      <p:sp>
        <p:nvSpPr>
          <p:cNvPr id="9" name="recap 3"/>
          <p:cNvSpPr/>
          <p:nvPr/>
        </p:nvSpPr>
        <p:spPr>
          <a:xfrm>
            <a:off x="548640" y="397764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10" name="recap icon 3" descr="reca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0520"/>
            <a:ext cx="594360" cy="5943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97764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Project started: brief picked, process named, email on its way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83D"/>
                </a:solidFill>
              </a:rPr>
              <a:t>Next week: Alarms That Cry Wolf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GCOMSAT Time-Series">
  <a:themeElements>
    <a:clrScheme name="NIGCOMSAT Time-Series">
      <a:dk1>
        <a:srgbClr val="0B1622"/>
      </a:dk1>
      <a:lt1>
        <a:srgbClr val="FFFFFF"/>
      </a:lt1>
      <a:dk2>
        <a:srgbClr val="12233A"/>
      </a:dk2>
      <a:lt2>
        <a:srgbClr val="EEF3F8"/>
      </a:lt2>
      <a:accent1>
        <a:srgbClr val="0A5DB4"/>
      </a:accent1>
      <a:accent2>
        <a:srgbClr val="008C7E"/>
      </a:accent2>
      <a:accent3>
        <a:srgbClr val="C77700"/>
      </a:accent3>
      <a:accent4>
        <a:srgbClr val="1E9E5A"/>
      </a:accent4>
      <a:accent5>
        <a:srgbClr val="E5484D"/>
      </a:accent5>
      <a:accent6>
        <a:srgbClr val="5B6B7D"/>
      </a:accent6>
      <a:hlink>
        <a:srgbClr val="0A5DB4"/>
      </a:hlink>
      <a:folHlink>
        <a:srgbClr val="008C7E"/>
      </a:folHlink>
    </a:clrScheme>
    <a:fontScheme name="NIGCOMSAT Time-Ser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Publica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W2D3 · Lab Day + Quiz 1 + Pick Your Project</dc:title>
  <dc:subject>PptxGenJS Presentation</dc:subject>
  <dc:creator>Publica Academy</dc:creator>
  <cp:lastModifiedBy>Publica Academy</cp:lastModifiedBy>
  <cp:revision>1</cp:revision>
  <dcterms:created xsi:type="dcterms:W3CDTF">2026-10-29T16:25:33Z</dcterms:created>
  <dcterms:modified xsi:type="dcterms:W3CDTF">2026-10-29T16:25:33Z</dcterms:modified>
</cp:coreProperties>
</file>