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lowest state of charge each day (%)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Sheet1!$A$2:$A$121</c:f>
              <c:multiLvlStrCache>
                <c:ptCount val="120"/>
                <c:lvl>
                  <c:pt idx="0">
                    <c:v>01 Aug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>15 Aug</c:v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>01 Sep</c:v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>15 Sep</c:v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>01 Oct</c:v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>15 Oct</c:v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>01 Nov</c:v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>15 Nov</c:v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</c:lvl>
              </c:multiLvlStrCache>
            </c:multiLvlStrRef>
          </c:cat>
          <c:val>
            <c:numRef>
              <c:f>Sheet1!$B$2:$B$121</c:f>
              <c:numCache>
                <c:formatCode>General</c:formatCode>
                <c:ptCount val="120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98.2</c:v>
                </c:pt>
                <c:pt idx="32">
                  <c:v>97</c:v>
                </c:pt>
                <c:pt idx="33">
                  <c:v>94.9</c:v>
                </c:pt>
                <c:pt idx="34">
                  <c:v>93.6</c:v>
                </c:pt>
                <c:pt idx="35">
                  <c:v>92.5</c:v>
                </c:pt>
                <c:pt idx="36">
                  <c:v>91.2</c:v>
                </c:pt>
                <c:pt idx="37">
                  <c:v>90</c:v>
                </c:pt>
                <c:pt idx="38">
                  <c:v>88.2</c:v>
                </c:pt>
                <c:pt idx="39">
                  <c:v>87</c:v>
                </c:pt>
                <c:pt idx="40">
                  <c:v>85.9</c:v>
                </c:pt>
                <c:pt idx="41">
                  <c:v>84.5</c:v>
                </c:pt>
                <c:pt idx="42">
                  <c:v>83.6</c:v>
                </c:pt>
                <c:pt idx="43">
                  <c:v>82.9</c:v>
                </c:pt>
                <c:pt idx="44">
                  <c:v>82.1</c:v>
                </c:pt>
                <c:pt idx="45">
                  <c:v>80.5</c:v>
                </c:pt>
                <c:pt idx="46">
                  <c:v>80.1</c:v>
                </c:pt>
                <c:pt idx="47">
                  <c:v>79.8</c:v>
                </c:pt>
                <c:pt idx="48">
                  <c:v>79.1</c:v>
                </c:pt>
                <c:pt idx="49">
                  <c:v>78.4</c:v>
                </c:pt>
                <c:pt idx="50">
                  <c:v>78.3</c:v>
                </c:pt>
                <c:pt idx="51">
                  <c:v>77.5</c:v>
                </c:pt>
                <c:pt idx="52">
                  <c:v>77.8</c:v>
                </c:pt>
                <c:pt idx="53">
                  <c:v>77.3</c:v>
                </c:pt>
                <c:pt idx="54">
                  <c:v>77.9</c:v>
                </c:pt>
                <c:pt idx="55">
                  <c:v>77.8</c:v>
                </c:pt>
                <c:pt idx="56">
                  <c:v>78.2</c:v>
                </c:pt>
                <c:pt idx="57">
                  <c:v>78.4</c:v>
                </c:pt>
                <c:pt idx="58">
                  <c:v>78.8</c:v>
                </c:pt>
                <c:pt idx="59">
                  <c:v>79.5</c:v>
                </c:pt>
                <c:pt idx="60">
                  <c:v>79.9</c:v>
                </c:pt>
                <c:pt idx="61">
                  <c:v>80.8</c:v>
                </c:pt>
                <c:pt idx="62">
                  <c:v>81.5</c:v>
                </c:pt>
                <c:pt idx="63">
                  <c:v>82.6</c:v>
                </c:pt>
                <c:pt idx="64">
                  <c:v>83.3</c:v>
                </c:pt>
                <c:pt idx="65">
                  <c:v>84.6</c:v>
                </c:pt>
                <c:pt idx="66">
                  <c:v>85.4</c:v>
                </c:pt>
                <c:pt idx="67">
                  <c:v>86.9</c:v>
                </c:pt>
                <c:pt idx="68">
                  <c:v>88.4</c:v>
                </c:pt>
                <c:pt idx="69">
                  <c:v>89.6</c:v>
                </c:pt>
                <c:pt idx="70">
                  <c:v>90.9</c:v>
                </c:pt>
                <c:pt idx="71">
                  <c:v>92.4</c:v>
                </c:pt>
                <c:pt idx="72">
                  <c:v>93.7</c:v>
                </c:pt>
                <c:pt idx="73">
                  <c:v>95.1</c:v>
                </c:pt>
                <c:pt idx="74">
                  <c:v>96.4</c:v>
                </c:pt>
                <c:pt idx="75">
                  <c:v>97.7</c:v>
                </c:pt>
                <c:pt idx="76">
                  <c:v>99.6</c:v>
                </c:pt>
                <c:pt idx="77">
                  <c:v>100</c:v>
                </c:pt>
                <c:pt idx="78">
                  <c:v>100</c:v>
                </c:pt>
                <c:pt idx="79">
                  <c:v>100</c:v>
                </c:pt>
                <c:pt idx="80">
                  <c:v>100</c:v>
                </c:pt>
                <c:pt idx="81">
                  <c:v>100</c:v>
                </c:pt>
                <c:pt idx="82">
                  <c:v>100</c:v>
                </c:pt>
                <c:pt idx="83">
                  <c:v>100</c:v>
                </c:pt>
                <c:pt idx="84">
                  <c:v>100</c:v>
                </c:pt>
                <c:pt idx="85">
                  <c:v>100</c:v>
                </c:pt>
                <c:pt idx="86">
                  <c:v>100</c:v>
                </c:pt>
                <c:pt idx="87">
                  <c:v>100</c:v>
                </c:pt>
                <c:pt idx="88">
                  <c:v>100</c:v>
                </c:pt>
                <c:pt idx="89">
                  <c:v>100</c:v>
                </c:pt>
                <c:pt idx="90">
                  <c:v>100</c:v>
                </c:pt>
                <c:pt idx="91">
                  <c:v>100</c:v>
                </c:pt>
                <c:pt idx="92">
                  <c:v>100</c:v>
                </c:pt>
                <c:pt idx="93">
                  <c:v>100</c:v>
                </c:pt>
                <c:pt idx="94">
                  <c:v>100</c:v>
                </c:pt>
                <c:pt idx="95">
                  <c:v>100</c:v>
                </c:pt>
                <c:pt idx="96">
                  <c:v>100</c:v>
                </c:pt>
                <c:pt idx="97">
                  <c:v>100</c:v>
                </c:pt>
                <c:pt idx="98">
                  <c:v>100</c:v>
                </c:pt>
                <c:pt idx="99">
                  <c:v>100</c:v>
                </c:pt>
                <c:pt idx="100">
                  <c:v>100</c:v>
                </c:pt>
                <c:pt idx="10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05">
                  <c:v>100</c:v>
                </c:pt>
                <c:pt idx="106">
                  <c:v>100</c:v>
                </c:pt>
                <c:pt idx="107">
                  <c:v>100</c:v>
                </c:pt>
                <c:pt idx="108">
                  <c:v>100</c:v>
                </c:pt>
                <c:pt idx="109">
                  <c:v>100</c:v>
                </c:pt>
                <c:pt idx="110">
                  <c:v>100</c:v>
                </c:pt>
                <c:pt idx="111">
                  <c:v>100</c:v>
                </c:pt>
                <c:pt idx="112">
                  <c:v>100</c:v>
                </c:pt>
                <c:pt idx="113">
                  <c:v>100</c:v>
                </c:pt>
                <c:pt idx="114">
                  <c:v>100</c:v>
                </c:pt>
                <c:pt idx="115">
                  <c:v>100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alarm floor 82%</c:v>
                </c:pt>
              </c:strCache>
            </c:strRef>
          </c:tx>
          <c:spPr>
            <a:solidFill>
              <a:srgbClr val="E5484D"/>
            </a:solidFill>
            <a:ln w="25400" cap="flat">
              <a:solidFill>
                <a:srgbClr val="E548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5484D"/>
              </a:solidFill>
              <a:ln w="9525" cap="flat">
                <a:solidFill>
                  <a:srgbClr val="E548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Sheet1!$A$2:$A$121</c:f>
              <c:multiLvlStrCache>
                <c:ptCount val="120"/>
                <c:lvl>
                  <c:pt idx="0">
                    <c:v>01 Aug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>15 Aug</c:v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>01 Sep</c:v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>15 Sep</c:v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>01 Oct</c:v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>15 Oct</c:v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>01 Nov</c:v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>15 Nov</c:v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</c:lvl>
              </c:multiLvlStrCache>
            </c:multiLvlStrRef>
          </c:cat>
          <c:val>
            <c:numRef>
              <c:f>Sheet1!$C$2:$C$121</c:f>
              <c:numCache>
                <c:formatCode>General</c:formatCode>
                <c:ptCount val="120"/>
                <c:pt idx="0">
                  <c:v>82</c:v>
                </c:pt>
                <c:pt idx="1">
                  <c:v>82</c:v>
                </c:pt>
                <c:pt idx="2">
                  <c:v>82</c:v>
                </c:pt>
                <c:pt idx="3">
                  <c:v>82</c:v>
                </c:pt>
                <c:pt idx="4">
                  <c:v>82</c:v>
                </c:pt>
                <c:pt idx="5">
                  <c:v>82</c:v>
                </c:pt>
                <c:pt idx="6">
                  <c:v>82</c:v>
                </c:pt>
                <c:pt idx="7">
                  <c:v>82</c:v>
                </c:pt>
                <c:pt idx="8">
                  <c:v>82</c:v>
                </c:pt>
                <c:pt idx="9">
                  <c:v>82</c:v>
                </c:pt>
                <c:pt idx="10">
                  <c:v>82</c:v>
                </c:pt>
                <c:pt idx="11">
                  <c:v>82</c:v>
                </c:pt>
                <c:pt idx="12">
                  <c:v>82</c:v>
                </c:pt>
                <c:pt idx="13">
                  <c:v>82</c:v>
                </c:pt>
                <c:pt idx="14">
                  <c:v>82</c:v>
                </c:pt>
                <c:pt idx="15">
                  <c:v>82</c:v>
                </c:pt>
                <c:pt idx="16">
                  <c:v>82</c:v>
                </c:pt>
                <c:pt idx="17">
                  <c:v>82</c:v>
                </c:pt>
                <c:pt idx="18">
                  <c:v>82</c:v>
                </c:pt>
                <c:pt idx="19">
                  <c:v>82</c:v>
                </c:pt>
                <c:pt idx="20">
                  <c:v>82</c:v>
                </c:pt>
                <c:pt idx="21">
                  <c:v>82</c:v>
                </c:pt>
                <c:pt idx="22">
                  <c:v>82</c:v>
                </c:pt>
                <c:pt idx="23">
                  <c:v>82</c:v>
                </c:pt>
                <c:pt idx="24">
                  <c:v>82</c:v>
                </c:pt>
                <c:pt idx="25">
                  <c:v>82</c:v>
                </c:pt>
                <c:pt idx="26">
                  <c:v>82</c:v>
                </c:pt>
                <c:pt idx="27">
                  <c:v>82</c:v>
                </c:pt>
                <c:pt idx="28">
                  <c:v>82</c:v>
                </c:pt>
                <c:pt idx="29">
                  <c:v>82</c:v>
                </c:pt>
                <c:pt idx="30">
                  <c:v>82</c:v>
                </c:pt>
                <c:pt idx="31">
                  <c:v>82</c:v>
                </c:pt>
                <c:pt idx="32">
                  <c:v>82</c:v>
                </c:pt>
                <c:pt idx="33">
                  <c:v>82</c:v>
                </c:pt>
                <c:pt idx="34">
                  <c:v>82</c:v>
                </c:pt>
                <c:pt idx="35">
                  <c:v>82</c:v>
                </c:pt>
                <c:pt idx="36">
                  <c:v>82</c:v>
                </c:pt>
                <c:pt idx="37">
                  <c:v>82</c:v>
                </c:pt>
                <c:pt idx="38">
                  <c:v>82</c:v>
                </c:pt>
                <c:pt idx="39">
                  <c:v>82</c:v>
                </c:pt>
                <c:pt idx="40">
                  <c:v>82</c:v>
                </c:pt>
                <c:pt idx="41">
                  <c:v>82</c:v>
                </c:pt>
                <c:pt idx="42">
                  <c:v>82</c:v>
                </c:pt>
                <c:pt idx="43">
                  <c:v>82</c:v>
                </c:pt>
                <c:pt idx="44">
                  <c:v>82</c:v>
                </c:pt>
                <c:pt idx="45">
                  <c:v>82</c:v>
                </c:pt>
                <c:pt idx="46">
                  <c:v>82</c:v>
                </c:pt>
                <c:pt idx="47">
                  <c:v>82</c:v>
                </c:pt>
                <c:pt idx="48">
                  <c:v>82</c:v>
                </c:pt>
                <c:pt idx="49">
                  <c:v>82</c:v>
                </c:pt>
                <c:pt idx="50">
                  <c:v>82</c:v>
                </c:pt>
                <c:pt idx="51">
                  <c:v>82</c:v>
                </c:pt>
                <c:pt idx="52">
                  <c:v>82</c:v>
                </c:pt>
                <c:pt idx="53">
                  <c:v>82</c:v>
                </c:pt>
                <c:pt idx="54">
                  <c:v>82</c:v>
                </c:pt>
                <c:pt idx="55">
                  <c:v>82</c:v>
                </c:pt>
                <c:pt idx="56">
                  <c:v>82</c:v>
                </c:pt>
                <c:pt idx="57">
                  <c:v>82</c:v>
                </c:pt>
                <c:pt idx="58">
                  <c:v>82</c:v>
                </c:pt>
                <c:pt idx="59">
                  <c:v>82</c:v>
                </c:pt>
                <c:pt idx="60">
                  <c:v>82</c:v>
                </c:pt>
                <c:pt idx="61">
                  <c:v>82</c:v>
                </c:pt>
                <c:pt idx="62">
                  <c:v>82</c:v>
                </c:pt>
                <c:pt idx="63">
                  <c:v>82</c:v>
                </c:pt>
                <c:pt idx="64">
                  <c:v>82</c:v>
                </c:pt>
                <c:pt idx="65">
                  <c:v>82</c:v>
                </c:pt>
                <c:pt idx="66">
                  <c:v>82</c:v>
                </c:pt>
                <c:pt idx="67">
                  <c:v>82</c:v>
                </c:pt>
                <c:pt idx="68">
                  <c:v>82</c:v>
                </c:pt>
                <c:pt idx="69">
                  <c:v>82</c:v>
                </c:pt>
                <c:pt idx="70">
                  <c:v>82</c:v>
                </c:pt>
                <c:pt idx="71">
                  <c:v>82</c:v>
                </c:pt>
                <c:pt idx="72">
                  <c:v>82</c:v>
                </c:pt>
                <c:pt idx="73">
                  <c:v>82</c:v>
                </c:pt>
                <c:pt idx="74">
                  <c:v>82</c:v>
                </c:pt>
                <c:pt idx="75">
                  <c:v>82</c:v>
                </c:pt>
                <c:pt idx="76">
                  <c:v>82</c:v>
                </c:pt>
                <c:pt idx="77">
                  <c:v>82</c:v>
                </c:pt>
                <c:pt idx="78">
                  <c:v>82</c:v>
                </c:pt>
                <c:pt idx="79">
                  <c:v>82</c:v>
                </c:pt>
                <c:pt idx="80">
                  <c:v>82</c:v>
                </c:pt>
                <c:pt idx="81">
                  <c:v>82</c:v>
                </c:pt>
                <c:pt idx="82">
                  <c:v>82</c:v>
                </c:pt>
                <c:pt idx="83">
                  <c:v>82</c:v>
                </c:pt>
                <c:pt idx="84">
                  <c:v>82</c:v>
                </c:pt>
                <c:pt idx="85">
                  <c:v>82</c:v>
                </c:pt>
                <c:pt idx="86">
                  <c:v>82</c:v>
                </c:pt>
                <c:pt idx="87">
                  <c:v>82</c:v>
                </c:pt>
                <c:pt idx="88">
                  <c:v>82</c:v>
                </c:pt>
                <c:pt idx="89">
                  <c:v>82</c:v>
                </c:pt>
                <c:pt idx="90">
                  <c:v>82</c:v>
                </c:pt>
                <c:pt idx="91">
                  <c:v>82</c:v>
                </c:pt>
                <c:pt idx="92">
                  <c:v>82</c:v>
                </c:pt>
                <c:pt idx="93">
                  <c:v>82</c:v>
                </c:pt>
                <c:pt idx="94">
                  <c:v>82</c:v>
                </c:pt>
                <c:pt idx="95">
                  <c:v>82</c:v>
                </c:pt>
                <c:pt idx="96">
                  <c:v>82</c:v>
                </c:pt>
                <c:pt idx="97">
                  <c:v>82</c:v>
                </c:pt>
                <c:pt idx="98">
                  <c:v>82</c:v>
                </c:pt>
                <c:pt idx="99">
                  <c:v>82</c:v>
                </c:pt>
                <c:pt idx="100">
                  <c:v>82</c:v>
                </c:pt>
                <c:pt idx="101">
                  <c:v>82</c:v>
                </c:pt>
                <c:pt idx="102">
                  <c:v>82</c:v>
                </c:pt>
                <c:pt idx="103">
                  <c:v>82</c:v>
                </c:pt>
                <c:pt idx="104">
                  <c:v>82</c:v>
                </c:pt>
                <c:pt idx="105">
                  <c:v>82</c:v>
                </c:pt>
                <c:pt idx="106">
                  <c:v>82</c:v>
                </c:pt>
                <c:pt idx="107">
                  <c:v>82</c:v>
                </c:pt>
                <c:pt idx="108">
                  <c:v>82</c:v>
                </c:pt>
                <c:pt idx="109">
                  <c:v>82</c:v>
                </c:pt>
                <c:pt idx="110">
                  <c:v>82</c:v>
                </c:pt>
                <c:pt idx="111">
                  <c:v>82</c:v>
                </c:pt>
                <c:pt idx="112">
                  <c:v>82</c:v>
                </c:pt>
                <c:pt idx="113">
                  <c:v>82</c:v>
                </c:pt>
                <c:pt idx="114">
                  <c:v>82</c:v>
                </c:pt>
                <c:pt idx="115">
                  <c:v>82</c:v>
                </c:pt>
                <c:pt idx="116">
                  <c:v>82</c:v>
                </c:pt>
                <c:pt idx="117">
                  <c:v>82</c:v>
                </c:pt>
                <c:pt idx="118">
                  <c:v>82</c:v>
                </c:pt>
                <c:pt idx="119">
                  <c:v>82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1"/>
          <c:min val="74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rainy hours</c:v>
                  </c:pt>
                  <c:pt idx="1">
                    <c:v>below naive 3σ</c:v>
                  </c:pt>
                  <c:pt idx="2">
                    <c:v>real outages</c:v>
                  </c:pt>
                  <c:pt idx="3">
                    <c:v>link held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</c:v>
                </c:pt>
                <c:pt idx="1">
                  <c:v>18</c:v>
                </c:pt>
                <c:pt idx="2">
                  <c:v>12</c:v>
                </c:pt>
                <c:pt idx="3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stop arguing about detectors and score them with the same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Vote, then reveal: neither.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events are spikes; EV05 and EV06 last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4 is rule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questions 2 and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alarms, useless alarms.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widen the band; condition on eclipse.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= drive + season + ageing, fitted on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bottom-up for the lessons.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6: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Decide before you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PDF or the Google Forms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 W4D2.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Publica Academy · Time-Series Programme · W4D1</a:t>
            </a:r>
            <a:endParaRPr lang="en-US" sz="1100" dirty="0"/>
          </a:p>
        </p:txBody>
      </p:sp>
      <p:pic>
        <p:nvPicPr>
          <p:cNvPr id="5" name="Image 1" descr="/Users/jason/Desktop/nigcomsat-ai-developer/Jasons-Restructure/assets/brand/nigcomsa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6236208"/>
            <a:ext cx="54864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C9D6E5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RECAP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</a:rPr>
              <a:t>Publica Academy · Time-Series Programme · W4D1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83D"/>
                </a:solidFill>
              </a:rPr>
              <a:t>WEEK 4 · DAY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a Detector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Quiz 2</a:t>
            </a:r>
            <a:endParaRPr lang="en-US" sz="4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5"/>
                </a:solidFill>
              </a:rPr>
              <a:t>The answer key comes out, and every alarm from last week gets a report card</a:t>
            </a:r>
            <a:endParaRPr lang="en-US" sz="2000" dirty="0"/>
          </a:p>
        </p:txBody>
      </p:sp>
      <p:sp>
        <p:nvSpPr>
          <p:cNvPr id="5" name="NIGCOMSAT logo card"/>
          <p:cNvSpPr/>
          <p:nvPr/>
        </p:nvSpPr>
        <p:spPr>
          <a:xfrm>
            <a:off x="731520" y="5074920"/>
            <a:ext cx="1600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NIGCOMSA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1143000" cy="960120"/>
          </a:xfrm>
          <a:prstGeom prst="rect">
            <a:avLst/>
          </a:prstGeom>
        </p:spPr>
      </p:pic>
      <p:sp>
        <p:nvSpPr>
          <p:cNvPr id="7" name="Publica logo card"/>
          <p:cNvSpPr/>
          <p:nvPr/>
        </p:nvSpPr>
        <p:spPr>
          <a:xfrm>
            <a:off x="2514600" y="5074920"/>
            <a:ext cx="2743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1" descr="Publica Academ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5257800"/>
            <a:ext cx="978408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5212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800" dirty="0"/>
          </a:p>
        </p:txBody>
      </p:sp>
      <p:sp>
        <p:nvSpPr>
          <p:cNvPr id="10" name="earth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rbit"/>
          <p:cNvSpPr/>
          <p:nvPr/>
        </p:nvSpPr>
        <p:spPr>
          <a:xfrm>
            <a:off x="7726680" y="502920"/>
            <a:ext cx="4846320" cy="4846320"/>
          </a:xfrm>
          <a:prstGeom prst="ellipse">
            <a:avLst/>
          </a:prstGeom>
          <a:ln w="15875">
            <a:solidFill>
              <a:srgbClr val="3B8BE0"/>
            </a:solidFill>
            <a:prstDash val="dash"/>
          </a:ln>
        </p:spPr>
      </p:sp>
      <p:pic>
        <p:nvPicPr>
          <p:cNvPr id="12" name="satellite" descr="satel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mission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192492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660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key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6 real events revealed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2951912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3482264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4126116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284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56584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every alarm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756584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recall, precision, false alarms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588553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6415888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7059740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908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90208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cost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690208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false alarms → hours</a:t>
            </a:r>
            <a:endParaRPr lang="en-US" sz="1600" dirty="0"/>
          </a:p>
        </p:txBody>
      </p:sp>
      <p:sp>
        <p:nvSpPr>
          <p:cNvPr id="20" name="arrow 3"/>
          <p:cNvSpPr/>
          <p:nvPr/>
        </p:nvSpPr>
        <p:spPr>
          <a:xfrm>
            <a:off x="8819159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9349511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tep icon 4 circle"/>
          <p:cNvSpPr/>
          <p:nvPr/>
        </p:nvSpPr>
        <p:spPr>
          <a:xfrm>
            <a:off x="9993363" y="2057400"/>
            <a:ext cx="1005840" cy="100584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3" name="step icon 4" descr="step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531" y="2258568"/>
            <a:ext cx="603504" cy="60350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23831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2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9623831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all of Week 3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10 min hook · 25 min slides · 50 min hands-on · 25 min quiz · 10 min wrap-up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mai-guard do you hire?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Musa shouts at every goat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Caught 9 of 10 thieves, but shouted 200 times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 sleeps all night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Never shouts. “97% accurate”. Caught zero thieves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accuracy lies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detector that never fires scores 99.87%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6 real events in 4,706 readings. Saying “no problem” every time is almost always “right”.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key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Six real events, three files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six events</a:t>
            </a:r>
            <a:endParaRPr lang="en-US" sz="32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1645920"/>
                <a:gridCol w="3474720"/>
                <a:gridCol w="1581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Event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When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EV01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bus_power_telemetry_hourly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spike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18 Aug 2025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minor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EV02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bus_power_telemetry_hourly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spike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28 Sep 2025 → 28 Sep 2025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major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EV03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bus_power_telemetry_hourly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spike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31 Oct 2025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minor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EV04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twta_thermal_daily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spike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03 Sep 2024 → 04 Sep 2024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minor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EV05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twta_thermal_daily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level shift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12 May 2025 → 30 Dec 2025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major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EV06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battery_health_daily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drift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01 Apr 2025 → 31 Dec 2025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major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Our loader repairs the stray comma that crashes the original file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scoring rules, written first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flag = caught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anywhere inside start→end, ±1 step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3413684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3779444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468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79444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flags = one catch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779444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EV02 twice is still one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6278728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6644488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512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44488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= false alarm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644488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page to the duty engineer</a:t>
            </a:r>
            <a:endParaRPr lang="en-US" sz="1600" dirty="0"/>
          </a:p>
        </p:txBody>
      </p:sp>
      <p:sp>
        <p:nvSpPr>
          <p:cNvPr id="18" name="card 4"/>
          <p:cNvSpPr/>
          <p:nvPr/>
        </p:nvSpPr>
        <p:spPr>
          <a:xfrm>
            <a:off x="9143771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icon 4 circle"/>
          <p:cNvSpPr/>
          <p:nvPr/>
        </p:nvSpPr>
        <p:spPr>
          <a:xfrm>
            <a:off x="9509531" y="2103120"/>
            <a:ext cx="960120" cy="96012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0" name="icon 4" descr="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555" y="2295144"/>
            <a:ext cx="576072" cy="57607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509531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event = one event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509531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233 days of EV05 is one catch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and precision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Of the real events, how many did we catch? caught ÷ real events. Musa: 9 ÷ 10 = 0.90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When it shouts, how often is it real? caught ÷ all alarms. Musa: 9 ÷ 200 = 0.045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cards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Same scorer, every detector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floor &lt; 82%: 18 alarms, 0 real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Every alarm is a deep eclipse night: the battery doing its job. The real faults were in array current.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chart: one condition changes everything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hours: 46 false alarms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Caught 3/3, but every eclipse hour fires. Precision 0.06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Sunlit hours only: 0 false alarms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Caught 3/3. Precision 1.00. Condition on the known cause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Amplifier: raw values hide it, the residual shouts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3σ: caught 0 of 2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Highest day 68.2 °C never reaches the 69.8 °C ceiling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3σ: caught 2 of 2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Actual − expected. The spike is 13σ; 0 false alarms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 card</a:t>
            </a:r>
            <a:endParaRPr lang="en-US" sz="32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1920240"/>
                <a:gridCol w="1645920"/>
                <a:gridCol w="1856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Detector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Caught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False alarms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SoC floor &lt; 82%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0/3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18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Control chart, all hours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3/3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46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1.00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0.06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Control chart, sunlit only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3/3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1.00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1.00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Raw 3σ, amplifier temp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0/2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Residual 3σ, amplifier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2/2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1.00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1.00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CUSUM on residual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2/2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1.00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0.50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Fixed floor 95 Ah, battery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0/1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CUSUM: same catches, 2 extra false alarms. The battery drift beats every value rule.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cost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Managers decide in hours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→ 31 engineer hours a year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192492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660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per season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all-hours control chart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2951912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3482264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4126116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284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56584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2 seasons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756584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eclipse twice a year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588553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6415888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7059740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908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90208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20 minutes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690208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to check each (assumption)</a:t>
            </a:r>
            <a:endParaRPr lang="en-US" sz="1600" dirty="0"/>
          </a:p>
        </p:txBody>
      </p:sp>
      <p:sp>
        <p:nvSpPr>
          <p:cNvPr id="20" name="arrow 3"/>
          <p:cNvSpPr/>
          <p:nvPr/>
        </p:nvSpPr>
        <p:spPr>
          <a:xfrm>
            <a:off x="8819159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9349511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tep icon 4 circle"/>
          <p:cNvSpPr/>
          <p:nvPr/>
        </p:nvSpPr>
        <p:spPr>
          <a:xfrm>
            <a:off x="9993363" y="2057400"/>
            <a:ext cx="1005840" cy="100584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3" name="step icon 4" descr="step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531" y="2258568"/>
            <a:ext cx="603504" cy="60350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23831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31 hours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9623831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about 4 full shifts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“Add one condition, get shifts back” is a decision a manager can make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 fade: unusual is not the same as anomaly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Alarm on the service (margin &lt; 0 dB); use a rain gauge to explain the cause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number leads? It depends on the cost of a miss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first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Battery, power, propulsion. NigComSat-1 was lost in 2008 after a solar-array failure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first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Rain fade, NOC dashboards. Too many pages and people stop reading them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2: 30 questions, 20 minutes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Phones down, notebooks closed, no AI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Circle one letter per question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Answers are spread across A–D: no “always B”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Swap papers and mark together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50 minutes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Open W4D1-exercise, save a copy, run STEP 0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A: rules first, the accuracy trap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B: score 6 detectors with one scorer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C: false alarms → hours, the rain lesson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now know</a:t>
            </a:r>
            <a:endParaRPr lang="en-US" sz="3400" dirty="0"/>
          </a:p>
        </p:txBody>
      </p:sp>
      <p:sp>
        <p:nvSpPr>
          <p:cNvPr id="3" name="recap 1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4" name="recap icon 1" descr="reca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Accuracy lies when events are rare</a:t>
            </a:r>
            <a:endParaRPr lang="en-US" sz="2200" dirty="0"/>
          </a:p>
        </p:txBody>
      </p:sp>
      <p:sp>
        <p:nvSpPr>
          <p:cNvPr id="6" name="recap 2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7" name="recap icon 2" descr="reca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78892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Recall = did we miss anything? Precision = is the page real?</a:t>
            </a:r>
            <a:endParaRPr lang="en-US" sz="2200" dirty="0"/>
          </a:p>
        </p:txBody>
      </p:sp>
      <p:sp>
        <p:nvSpPr>
          <p:cNvPr id="9" name="recap 3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10" name="recap icon 3" descr="reca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97764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False alarms cost hours: say it in hours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D"/>
                </a:solidFill>
              </a:rPr>
              <a:t>Next: Meet scikit-learn + Isolation Forest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COMSAT Time-Series">
  <a:themeElements>
    <a:clrScheme name="NIGCOMSAT Time-Series">
      <a:dk1>
        <a:srgbClr val="0B1622"/>
      </a:dk1>
      <a:lt1>
        <a:srgbClr val="FFFFFF"/>
      </a:lt1>
      <a:dk2>
        <a:srgbClr val="12233A"/>
      </a:dk2>
      <a:lt2>
        <a:srgbClr val="EEF3F8"/>
      </a:lt2>
      <a:accent1>
        <a:srgbClr val="0A5DB4"/>
      </a:accent1>
      <a:accent2>
        <a:srgbClr val="008C7E"/>
      </a:accent2>
      <a:accent3>
        <a:srgbClr val="C77700"/>
      </a:accent3>
      <a:accent4>
        <a:srgbClr val="1E9E5A"/>
      </a:accent4>
      <a:accent5>
        <a:srgbClr val="E5484D"/>
      </a:accent5>
      <a:accent6>
        <a:srgbClr val="5B6B7D"/>
      </a:accent6>
      <a:hlink>
        <a:srgbClr val="0A5DB4"/>
      </a:hlink>
      <a:folHlink>
        <a:srgbClr val="008C7E"/>
      </a:folHlink>
    </a:clrScheme>
    <a:fontScheme name="NIGCOMSAT Time-Ser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Publica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W4D1 · Scoring a Detector + Quiz 2</dc:title>
  <dc:subject>PptxGenJS Presentation</dc:subject>
  <dc:creator>Publica Academy</dc:creator>
  <cp:lastModifiedBy>Publica Academy</cp:lastModifiedBy>
  <cp:revision>1</cp:revision>
  <dcterms:created xsi:type="dcterms:W3CDTF">2026-10-29T17:07:00Z</dcterms:created>
  <dcterms:modified xsi:type="dcterms:W3CDTF">2026-10-29T17:07:00Z</dcterms:modified>
</cp:coreProperties>
</file>